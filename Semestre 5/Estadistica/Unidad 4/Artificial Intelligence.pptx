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F_E7513B02.xml" ContentType="application/vnd.ms-powerpoint.comments+xml"/>
  <Override PartName="/ppt/notesSlides/notesSlide5.xml" ContentType="application/vnd.openxmlformats-officedocument.presentationml.notesSlide+xml"/>
  <Override PartName="/ppt/comments/modernComment_110_7DC7EC9A.xml" ContentType="application/vnd.ms-powerpoint.comments+xml"/>
  <Override PartName="/ppt/notesSlides/notesSlide6.xml" ContentType="application/vnd.openxmlformats-officedocument.presentationml.notesSlide+xml"/>
  <Override PartName="/ppt/comments/modernComment_111_3312C8AB.xml" ContentType="application/vnd.ms-powerpoint.comments+xml"/>
  <Override PartName="/ppt/notesSlides/notesSlide7.xml" ContentType="application/vnd.openxmlformats-officedocument.presentationml.notesSlide+xml"/>
  <Override PartName="/ppt/comments/modernComment_112_4B44B588.xml" ContentType="application/vnd.ms-powerpoint.comments+xml"/>
  <Override PartName="/ppt/notesSlides/notesSlide8.xml" ContentType="application/vnd.openxmlformats-officedocument.presentationml.notesSlide+xml"/>
  <Override PartName="/ppt/comments/modernComment_113_823F8504.xml" ContentType="application/vnd.ms-powerpoint.comments+xml"/>
  <Override PartName="/ppt/notesSlides/notesSlide9.xml" ContentType="application/vnd.openxmlformats-officedocument.presentationml.notesSlide+xml"/>
  <Override PartName="/ppt/comments/modernComment_114_5D85A363.xml" ContentType="application/vnd.ms-powerpoint.comments+xml"/>
  <Override PartName="/ppt/notesSlides/notesSlide10.xml" ContentType="application/vnd.openxmlformats-officedocument.presentationml.notesSlide+xml"/>
  <Override PartName="/ppt/comments/modernComment_115_40B30EB8.xml" ContentType="application/vnd.ms-powerpoint.comments+xml"/>
  <Override PartName="/ppt/notesSlides/notesSlide11.xml" ContentType="application/vnd.openxmlformats-officedocument.presentationml.notesSlide+xml"/>
  <Override PartName="/ppt/comments/modernComment_116_A35B339B.xml" ContentType="application/vnd.ms-powerpoint.comments+xml"/>
  <Override PartName="/ppt/notesSlides/notesSlide12.xml" ContentType="application/vnd.openxmlformats-officedocument.presentationml.notesSlide+xml"/>
  <Override PartName="/ppt/comments/modernComment_117_D75095FC.xml" ContentType="application/vnd.ms-powerpoint.comments+xml"/>
  <Override PartName="/ppt/notesSlides/notesSlide13.xml" ContentType="application/vnd.openxmlformats-officedocument.presentationml.notesSlide+xml"/>
  <Override PartName="/ppt/comments/modernComment_118_7945BBB5.xml" ContentType="application/vnd.ms-powerpoint.comments+xml"/>
  <Override PartName="/ppt/notesSlides/notesSlide14.xml" ContentType="application/vnd.openxmlformats-officedocument.presentationml.notesSlide+xml"/>
  <Override PartName="/ppt/comments/modernComment_101_0.xml" ContentType="application/vnd.ms-powerpoint.comments+xml"/>
  <Override PartName="/ppt/notesSlides/notesSlide15.xml" ContentType="application/vnd.openxmlformats-officedocument.presentationml.notesSlide+xml"/>
  <Override PartName="/ppt/comments/modernComment_102_0.xml" ContentType="application/vnd.ms-powerpoint.comments+xml"/>
  <Override PartName="/ppt/comments/modernComment_103_0.xml" ContentType="application/vnd.ms-powerpoint.comments+xml"/>
  <Override PartName="/ppt/comments/modernComment_106_0.xml" ContentType="application/vnd.ms-powerpoint.comments+xml"/>
  <Override PartName="/ppt/comments/modernComment_107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68" r:id="rId3"/>
    <p:sldId id="265" r:id="rId4"/>
    <p:sldId id="267" r:id="rId5"/>
    <p:sldId id="261"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57" r:id="rId19"/>
    <p:sldId id="258" r:id="rId20"/>
    <p:sldId id="259" r:id="rId21"/>
    <p:sldId id="262" r:id="rId22"/>
    <p:sldId id="263" r:id="rId23"/>
    <p:sldId id="264" r:id="rId24"/>
  </p:sldIdLst>
  <p:sldSz cx="18288000" cy="10287000"/>
  <p:notesSz cx="6858000" cy="9144000"/>
  <p:embeddedFontLst>
    <p:embeddedFont>
      <p:font typeface="Glacial Indifference Bold" panose="020B0604020202020204" charset="0"/>
      <p:regular r:id="rId26"/>
    </p:embeddedFont>
    <p:embeddedFont>
      <p:font typeface="HK Grotesk" panose="020B0604020202020204" charset="0"/>
      <p:regular r:id="rId27"/>
    </p:embeddedFont>
    <p:embeddedFont>
      <p:font typeface="Open Sans" panose="020B0606030504020204" pitchFamily="34" charset="0"/>
      <p:regular r:id="rId28"/>
      <p:bold r:id="rId29"/>
      <p:italic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F7E01E-6BE1-4460-6F5D-C83B5CF16110}" name="Bruno Maldonado" initials="BM" userId="55f5bca0234930f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4" d="100"/>
          <a:sy n="44" d="100"/>
        </p:scale>
        <p:origin x="66"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ableStyles" Target="tableStyles.xml"/><Relationship Id="rId8" Type="http://schemas.openxmlformats.org/officeDocument/2006/relationships/slide" Target="slides/slide7.xml"/></Relationships>
</file>

<file path=ppt/comments/modernComment_10F_E7513B02.xml><?xml version="1.0" encoding="utf-8"?>
<p188:cmLst xmlns:a="http://schemas.openxmlformats.org/drawingml/2006/main" xmlns:r="http://schemas.openxmlformats.org/officeDocument/2006/relationships" xmlns:p188="http://schemas.microsoft.com/office/powerpoint/2018/8/main">
  <p188:cm id="{929469E0-8C9A-4B64-9451-F36EC09FF2C2}" authorId="{C7F7E01E-6BE1-4460-6F5D-C83B5CF16110}" created="2025-07-09T06:13:34.538">
    <pc:sldMkLst xmlns:pc="http://schemas.microsoft.com/office/powerpoint/2013/main/command">
      <pc:docMk/>
      <pc:sldMk cId="3880860418" sldId="271"/>
    </pc:sldMkLst>
    <p188:txBody>
      <a:bodyPr/>
      <a:lstStyle/>
      <a:p>
        <a:r>
          <a:rPr lang="es-ES"/>
          <a:t>La mayoría de los encuestados está en el grupo 18–25 años, que representa a la moda y contiene también a la mediana.
La media es de aproximadamente 24.66 años, lo que confirma una población joven.
El rango de edades es amplio (44 años), y la desviación estándar de 9.55 indica una dispersión moderada respecto a la media.</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FD58B226-FD49-438D-9A0C-D2D33CE17E3A}" authorId="{C7F7E01E-6BE1-4460-6F5D-C83B5CF16110}" created="2025-07-09T06:56:30.474">
    <pc:sldMkLst xmlns:pc="http://schemas.microsoft.com/office/powerpoint/2013/main/command">
      <pc:docMk/>
      <pc:sldMk cId="0" sldId="257"/>
    </pc:sldMkLst>
    <p188:txBody>
      <a:bodyPr/>
      <a:lstStyle/>
      <a:p>
        <a:r>
          <a:rPr lang="es-ES"/>
          <a:t>El grupo etario más participativo es el de 18 a 25 años, con 37 respuestas, lo que representa aproximadamente el 35.6% del total. Esto sugiere que este rango de edad tiene un mayor interés o disposición para responder la encuesta.
Las personas mayores de 30 años participaron significativamente menos. En conjunto, los grupos de 30-40 años (6 respuestas) y 40 o más (18 respuestas) suman solo 23.1% del total, lo que puede indicar una menor representación o interés en la temática entre adultos mayores.
La mayoría de las respuestas provienen de personas menores de 30 años. Sumando los grupos de 0-18, 18-25 y 26-30 se obtienen 80 respuestas, lo que representa un 76.9% del total. Esto sugiere que la encuesta fue más atractiva o accesible para un público joven.</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D0CF7E70-AFFC-467A-993A-8CC0DF5CD3B0}" authorId="{C7F7E01E-6BE1-4460-6F5D-C83B5CF16110}" created="2025-07-09T06:57:00.266">
    <pc:sldMkLst xmlns:pc="http://schemas.microsoft.com/office/powerpoint/2013/main/command">
      <pc:docMk/>
      <pc:sldMk cId="0" sldId="258"/>
    </pc:sldMkLst>
    <p188:txBody>
      <a:bodyPr/>
      <a:lstStyle/>
      <a:p>
        <a:r>
          <a:rPr lang="es-ES"/>
          <a:t>El sector entretenimiento es percibido como el más impactado por la IA
Sumando todas las respuestas que mencionan Entretenimiento (ya sea solo o combinado), se obtiene un total de 64 menciones, es decir, 61.5% de los encuestados lo incluyen. Esto indica una fuerte percepción del impacto de la IA en áreas como medios digitales, videojuegos, redes sociales, cine, etc.
Educación también se destaca como un sector altamente impactado
El sector Educación aparece en 50 menciones (48%), lo que demuestra una amplia conciencia sobre la influencia de la IA en procesos de enseñanza, aprendizaje personalizado, herramientas educativas, etc.
Agricultura es el sector menos mencionado
Solo 10 respuestas incluyen Agricultura, lo que representa apenas 9.6% del total. Esto sugiere que, aunque la IA se aplica en este sector, su impacto aún no es ampliamente reconocido por el público general.</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24184AAE-150D-47E8-A8BC-8318B8BE66C2}" authorId="{C7F7E01E-6BE1-4460-6F5D-C83B5CF16110}" created="2025-07-09T06:57:27.995">
    <pc:sldMkLst xmlns:pc="http://schemas.microsoft.com/office/powerpoint/2013/main/command">
      <pc:docMk/>
      <pc:sldMk cId="0" sldId="259"/>
    </pc:sldMkLst>
    <p188:txBody>
      <a:bodyPr/>
      <a:lstStyle/>
      <a:p>
        <a:r>
          <a:rPr lang="es-ES"/>
          <a:t>La mayoría de los encuestados no utiliza inteligencia artificial en ningún contexto
Un total de 49 personas (aproximadamente 47.1%) declaró no usar IA en absoluto, lo que indica que aún existe una importante brecha de adopción o desconocimiento respecto a estas herramientas.
Una parte considerable sí la usa con fines académicos o laborales
30 personas (28.8%) afirmaron que usan IA para trabajar o estudiar, lo que sugiere que casi 1 de cada 3 encuestados ya ha integrado estas herramientas en su rutina profesional o académica.
</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A28A1334-A30F-458D-A392-D39656035B6E}" authorId="{C7F7E01E-6BE1-4460-6F5D-C83B5CF16110}" created="2025-07-09T06:59:39.809">
    <pc:sldMkLst xmlns:pc="http://schemas.microsoft.com/office/powerpoint/2013/main/command">
      <pc:docMk/>
      <pc:sldMk cId="0" sldId="262"/>
    </pc:sldMkLst>
    <p188:txBody>
      <a:bodyPr/>
      <a:lstStyle/>
      <a:p>
        <a:r>
          <a:rPr lang="es-ES"/>
          <a:t>Poca participación en esta pregunta
Un total de 73 personas dejaron la respuesta en blanco, lo que representa el 70.2% del total. Esto puede indicar que la pregunta no fue clara, no fue obligatoria o no resultó relevante para muchos encuestados.
La mayoría de quienes respondieron están de acuerdo
Sumando "De acuerdo" (14) y "Totalmente de acuerdo" (6), 20 personas (19.2%) expresaron una posición positiva, frente a solo 3 personas (2.9%) que están en desacuerdo. Esto sugiere una tendencia general hacia la aprobación de la afirmación evaluada.</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FF15C48F-E342-4794-B59D-41436BE70ABF}" authorId="{C7F7E01E-6BE1-4460-6F5D-C83B5CF16110}" created="2025-07-09T06:59:18.993">
    <pc:sldMkLst xmlns:pc="http://schemas.microsoft.com/office/powerpoint/2013/main/command">
      <pc:docMk/>
      <pc:sldMk cId="0" sldId="263"/>
    </pc:sldMkLst>
    <p188:txBody>
      <a:bodyPr/>
      <a:lstStyle/>
      <a:p>
        <a:r>
          <a:rPr lang="es-ES"/>
          <a:t>La regresión lineal indica una tendencia decreciente
A medida que aumenta la edad, la cantidad de respuestas tiende a disminuir. Esta relación negativa sugiere que los grupos más jóvenes participaron más activamente en la encuesta.
El grupo 18–25 es una excepción positiva al modelo
Aunque la tendencia general es decreciente, el grupo de 18–25 años sobresale con 37 respuestas, lo cual está por encima de lo esperado según la línea de regresión. Esto sugiere un alto interés o mayor acceso de este grupo etario al tema o al medio de la encuesta.</a:t>
        </a:r>
      </a:p>
    </p188:txBody>
  </p188:cm>
</p188:cmLst>
</file>

<file path=ppt/comments/modernComment_110_7DC7EC9A.xml><?xml version="1.0" encoding="utf-8"?>
<p188:cmLst xmlns:a="http://schemas.openxmlformats.org/drawingml/2006/main" xmlns:r="http://schemas.openxmlformats.org/officeDocument/2006/relationships" xmlns:p188="http://schemas.microsoft.com/office/powerpoint/2018/8/main">
  <p188:cm id="{994198CA-A93C-4B24-9781-9DDB6741BE9E}" authorId="{C7F7E01E-6BE1-4460-6F5D-C83B5CF16110}" created="2025-07-09T06:19:39.045">
    <pc:sldMkLst xmlns:pc="http://schemas.microsoft.com/office/powerpoint/2013/main/command">
      <pc:docMk/>
      <pc:sldMk cId="2110254234" sldId="272"/>
    </pc:sldMkLst>
    <p188:txBody>
      <a:bodyPr/>
      <a:lstStyle/>
      <a:p>
        <a:r>
          <a:rPr lang="es-ES"/>
          <a:t>El sector más impactado por la IA según los encuestados es Entretenimiento (42.1%), seguido por Educación (32.9%).
Salud también presenta un impacto notable (18.4%), mientras que Agricultura es el menos mencionado (6.6%).
El rango de 54 menciones muestra una alta dispersión, indicando que algunos sectores están mucho más asociados con IA que otros en la percepción del público.</a:t>
        </a:r>
      </a:p>
    </p188:txBody>
  </p188:cm>
</p188:cmLst>
</file>

<file path=ppt/comments/modernComment_111_3312C8AB.xml><?xml version="1.0" encoding="utf-8"?>
<p188:cmLst xmlns:a="http://schemas.openxmlformats.org/drawingml/2006/main" xmlns:r="http://schemas.openxmlformats.org/officeDocument/2006/relationships" xmlns:p188="http://schemas.microsoft.com/office/powerpoint/2018/8/main">
  <p188:cm id="{264B0ABD-CD08-4234-833C-3A6E13AAD74A}" authorId="{C7F7E01E-6BE1-4460-6F5D-C83B5CF16110}" created="2025-07-09T06:23:57.271">
    <pc:sldMkLst xmlns:pc="http://schemas.microsoft.com/office/powerpoint/2013/main/command">
      <pc:docMk/>
      <pc:sldMk cId="856869035" sldId="273"/>
    </pc:sldMkLst>
    <p188:txBody>
      <a:bodyPr/>
      <a:lstStyle/>
      <a:p>
        <a:r>
          <a:rPr lang="es-ES"/>
          <a:t>Uso indebido de la IA es la principal preocupación percibida por los encuestados, lo que podría incluir el uso para fraudes, manipulaciones, deepfakes, etc.
La privacidad y la afectación al arte o creatividad humana también son preocupaciones frecuentes.
Uso militar y riesgos existenciales están presentes, pero en menor grado.
La diversidad de preocupaciones y la dispersión alta (rango 64) indican una visión crítica, pero variada, sobre la IA.</a:t>
        </a:r>
      </a:p>
    </p188:txBody>
  </p188:cm>
</p188:cmLst>
</file>

<file path=ppt/comments/modernComment_112_4B44B588.xml><?xml version="1.0" encoding="utf-8"?>
<p188:cmLst xmlns:a="http://schemas.openxmlformats.org/drawingml/2006/main" xmlns:r="http://schemas.openxmlformats.org/officeDocument/2006/relationships" xmlns:p188="http://schemas.microsoft.com/office/powerpoint/2018/8/main">
  <p188:cm id="{50C47395-2987-4B43-A7ED-B71C4A218ADA}" authorId="{C7F7E01E-6BE1-4460-6F5D-C83B5CF16110}" created="2025-07-09T06:28:34.860">
    <pc:sldMkLst xmlns:pc="http://schemas.microsoft.com/office/powerpoint/2013/main/command">
      <pc:docMk/>
      <pc:sldMk cId="1262794120" sldId="274"/>
    </pc:sldMkLst>
    <p188:txBody>
      <a:bodyPr/>
      <a:lstStyle/>
      <a:p>
        <a:r>
          <a:rPr lang="es-ES"/>
          <a:t>La mayoría no utiliza IA en absoluto (modo = 46), y el promedio de uso está muy cercano al mínimo (media ≈ 2.09).
La mediana ("la uso ocasionalmente") indica que más de la mitad ha tenido al menos algún contacto con IA.
La dispersión moderada (1.06) muestra que hay respuestas en ambos extremos, pero se concentran en los niveles bajos.</a:t>
        </a:r>
      </a:p>
    </p188:txBody>
  </p188:cm>
</p188:cmLst>
</file>

<file path=ppt/comments/modernComment_113_823F8504.xml><?xml version="1.0" encoding="utf-8"?>
<p188:cmLst xmlns:a="http://schemas.openxmlformats.org/drawingml/2006/main" xmlns:r="http://schemas.openxmlformats.org/officeDocument/2006/relationships" xmlns:p188="http://schemas.microsoft.com/office/powerpoint/2018/8/main">
  <p188:cm id="{A263EA05-5F39-46EB-963F-8663D222B727}" authorId="{C7F7E01E-6BE1-4460-6F5D-C83B5CF16110}" created="2025-07-09T06:31:41.164">
    <pc:sldMkLst xmlns:pc="http://schemas.microsoft.com/office/powerpoint/2013/main/command">
      <pc:docMk/>
      <pc:sldMk cId="2185200900" sldId="275"/>
    </pc:sldMkLst>
    <p188:txBody>
      <a:bodyPr/>
      <a:lstStyle/>
      <a:p>
        <a:r>
          <a:rPr lang="es-ES"/>
          <a:t>Casi la mitad de los encuestados (49) no usa IA en absoluto.
Solo el 28.8% (30 personas) la usa con fines productivos.
La media (≈2.12) y la mediana muestran que el uso de IA aún no está muy integrado al trabajo o estudio en la mayoría de los casos.
La desviación moderada (1.12) indica que hay diversidad en las respuestas, aunque hay una clara concentración en el nivel más bajo.</a:t>
        </a:r>
      </a:p>
    </p188:txBody>
  </p188:cm>
</p188:cmLst>
</file>

<file path=ppt/comments/modernComment_114_5D85A363.xml><?xml version="1.0" encoding="utf-8"?>
<p188:cmLst xmlns:a="http://schemas.openxmlformats.org/drawingml/2006/main" xmlns:r="http://schemas.openxmlformats.org/officeDocument/2006/relationships" xmlns:p188="http://schemas.microsoft.com/office/powerpoint/2018/8/main">
  <p188:cm id="{9C421A5C-F70B-4F2D-9CCF-5896D232C7BC}" authorId="{C7F7E01E-6BE1-4460-6F5D-C83B5CF16110}" created="2025-07-09T06:35:37.309">
    <pc:sldMkLst xmlns:pc="http://schemas.microsoft.com/office/powerpoint/2013/main/command">
      <pc:docMk/>
      <pc:sldMk cId="1569039203" sldId="276"/>
    </pc:sldMkLst>
    <p188:txBody>
      <a:bodyPr/>
      <a:lstStyle/>
      <a:p>
        <a:r>
          <a:rPr lang="es-ES"/>
          <a:t>La mayoría de los encuestados está de acuerdo con que la IA mejora su productividad.
Moda y mediana = “De acuerdo”, lo que refuerza esa conclusión.
La media de 2.71 está cerca del valor 3 ("De acuerdo"), indicando una actitud levemente positiva en promedio.
La desviación estándar moderada (0.82) indica que hay cierto desacuerdo, pero las respuestas se concentran en los niveles altos de acuerdo</a:t>
        </a:r>
      </a:p>
    </p188:txBody>
  </p188:cm>
</p188:cmLst>
</file>

<file path=ppt/comments/modernComment_115_40B30EB8.xml><?xml version="1.0" encoding="utf-8"?>
<p188:cmLst xmlns:a="http://schemas.openxmlformats.org/drawingml/2006/main" xmlns:r="http://schemas.openxmlformats.org/officeDocument/2006/relationships" xmlns:p188="http://schemas.microsoft.com/office/powerpoint/2018/8/main">
  <p188:cm id="{B89E7B17-9DE2-4503-8C55-5CC86D779D40}" authorId="{C7F7E01E-6BE1-4460-6F5D-C83B5CF16110}" created="2025-07-09T06:40:11.810">
    <ac:deMkLst xmlns:ac="http://schemas.microsoft.com/office/drawing/2013/main/command">
      <pc:docMk xmlns:pc="http://schemas.microsoft.com/office/powerpoint/2013/main/command"/>
      <pc:sldMk xmlns:pc="http://schemas.microsoft.com/office/powerpoint/2013/main/command" cId="1085476536" sldId="277"/>
      <ac:spMk id="4" creationId="{3B5585AF-F816-91BF-4B57-534502EC783E}"/>
    </ac:deMkLst>
    <p188:txBody>
      <a:bodyPr/>
      <a:lstStyle/>
      <a:p>
        <a:r>
          <a:rPr lang="es-ES"/>
          <a:t>El uso principal de la IA en trabajo o estudio es para investigación académica o técnica.
También es muy frecuente su uso en redacción de textos, seguido por programación.
El grupo "Otro" incluye usos variados, pero menos frecuentes.
La dispersión es alta (rango = 15), lo que indica que algunos usos están mucho más extendidos que otros.</a:t>
        </a:r>
      </a:p>
    </p188:txBody>
  </p188:cm>
</p188:cmLst>
</file>

<file path=ppt/comments/modernComment_116_A35B339B.xml><?xml version="1.0" encoding="utf-8"?>
<p188:cmLst xmlns:a="http://schemas.openxmlformats.org/drawingml/2006/main" xmlns:r="http://schemas.openxmlformats.org/officeDocument/2006/relationships" xmlns:p188="http://schemas.microsoft.com/office/powerpoint/2018/8/main">
  <p188:cm id="{7CC21672-6581-4144-A842-F5CEE2B8580E}" authorId="{C7F7E01E-6BE1-4460-6F5D-C83B5CF16110}" created="2025-07-09T06:43:56.269">
    <ac:deMkLst xmlns:ac="http://schemas.microsoft.com/office/drawing/2013/main/command">
      <pc:docMk xmlns:pc="http://schemas.microsoft.com/office/powerpoint/2013/main/command"/>
      <pc:sldMk xmlns:pc="http://schemas.microsoft.com/office/powerpoint/2013/main/command" cId="2740663195" sldId="278"/>
      <ac:spMk id="5" creationId="{5CAC2F38-C058-8A23-62F7-0CAA7FB4FD67}"/>
    </ac:deMkLst>
    <p188:txBody>
      <a:bodyPr/>
      <a:lstStyle/>
      <a:p>
        <a:r>
          <a:rPr lang="es-ES"/>
          <a:t>La mayoría usa IA entre 0 y 4 horas semanales, lo que sugiere un uso moderado o bajo.
La media (≈4.1 horas) y la mediana dentro del mismo grupo refuerzan que el uso está mayormente concentrado en ese rango.
Muy pocos usuarios (2 personas) superan las 10 horas semanales.
La dispersión moderada (rango = 10) indica que existen algunos usuarios intensivos, pero son pocos.</a:t>
        </a:r>
      </a:p>
    </p188:txBody>
  </p188:cm>
</p188:cmLst>
</file>

<file path=ppt/comments/modernComment_117_D75095FC.xml><?xml version="1.0" encoding="utf-8"?>
<p188:cmLst xmlns:a="http://schemas.openxmlformats.org/drawingml/2006/main" xmlns:r="http://schemas.openxmlformats.org/officeDocument/2006/relationships" xmlns:p188="http://schemas.microsoft.com/office/powerpoint/2018/8/main">
  <p188:cm id="{1F79153F-6857-4628-A285-DC41F80EC71C}" authorId="{C7F7E01E-6BE1-4460-6F5D-C83B5CF16110}" created="2025-07-09T06:48:14.995">
    <pc:sldMkLst xmlns:pc="http://schemas.microsoft.com/office/powerpoint/2013/main/command">
      <pc:docMk/>
      <pc:sldMk cId="3612382716" sldId="279"/>
    </pc:sldMkLst>
    <p188:txBody>
      <a:bodyPr/>
      <a:lstStyle/>
      <a:p>
        <a:r>
          <a:rPr lang="es-ES"/>
          <a:t>La confianza promedio en la información proporcionada por IA es moderadamente alta: media ≈ 6.64 y mediana = 7.
La moda es 5, lo que muestra que un grupo importante confía moderadamente.
Sin embargo, hay alta dispersión (rango de 8 y desviación ≈ 2.05), lo que indica opiniones divididas: desde escepticismo (valor 2–3) hasta plena confianza (10).</a:t>
        </a:r>
      </a:p>
    </p188:txBody>
  </p188:cm>
</p188:cmLst>
</file>

<file path=ppt/comments/modernComment_118_7945BBB5.xml><?xml version="1.0" encoding="utf-8"?>
<p188:cmLst xmlns:a="http://schemas.openxmlformats.org/drawingml/2006/main" xmlns:r="http://schemas.openxmlformats.org/officeDocument/2006/relationships" xmlns:p188="http://schemas.microsoft.com/office/powerpoint/2018/8/main">
  <p188:cm id="{8C6337BA-1CB5-4900-B7A1-DE1BFEF79DFF}" authorId="{C7F7E01E-6BE1-4460-6F5D-C83B5CF16110}" created="2025-07-09T06:51:20.734">
    <ac:deMkLst xmlns:ac="http://schemas.microsoft.com/office/drawing/2013/main/command">
      <pc:docMk xmlns:pc="http://schemas.microsoft.com/office/powerpoint/2013/main/command"/>
      <pc:sldMk xmlns:pc="http://schemas.microsoft.com/office/powerpoint/2013/main/command" cId="2034613173" sldId="280"/>
      <ac:spMk id="4" creationId="{67D38E07-AB59-2D3F-07E1-02D4492FC096}"/>
    </ac:deMkLst>
    <p188:txBody>
      <a:bodyPr/>
      <a:lstStyle/>
      <a:p>
        <a:r>
          <a:rPr lang="es-ES"/>
          <a:t>El grupo está dividido: la mitad ya paga o pagaría por IA (media = 2).
Moda doble refleja una polarización entre quienes ya pagan y quienes prefieren lo gratuito.
La mediana en “consideraría pagar” indica una actitud abierta al futuro pago, aunque aún muchos no lo hacen.
Rango bajo (2): las opciones están cerca entre sí, lo que facilita agrupar respuestas para conclusiones.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0722CC-10B1-4566-AFC2-E0ED8E061EF8}" type="datetimeFigureOut">
              <a:rPr lang="es-ES" smtClean="0"/>
              <a:t>09/07/2025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15DF5F-9BBB-475E-80D4-88697EE5EF48}" type="slidenum">
              <a:rPr lang="es-ES" smtClean="0"/>
              <a:t>‹Nº›</a:t>
            </a:fld>
            <a:endParaRPr lang="es-ES"/>
          </a:p>
        </p:txBody>
      </p:sp>
    </p:spTree>
    <p:extLst>
      <p:ext uri="{BB962C8B-B14F-4D97-AF65-F5344CB8AC3E}">
        <p14:creationId xmlns:p14="http://schemas.microsoft.com/office/powerpoint/2010/main" val="3144349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4815DF5F-9BBB-475E-80D4-88697EE5EF48}" type="slidenum">
              <a:rPr lang="es-ES" smtClean="0"/>
              <a:t>1</a:t>
            </a:fld>
            <a:endParaRPr lang="es-ES"/>
          </a:p>
        </p:txBody>
      </p:sp>
    </p:spTree>
    <p:extLst>
      <p:ext uri="{BB962C8B-B14F-4D97-AF65-F5344CB8AC3E}">
        <p14:creationId xmlns:p14="http://schemas.microsoft.com/office/powerpoint/2010/main" val="468004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4E926-B02C-6B7F-C178-617BAD5B4BE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6D30E1-C9CD-476B-9D74-EB20D9457F6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E8AF97-6AB5-85C4-E187-A54278E3D9F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A0FC731-64CC-C1F9-3509-CC77A07EB691}"/>
              </a:ext>
            </a:extLst>
          </p:cNvPr>
          <p:cNvSpPr>
            <a:spLocks noGrp="1"/>
          </p:cNvSpPr>
          <p:nvPr>
            <p:ph type="sldNum" sz="quarter" idx="5"/>
          </p:nvPr>
        </p:nvSpPr>
        <p:spPr/>
        <p:txBody>
          <a:bodyPr/>
          <a:lstStyle/>
          <a:p>
            <a:fld id="{4815DF5F-9BBB-475E-80D4-88697EE5EF48}" type="slidenum">
              <a:rPr lang="es-ES" smtClean="0"/>
              <a:t>3</a:t>
            </a:fld>
            <a:endParaRPr lang="es-ES"/>
          </a:p>
        </p:txBody>
      </p:sp>
    </p:spTree>
    <p:extLst>
      <p:ext uri="{BB962C8B-B14F-4D97-AF65-F5344CB8AC3E}">
        <p14:creationId xmlns:p14="http://schemas.microsoft.com/office/powerpoint/2010/main" val="1282923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E0311-E864-8DD1-01FF-4E949F881A5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17D25DC-024A-E947-B40B-508739022FF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0266001-F368-09EE-1105-AAE8170A40A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1E401FC-6DE7-F37B-5275-C7C853F1A001}"/>
              </a:ext>
            </a:extLst>
          </p:cNvPr>
          <p:cNvSpPr>
            <a:spLocks noGrp="1"/>
          </p:cNvSpPr>
          <p:nvPr>
            <p:ph type="sldNum" sz="quarter" idx="5"/>
          </p:nvPr>
        </p:nvSpPr>
        <p:spPr/>
        <p:txBody>
          <a:bodyPr/>
          <a:lstStyle/>
          <a:p>
            <a:fld id="{4815DF5F-9BBB-475E-80D4-88697EE5EF48}" type="slidenum">
              <a:rPr lang="es-ES" smtClean="0"/>
              <a:t>4</a:t>
            </a:fld>
            <a:endParaRPr lang="es-ES"/>
          </a:p>
        </p:txBody>
      </p:sp>
    </p:spTree>
    <p:extLst>
      <p:ext uri="{BB962C8B-B14F-4D97-AF65-F5344CB8AC3E}">
        <p14:creationId xmlns:p14="http://schemas.microsoft.com/office/powerpoint/2010/main" val="422471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4815DF5F-9BBB-475E-80D4-88697EE5EF48}" type="slidenum">
              <a:rPr lang="es-ES" smtClean="0"/>
              <a:t>8</a:t>
            </a:fld>
            <a:endParaRPr lang="es-ES"/>
          </a:p>
        </p:txBody>
      </p:sp>
    </p:spTree>
    <p:extLst>
      <p:ext uri="{BB962C8B-B14F-4D97-AF65-F5344CB8AC3E}">
        <p14:creationId xmlns:p14="http://schemas.microsoft.com/office/powerpoint/2010/main" val="3948450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E6E64-E98C-3786-CB36-04C7AC6B3C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DDF7BC-B3D8-B8C0-74D4-824D8B8DE36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EB59EA2-2A2C-49E8-5F52-208EEBB3F53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C7E00F6-86BD-AC0B-2008-A88DCEBC499A}"/>
              </a:ext>
            </a:extLst>
          </p:cNvPr>
          <p:cNvSpPr>
            <a:spLocks noGrp="1"/>
          </p:cNvSpPr>
          <p:nvPr>
            <p:ph type="sldNum" sz="quarter" idx="5"/>
          </p:nvPr>
        </p:nvSpPr>
        <p:spPr/>
        <p:txBody>
          <a:bodyPr/>
          <a:lstStyle/>
          <a:p>
            <a:fld id="{4815DF5F-9BBB-475E-80D4-88697EE5EF48}" type="slidenum">
              <a:rPr lang="es-ES" smtClean="0"/>
              <a:t>9</a:t>
            </a:fld>
            <a:endParaRPr lang="es-ES"/>
          </a:p>
        </p:txBody>
      </p:sp>
    </p:spTree>
    <p:extLst>
      <p:ext uri="{BB962C8B-B14F-4D97-AF65-F5344CB8AC3E}">
        <p14:creationId xmlns:p14="http://schemas.microsoft.com/office/powerpoint/2010/main" val="1670607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9EEBC-09FB-2150-5385-CD3BA6BC3F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ECD7182-66E5-4B3D-7E3B-F567987154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9A52D0E-36ED-D22C-8B37-A49BA8B3115B}"/>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D563123-340B-396F-53E4-9AFBD8FCE150}"/>
              </a:ext>
            </a:extLst>
          </p:cNvPr>
          <p:cNvSpPr>
            <a:spLocks noGrp="1"/>
          </p:cNvSpPr>
          <p:nvPr>
            <p:ph type="sldNum" sz="quarter" idx="5"/>
          </p:nvPr>
        </p:nvSpPr>
        <p:spPr/>
        <p:txBody>
          <a:bodyPr/>
          <a:lstStyle/>
          <a:p>
            <a:fld id="{4815DF5F-9BBB-475E-80D4-88697EE5EF48}" type="slidenum">
              <a:rPr lang="es-ES" smtClean="0"/>
              <a:t>10</a:t>
            </a:fld>
            <a:endParaRPr lang="es-ES"/>
          </a:p>
        </p:txBody>
      </p:sp>
    </p:spTree>
    <p:extLst>
      <p:ext uri="{BB962C8B-B14F-4D97-AF65-F5344CB8AC3E}">
        <p14:creationId xmlns:p14="http://schemas.microsoft.com/office/powerpoint/2010/main" val="2990977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382A7-97FF-FA79-6DA6-029E77B591B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B7A29DF-A045-DA59-5C1E-9E0038ABE1B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E846FF-0839-4145-AC03-6A047D37E73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112D651-9E89-C5EA-45D6-8853A8C753A3}"/>
              </a:ext>
            </a:extLst>
          </p:cNvPr>
          <p:cNvSpPr>
            <a:spLocks noGrp="1"/>
          </p:cNvSpPr>
          <p:nvPr>
            <p:ph type="sldNum" sz="quarter" idx="5"/>
          </p:nvPr>
        </p:nvSpPr>
        <p:spPr/>
        <p:txBody>
          <a:bodyPr/>
          <a:lstStyle/>
          <a:p>
            <a:fld id="{4815DF5F-9BBB-475E-80D4-88697EE5EF48}" type="slidenum">
              <a:rPr lang="es-ES" smtClean="0"/>
              <a:t>11</a:t>
            </a:fld>
            <a:endParaRPr lang="es-ES"/>
          </a:p>
        </p:txBody>
      </p:sp>
    </p:spTree>
    <p:extLst>
      <p:ext uri="{BB962C8B-B14F-4D97-AF65-F5344CB8AC3E}">
        <p14:creationId xmlns:p14="http://schemas.microsoft.com/office/powerpoint/2010/main" val="1883882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A7CA3-F7C4-18B8-4D6A-2D571334D47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BDE62FA-B079-86A5-B261-391B957372A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7ACCB9-7492-C5CD-1D26-9BC184E0220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F3A7B0E-BDE2-6F4B-DD31-111AA64DF9F2}"/>
              </a:ext>
            </a:extLst>
          </p:cNvPr>
          <p:cNvSpPr>
            <a:spLocks noGrp="1"/>
          </p:cNvSpPr>
          <p:nvPr>
            <p:ph type="sldNum" sz="quarter" idx="5"/>
          </p:nvPr>
        </p:nvSpPr>
        <p:spPr/>
        <p:txBody>
          <a:bodyPr/>
          <a:lstStyle/>
          <a:p>
            <a:fld id="{4815DF5F-9BBB-475E-80D4-88697EE5EF48}" type="slidenum">
              <a:rPr lang="es-ES" smtClean="0"/>
              <a:t>12</a:t>
            </a:fld>
            <a:endParaRPr lang="es-ES"/>
          </a:p>
        </p:txBody>
      </p:sp>
    </p:spTree>
    <p:extLst>
      <p:ext uri="{BB962C8B-B14F-4D97-AF65-F5344CB8AC3E}">
        <p14:creationId xmlns:p14="http://schemas.microsoft.com/office/powerpoint/2010/main" val="842707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D3C6B-09FC-FCAC-77A9-57FF27A3E6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8FAFD38-1C5F-553A-8D8A-BBAA2BE5CF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2E69EF5-835C-0045-6EAD-6F5EE312A7D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EDF34C6-1626-0C05-A801-0907557D51C1}"/>
              </a:ext>
            </a:extLst>
          </p:cNvPr>
          <p:cNvSpPr>
            <a:spLocks noGrp="1"/>
          </p:cNvSpPr>
          <p:nvPr>
            <p:ph type="sldNum" sz="quarter" idx="5"/>
          </p:nvPr>
        </p:nvSpPr>
        <p:spPr/>
        <p:txBody>
          <a:bodyPr/>
          <a:lstStyle/>
          <a:p>
            <a:fld id="{4815DF5F-9BBB-475E-80D4-88697EE5EF48}" type="slidenum">
              <a:rPr lang="es-ES" smtClean="0"/>
              <a:t>13</a:t>
            </a:fld>
            <a:endParaRPr lang="es-ES"/>
          </a:p>
        </p:txBody>
      </p:sp>
    </p:spTree>
    <p:extLst>
      <p:ext uri="{BB962C8B-B14F-4D97-AF65-F5344CB8AC3E}">
        <p14:creationId xmlns:p14="http://schemas.microsoft.com/office/powerpoint/2010/main" val="668305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8E8A5-8DAE-A3D9-2B4B-3D224C45204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997CE36-03F1-406E-7C72-1128A819A80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B7B3245-52AE-26E9-C95D-A62FBA744C0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20CD428-6E1F-F044-645D-B71B0DA07900}"/>
              </a:ext>
            </a:extLst>
          </p:cNvPr>
          <p:cNvSpPr>
            <a:spLocks noGrp="1"/>
          </p:cNvSpPr>
          <p:nvPr>
            <p:ph type="sldNum" sz="quarter" idx="5"/>
          </p:nvPr>
        </p:nvSpPr>
        <p:spPr/>
        <p:txBody>
          <a:bodyPr/>
          <a:lstStyle/>
          <a:p>
            <a:fld id="{4815DF5F-9BBB-475E-80D4-88697EE5EF48}" type="slidenum">
              <a:rPr lang="es-ES" smtClean="0"/>
              <a:t>14</a:t>
            </a:fld>
            <a:endParaRPr lang="es-ES"/>
          </a:p>
        </p:txBody>
      </p:sp>
    </p:spTree>
    <p:extLst>
      <p:ext uri="{BB962C8B-B14F-4D97-AF65-F5344CB8AC3E}">
        <p14:creationId xmlns:p14="http://schemas.microsoft.com/office/powerpoint/2010/main" val="2980390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A76B8-AF18-120F-76CF-61935403C8C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D0944AD-BBBB-429C-F890-4CA312C65D7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4155B21-604A-0E67-AE3E-E7BD3E4189B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082E01C-8FE7-5A95-FB7F-2B839137690E}"/>
              </a:ext>
            </a:extLst>
          </p:cNvPr>
          <p:cNvSpPr>
            <a:spLocks noGrp="1"/>
          </p:cNvSpPr>
          <p:nvPr>
            <p:ph type="sldNum" sz="quarter" idx="5"/>
          </p:nvPr>
        </p:nvSpPr>
        <p:spPr/>
        <p:txBody>
          <a:bodyPr/>
          <a:lstStyle/>
          <a:p>
            <a:fld id="{4815DF5F-9BBB-475E-80D4-88697EE5EF48}" type="slidenum">
              <a:rPr lang="es-ES" smtClean="0"/>
              <a:t>15</a:t>
            </a:fld>
            <a:endParaRPr lang="es-ES"/>
          </a:p>
        </p:txBody>
      </p:sp>
    </p:spTree>
    <p:extLst>
      <p:ext uri="{BB962C8B-B14F-4D97-AF65-F5344CB8AC3E}">
        <p14:creationId xmlns:p14="http://schemas.microsoft.com/office/powerpoint/2010/main" val="2950281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86CA3-067D-63A5-A3FD-E30F094DDB1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568990F-12BD-6532-1FF4-3561337E84A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EF67CE3-6EBF-019A-8014-9142AE30C3B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0DDA70B-C78D-3E60-CC8B-37052FBE1FFC}"/>
              </a:ext>
            </a:extLst>
          </p:cNvPr>
          <p:cNvSpPr>
            <a:spLocks noGrp="1"/>
          </p:cNvSpPr>
          <p:nvPr>
            <p:ph type="sldNum" sz="quarter" idx="5"/>
          </p:nvPr>
        </p:nvSpPr>
        <p:spPr/>
        <p:txBody>
          <a:bodyPr/>
          <a:lstStyle/>
          <a:p>
            <a:fld id="{4815DF5F-9BBB-475E-80D4-88697EE5EF48}" type="slidenum">
              <a:rPr lang="es-ES" smtClean="0"/>
              <a:t>16</a:t>
            </a:fld>
            <a:endParaRPr lang="es-ES"/>
          </a:p>
        </p:txBody>
      </p:sp>
    </p:spTree>
    <p:extLst>
      <p:ext uri="{BB962C8B-B14F-4D97-AF65-F5344CB8AC3E}">
        <p14:creationId xmlns:p14="http://schemas.microsoft.com/office/powerpoint/2010/main" val="21395102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8CF29-1000-47AE-3798-B46E3E3214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C35C00-1D53-0F49-CD2D-6343FA2A209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3B1FEA9-E6B0-AEF7-ECBE-32EA4527586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C84D2FC-2D29-AB06-96C6-0BFCE35C6291}"/>
              </a:ext>
            </a:extLst>
          </p:cNvPr>
          <p:cNvSpPr>
            <a:spLocks noGrp="1"/>
          </p:cNvSpPr>
          <p:nvPr>
            <p:ph type="sldNum" sz="quarter" idx="5"/>
          </p:nvPr>
        </p:nvSpPr>
        <p:spPr/>
        <p:txBody>
          <a:bodyPr/>
          <a:lstStyle/>
          <a:p>
            <a:fld id="{4815DF5F-9BBB-475E-80D4-88697EE5EF48}" type="slidenum">
              <a:rPr lang="es-ES" smtClean="0"/>
              <a:t>17</a:t>
            </a:fld>
            <a:endParaRPr lang="es-ES"/>
          </a:p>
        </p:txBody>
      </p:sp>
    </p:spTree>
    <p:extLst>
      <p:ext uri="{BB962C8B-B14F-4D97-AF65-F5344CB8AC3E}">
        <p14:creationId xmlns:p14="http://schemas.microsoft.com/office/powerpoint/2010/main" val="1438352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4815DF5F-9BBB-475E-80D4-88697EE5EF48}" type="slidenum">
              <a:rPr lang="es-ES" smtClean="0"/>
              <a:t>18</a:t>
            </a:fld>
            <a:endParaRPr lang="es-ES"/>
          </a:p>
        </p:txBody>
      </p:sp>
    </p:spTree>
    <p:extLst>
      <p:ext uri="{BB962C8B-B14F-4D97-AF65-F5344CB8AC3E}">
        <p14:creationId xmlns:p14="http://schemas.microsoft.com/office/powerpoint/2010/main" val="879314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4815DF5F-9BBB-475E-80D4-88697EE5EF48}" type="slidenum">
              <a:rPr lang="es-ES" smtClean="0"/>
              <a:t>19</a:t>
            </a:fld>
            <a:endParaRPr lang="es-ES"/>
          </a:p>
        </p:txBody>
      </p:sp>
    </p:spTree>
    <p:extLst>
      <p:ext uri="{BB962C8B-B14F-4D97-AF65-F5344CB8AC3E}">
        <p14:creationId xmlns:p14="http://schemas.microsoft.com/office/powerpoint/2010/main" val="2660549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0F_E7513B02.xml"/><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microsoft.com/office/2018/10/relationships/comments" Target="../comments/modernComment_110_7DC7EC9A.xml"/><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microsoft.com/office/2018/10/relationships/comments" Target="../comments/modernComment_111_3312C8AB.xml"/><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microsoft.com/office/2018/10/relationships/comments" Target="../comments/modernComment_112_4B44B588.xml"/><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microsoft.com/office/2018/10/relationships/comments" Target="../comments/modernComment_113_823F8504.xml"/><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microsoft.com/office/2018/10/relationships/comments" Target="../comments/modernComment_114_5D85A363.xm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microsoft.com/office/2018/10/relationships/comments" Target="../comments/modernComment_115_40B30EB8.xml"/><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microsoft.com/office/2018/10/relationships/comments" Target="../comments/modernComment_116_A35B339B.xml"/><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microsoft.com/office/2018/10/relationships/comments" Target="../comments/modernComment_117_D75095FC.xml"/><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microsoft.com/office/2018/10/relationships/comments" Target="../comments/modernComment_118_7945BBB5.xml"/><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jpeg"/></Relationships>
</file>

<file path=ppt/slides/_rels/slide19.xml.rels><?xml version="1.0" encoding="UTF-8" standalone="yes"?>
<Relationships xmlns="http://schemas.openxmlformats.org/package/2006/relationships"><Relationship Id="rId3" Type="http://schemas.microsoft.com/office/2018/10/relationships/comments" Target="../comments/modernComment_102_0.xml"/><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3_0.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6_0.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7_0.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2">
            <a:extLst>
              <a:ext uri="{FF2B5EF4-FFF2-40B4-BE49-F238E27FC236}">
                <a16:creationId xmlns:a16="http://schemas.microsoft.com/office/drawing/2014/main" id="{0C13F278-F1E0-221D-36E0-3E0D5DA670C3}"/>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a:stretch>
          </a:blipFill>
        </p:spPr>
        <p:txBody>
          <a:bodyPr/>
          <a:lstStyle/>
          <a:p>
            <a:endParaRPr lang="es-ES">
              <a:solidFill>
                <a:schemeClr val="bg1"/>
              </a:solidFill>
            </a:endParaRPr>
          </a:p>
        </p:txBody>
      </p:sp>
      <p:sp>
        <p:nvSpPr>
          <p:cNvPr id="3" name="TextBox 3"/>
          <p:cNvSpPr txBox="1"/>
          <p:nvPr/>
        </p:nvSpPr>
        <p:spPr>
          <a:xfrm>
            <a:off x="457200" y="7445751"/>
            <a:ext cx="7801192" cy="2927533"/>
          </a:xfrm>
          <a:prstGeom prst="rect">
            <a:avLst/>
          </a:prstGeom>
        </p:spPr>
        <p:txBody>
          <a:bodyPr lIns="0" tIns="0" rIns="0" bIns="0" rtlCol="0" anchor="t">
            <a:spAutoFit/>
          </a:bodyPr>
          <a:lstStyle/>
          <a:p>
            <a:pPr algn="l">
              <a:lnSpc>
                <a:spcPts val="4570"/>
              </a:lnSpc>
            </a:pPr>
            <a:r>
              <a:rPr lang="en-US" sz="3264" dirty="0" err="1">
                <a:solidFill>
                  <a:schemeClr val="bg1"/>
                </a:solidFill>
                <a:latin typeface="HK Grotesk"/>
                <a:ea typeface="HK Grotesk"/>
                <a:cs typeface="HK Grotesk"/>
                <a:sym typeface="HK Grotesk"/>
              </a:rPr>
              <a:t>Integrantes</a:t>
            </a:r>
            <a:r>
              <a:rPr lang="en-US" sz="3264" dirty="0">
                <a:solidFill>
                  <a:schemeClr val="bg1"/>
                </a:solidFill>
                <a:latin typeface="HK Grotesk"/>
                <a:ea typeface="HK Grotesk"/>
                <a:cs typeface="HK Grotesk"/>
                <a:sym typeface="HK Grotesk"/>
              </a:rPr>
              <a:t>: Elliot Fuentealba, Bruno Rojas</a:t>
            </a:r>
          </a:p>
          <a:p>
            <a:pPr algn="l">
              <a:lnSpc>
                <a:spcPts val="4570"/>
              </a:lnSpc>
            </a:pPr>
            <a:r>
              <a:rPr lang="en-US" sz="3264" dirty="0" err="1">
                <a:solidFill>
                  <a:schemeClr val="bg1"/>
                </a:solidFill>
                <a:latin typeface="HK Grotesk"/>
                <a:ea typeface="HK Grotesk"/>
                <a:cs typeface="HK Grotesk"/>
                <a:sym typeface="HK Grotesk"/>
              </a:rPr>
              <a:t>Profesor</a:t>
            </a:r>
            <a:r>
              <a:rPr lang="en-US" sz="3264" dirty="0">
                <a:solidFill>
                  <a:schemeClr val="bg1"/>
                </a:solidFill>
                <a:latin typeface="HK Grotesk"/>
                <a:ea typeface="HK Grotesk"/>
                <a:cs typeface="HK Grotesk"/>
                <a:sym typeface="HK Grotesk"/>
              </a:rPr>
              <a:t>: Jhon Ariel Valencia Rivas</a:t>
            </a:r>
          </a:p>
          <a:p>
            <a:pPr algn="l">
              <a:lnSpc>
                <a:spcPts val="4570"/>
              </a:lnSpc>
            </a:pPr>
            <a:r>
              <a:rPr lang="en-US" sz="3264" dirty="0">
                <a:solidFill>
                  <a:schemeClr val="bg1"/>
                </a:solidFill>
                <a:latin typeface="HK Grotesk"/>
                <a:ea typeface="HK Grotesk"/>
                <a:cs typeface="HK Grotesk"/>
                <a:sym typeface="HK Grotesk"/>
              </a:rPr>
              <a:t>Carrera: Ingeniería </a:t>
            </a:r>
            <a:r>
              <a:rPr lang="en-US" sz="3264" dirty="0" err="1">
                <a:solidFill>
                  <a:schemeClr val="bg1"/>
                </a:solidFill>
                <a:latin typeface="HK Grotesk"/>
                <a:ea typeface="HK Grotesk"/>
                <a:cs typeface="HK Grotesk"/>
                <a:sym typeface="HK Grotesk"/>
              </a:rPr>
              <a:t>en</a:t>
            </a:r>
            <a:r>
              <a:rPr lang="en-US" sz="3264" dirty="0">
                <a:solidFill>
                  <a:schemeClr val="bg1"/>
                </a:solidFill>
                <a:latin typeface="HK Grotesk"/>
                <a:ea typeface="HK Grotesk"/>
                <a:cs typeface="HK Grotesk"/>
                <a:sym typeface="HK Grotesk"/>
              </a:rPr>
              <a:t> </a:t>
            </a:r>
            <a:r>
              <a:rPr lang="en-US" sz="3264" dirty="0" err="1">
                <a:solidFill>
                  <a:schemeClr val="bg1"/>
                </a:solidFill>
                <a:latin typeface="HK Grotesk"/>
                <a:ea typeface="HK Grotesk"/>
                <a:cs typeface="HK Grotesk"/>
                <a:sym typeface="HK Grotesk"/>
              </a:rPr>
              <a:t>Informática</a:t>
            </a:r>
            <a:endParaRPr lang="en-US" sz="3264" dirty="0">
              <a:solidFill>
                <a:schemeClr val="bg1"/>
              </a:solidFill>
              <a:latin typeface="HK Grotesk"/>
              <a:ea typeface="HK Grotesk"/>
              <a:cs typeface="HK Grotesk"/>
              <a:sym typeface="HK Grotesk"/>
            </a:endParaRPr>
          </a:p>
          <a:p>
            <a:pPr algn="l">
              <a:lnSpc>
                <a:spcPts val="4570"/>
              </a:lnSpc>
            </a:pPr>
            <a:r>
              <a:rPr lang="en-US" sz="3264" dirty="0" err="1">
                <a:solidFill>
                  <a:schemeClr val="bg1"/>
                </a:solidFill>
                <a:latin typeface="HK Grotesk"/>
                <a:ea typeface="HK Grotesk"/>
                <a:cs typeface="HK Grotesk"/>
                <a:sym typeface="HK Grotesk"/>
              </a:rPr>
              <a:t>Asignatura</a:t>
            </a:r>
            <a:r>
              <a:rPr lang="en-US" sz="3264" dirty="0">
                <a:solidFill>
                  <a:schemeClr val="bg1"/>
                </a:solidFill>
                <a:latin typeface="HK Grotesk"/>
                <a:ea typeface="HK Grotesk"/>
                <a:cs typeface="HK Grotesk"/>
                <a:sym typeface="HK Grotesk"/>
              </a:rPr>
              <a:t>: </a:t>
            </a:r>
            <a:r>
              <a:rPr lang="en-US" sz="3264" dirty="0" err="1">
                <a:solidFill>
                  <a:schemeClr val="bg1"/>
                </a:solidFill>
                <a:latin typeface="HK Grotesk"/>
                <a:ea typeface="HK Grotesk"/>
                <a:cs typeface="HK Grotesk"/>
                <a:sym typeface="HK Grotesk"/>
              </a:rPr>
              <a:t>Estadistica</a:t>
            </a:r>
            <a:r>
              <a:rPr lang="en-US" sz="3264" dirty="0">
                <a:solidFill>
                  <a:schemeClr val="bg1"/>
                </a:solidFill>
                <a:latin typeface="HK Grotesk"/>
                <a:ea typeface="HK Grotesk"/>
                <a:cs typeface="HK Grotesk"/>
                <a:sym typeface="HK Grotesk"/>
              </a:rPr>
              <a:t> 151-5</a:t>
            </a:r>
          </a:p>
          <a:p>
            <a:pPr algn="l">
              <a:lnSpc>
                <a:spcPts val="4570"/>
              </a:lnSpc>
            </a:pPr>
            <a:endParaRPr lang="en-US" sz="3264" dirty="0">
              <a:solidFill>
                <a:schemeClr val="bg1"/>
              </a:solidFill>
              <a:latin typeface="HK Grotesk"/>
              <a:ea typeface="HK Grotesk"/>
              <a:cs typeface="HK Grotesk"/>
              <a:sym typeface="HK Grotesk"/>
            </a:endParaRPr>
          </a:p>
        </p:txBody>
      </p:sp>
      <p:sp>
        <p:nvSpPr>
          <p:cNvPr id="4" name="TextBox 4"/>
          <p:cNvSpPr txBox="1"/>
          <p:nvPr/>
        </p:nvSpPr>
        <p:spPr>
          <a:xfrm>
            <a:off x="4651632" y="1095375"/>
            <a:ext cx="8984736" cy="5796459"/>
          </a:xfrm>
          <a:prstGeom prst="rect">
            <a:avLst/>
          </a:prstGeom>
        </p:spPr>
        <p:txBody>
          <a:bodyPr lIns="0" tIns="0" rIns="0" bIns="0" rtlCol="0" anchor="t">
            <a:spAutoFit/>
          </a:bodyPr>
          <a:lstStyle/>
          <a:p>
            <a:pPr algn="ctr">
              <a:lnSpc>
                <a:spcPts val="11307"/>
              </a:lnSpc>
            </a:pPr>
            <a:r>
              <a:rPr lang="en-US" sz="10006" b="1" dirty="0">
                <a:solidFill>
                  <a:schemeClr val="bg1"/>
                </a:solidFill>
                <a:latin typeface="Glacial Indifference Bold"/>
                <a:ea typeface="Glacial Indifference Bold"/>
                <a:cs typeface="Glacial Indifference Bold"/>
                <a:sym typeface="Glacial Indifference Bold"/>
              </a:rPr>
              <a:t>IMPACTO</a:t>
            </a:r>
          </a:p>
          <a:p>
            <a:pPr algn="ctr">
              <a:lnSpc>
                <a:spcPts val="11307"/>
              </a:lnSpc>
            </a:pPr>
            <a:r>
              <a:rPr lang="en-US" sz="10006" b="1" dirty="0">
                <a:solidFill>
                  <a:schemeClr val="bg1"/>
                </a:solidFill>
                <a:latin typeface="Glacial Indifference Bold"/>
                <a:ea typeface="Glacial Indifference Bold"/>
                <a:cs typeface="Glacial Indifference Bold"/>
                <a:sym typeface="Glacial Indifference Bold"/>
              </a:rPr>
              <a:t>DE LA INTELIGENCIA ARTIFICAL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E0A6C8B2-A52B-DF30-BC3C-B5EF7991890F}"/>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txBody>
          <a:bodyPr/>
          <a:lstStyle/>
          <a:p>
            <a:endParaRPr lang="es-ES">
              <a:solidFill>
                <a:schemeClr val="bg1"/>
              </a:solidFill>
            </a:endParaRPr>
          </a:p>
        </p:txBody>
      </p:sp>
      <p:sp>
        <p:nvSpPr>
          <p:cNvPr id="2" name="TextBox 4">
            <a:extLst>
              <a:ext uri="{FF2B5EF4-FFF2-40B4-BE49-F238E27FC236}">
                <a16:creationId xmlns:a16="http://schemas.microsoft.com/office/drawing/2014/main" id="{D0D4B00C-2598-2A1A-8A0D-13E31CE6D2ED}"/>
              </a:ext>
            </a:extLst>
          </p:cNvPr>
          <p:cNvSpPr txBox="1"/>
          <p:nvPr/>
        </p:nvSpPr>
        <p:spPr>
          <a:xfrm>
            <a:off x="9172975" y="608527"/>
            <a:ext cx="8197452" cy="233895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6000" b="1">
                <a:solidFill>
                  <a:schemeClr val="bg1"/>
                </a:solidFill>
                <a:latin typeface="+mj-lt"/>
                <a:ea typeface="+mj-ea"/>
                <a:cs typeface="+mj-cs"/>
                <a:sym typeface="Glacial Indifference Bold"/>
              </a:rPr>
              <a:t>Descripción</a:t>
            </a:r>
          </a:p>
        </p:txBody>
      </p:sp>
      <p:sp>
        <p:nvSpPr>
          <p:cNvPr id="3" name="TextBox 3">
            <a:extLst>
              <a:ext uri="{FF2B5EF4-FFF2-40B4-BE49-F238E27FC236}">
                <a16:creationId xmlns:a16="http://schemas.microsoft.com/office/drawing/2014/main" id="{9BEB7320-B93E-ECB3-33CB-0EACE2C907C8}"/>
              </a:ext>
            </a:extLst>
          </p:cNvPr>
          <p:cNvSpPr txBox="1"/>
          <p:nvPr/>
        </p:nvSpPr>
        <p:spPr>
          <a:xfrm>
            <a:off x="9172975" y="4114800"/>
            <a:ext cx="7871010" cy="5245317"/>
          </a:xfrm>
          <a:prstGeom prst="rect">
            <a:avLst/>
          </a:prstGeom>
        </p:spPr>
        <p:txBody>
          <a:bodyPr vert="horz" lIns="91440" tIns="45720" rIns="91440" bIns="45720" rtlCol="0" anchor="ctr">
            <a:normAutofit/>
          </a:bodyPr>
          <a:lstStyle/>
          <a:p>
            <a:pPr>
              <a:lnSpc>
                <a:spcPct val="90000"/>
              </a:lnSpc>
              <a:spcAft>
                <a:spcPts val="600"/>
              </a:spcAft>
            </a:pPr>
            <a:r>
              <a:rPr lang="en-US" sz="3000">
                <a:solidFill>
                  <a:schemeClr val="bg1"/>
                </a:solidFill>
                <a:sym typeface="HK Grotesk"/>
              </a:rPr>
              <a:t>Este proyecto tiene como finalidad explorar cómo las personas, especialmente los jóvenes, perciben y utilizan la inteligencia artificial (IA) en su vida diaria. A través de una encuesta estructurada, se recolectaron datos sobre el nivel de conocimiento, la frecuencia de uso y las opiniones sobre el impacto de la IA en distintos sectores como la educación, el entretenimiento, la salud y la agricultura. El análisis de los resultados permitió identificar patrones de adopción, sectores más influenciados y posibles desafíos en la integración de estas tecnologías.</a:t>
            </a:r>
            <a:endParaRPr lang="en-US" sz="3000" dirty="0">
              <a:solidFill>
                <a:schemeClr val="bg1"/>
              </a:solidFill>
              <a:sym typeface="HK Grotesk"/>
            </a:endParaRPr>
          </a:p>
        </p:txBody>
      </p:sp>
    </p:spTree>
    <p:extLst>
      <p:ext uri="{BB962C8B-B14F-4D97-AF65-F5344CB8AC3E}">
        <p14:creationId xmlns:p14="http://schemas.microsoft.com/office/powerpoint/2010/main" val="2532208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AF38F-6C03-FD55-0B66-02ABB8DD0D00}"/>
            </a:ext>
          </a:extLst>
        </p:cNvPr>
        <p:cNvGrpSpPr/>
        <p:nvPr/>
      </p:nvGrpSpPr>
      <p:grpSpPr>
        <a:xfrm>
          <a:off x="0" y="0"/>
          <a:ext cx="0" cy="0"/>
          <a:chOff x="0" y="0"/>
          <a:chExt cx="0" cy="0"/>
        </a:xfrm>
      </p:grpSpPr>
      <p:sp>
        <p:nvSpPr>
          <p:cNvPr id="18" name="Freeform 2">
            <a:extLst>
              <a:ext uri="{FF2B5EF4-FFF2-40B4-BE49-F238E27FC236}">
                <a16:creationId xmlns:a16="http://schemas.microsoft.com/office/drawing/2014/main" id="{0CA8146D-975E-A9D1-6902-264B298E37A2}"/>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a:stretch>
          </a:blipFill>
        </p:spPr>
        <p:txBody>
          <a:bodyPr/>
          <a:lstStyle/>
          <a:p>
            <a:endParaRPr lang="es-ES">
              <a:solidFill>
                <a:schemeClr val="bg1"/>
              </a:solidFill>
            </a:endParaRPr>
          </a:p>
        </p:txBody>
      </p:sp>
      <p:sp>
        <p:nvSpPr>
          <p:cNvPr id="3" name="TextBox 3">
            <a:extLst>
              <a:ext uri="{FF2B5EF4-FFF2-40B4-BE49-F238E27FC236}">
                <a16:creationId xmlns:a16="http://schemas.microsoft.com/office/drawing/2014/main" id="{4AA99E53-F968-D82F-99CE-E6E5BBBC138A}"/>
              </a:ext>
            </a:extLst>
          </p:cNvPr>
          <p:cNvSpPr txBox="1"/>
          <p:nvPr/>
        </p:nvSpPr>
        <p:spPr>
          <a:xfrm>
            <a:off x="381000" y="2042975"/>
            <a:ext cx="7801192" cy="1747723"/>
          </a:xfrm>
          <a:prstGeom prst="rect">
            <a:avLst/>
          </a:prstGeom>
        </p:spPr>
        <p:txBody>
          <a:bodyPr lIns="0" tIns="0" rIns="0" bIns="0" rtlCol="0" anchor="t">
            <a:spAutoFit/>
          </a:bodyPr>
          <a:lstStyle/>
          <a:p>
            <a:pPr algn="l">
              <a:lnSpc>
                <a:spcPts val="4570"/>
              </a:lnSpc>
            </a:pPr>
            <a:r>
              <a:rPr lang="es-MX" sz="3264" dirty="0">
                <a:solidFill>
                  <a:schemeClr val="bg1"/>
                </a:solidFill>
                <a:latin typeface="HK Grotesk"/>
                <a:ea typeface="HK Grotesk"/>
                <a:cs typeface="HK Grotesk"/>
                <a:sym typeface="HK Grotesk"/>
              </a:rPr>
              <a:t>Uso y percepción de la inteligencia artificial en el entorno educativo y cotidiano.</a:t>
            </a:r>
            <a:endParaRPr lang="en-US" sz="3264" dirty="0">
              <a:solidFill>
                <a:schemeClr val="bg1"/>
              </a:solidFill>
              <a:latin typeface="HK Grotesk"/>
              <a:ea typeface="HK Grotesk"/>
              <a:cs typeface="HK Grotesk"/>
              <a:sym typeface="HK Grotesk"/>
            </a:endParaRPr>
          </a:p>
          <a:p>
            <a:pPr algn="l">
              <a:lnSpc>
                <a:spcPts val="4570"/>
              </a:lnSpc>
            </a:pPr>
            <a:endParaRPr lang="en-US" sz="3264" dirty="0">
              <a:solidFill>
                <a:schemeClr val="bg1"/>
              </a:solidFill>
              <a:latin typeface="HK Grotesk"/>
              <a:ea typeface="HK Grotesk"/>
              <a:cs typeface="HK Grotesk"/>
              <a:sym typeface="HK Grotesk"/>
            </a:endParaRPr>
          </a:p>
        </p:txBody>
      </p:sp>
      <p:sp>
        <p:nvSpPr>
          <p:cNvPr id="4" name="TextBox 4">
            <a:extLst>
              <a:ext uri="{FF2B5EF4-FFF2-40B4-BE49-F238E27FC236}">
                <a16:creationId xmlns:a16="http://schemas.microsoft.com/office/drawing/2014/main" id="{AD5449BA-5806-EC07-A43D-5A7B3FF149E1}"/>
              </a:ext>
            </a:extLst>
          </p:cNvPr>
          <p:cNvSpPr txBox="1"/>
          <p:nvPr/>
        </p:nvSpPr>
        <p:spPr>
          <a:xfrm>
            <a:off x="609600" y="342900"/>
            <a:ext cx="3436887" cy="1298432"/>
          </a:xfrm>
          <a:prstGeom prst="rect">
            <a:avLst/>
          </a:prstGeom>
        </p:spPr>
        <p:txBody>
          <a:bodyPr wrap="square" lIns="0" tIns="0" rIns="0" bIns="0" rtlCol="0" anchor="t">
            <a:spAutoFit/>
          </a:bodyPr>
          <a:lstStyle/>
          <a:p>
            <a:pPr algn="ctr">
              <a:lnSpc>
                <a:spcPts val="11307"/>
              </a:lnSpc>
            </a:pPr>
            <a:r>
              <a:rPr lang="en-US" sz="6600" b="1" dirty="0">
                <a:solidFill>
                  <a:schemeClr val="bg1"/>
                </a:solidFill>
                <a:latin typeface="Glacial Indifference Bold"/>
                <a:ea typeface="Glacial Indifference Bold"/>
                <a:cs typeface="Glacial Indifference Bold"/>
                <a:sym typeface="Glacial Indifference Bold"/>
              </a:rPr>
              <a:t>Tema</a:t>
            </a:r>
          </a:p>
        </p:txBody>
      </p:sp>
      <p:sp>
        <p:nvSpPr>
          <p:cNvPr id="8" name="TextBox 4">
            <a:extLst>
              <a:ext uri="{FF2B5EF4-FFF2-40B4-BE49-F238E27FC236}">
                <a16:creationId xmlns:a16="http://schemas.microsoft.com/office/drawing/2014/main" id="{665E5A50-5C4C-B0BE-E2B3-A32EDB4BA0A2}"/>
              </a:ext>
            </a:extLst>
          </p:cNvPr>
          <p:cNvSpPr txBox="1"/>
          <p:nvPr/>
        </p:nvSpPr>
        <p:spPr>
          <a:xfrm>
            <a:off x="12287960" y="1792014"/>
            <a:ext cx="3436887" cy="1298432"/>
          </a:xfrm>
          <a:prstGeom prst="rect">
            <a:avLst/>
          </a:prstGeom>
        </p:spPr>
        <p:txBody>
          <a:bodyPr wrap="square" lIns="0" tIns="0" rIns="0" bIns="0" rtlCol="0" anchor="t">
            <a:spAutoFit/>
          </a:bodyPr>
          <a:lstStyle/>
          <a:p>
            <a:pPr algn="ctr">
              <a:lnSpc>
                <a:spcPts val="11307"/>
              </a:lnSpc>
            </a:pPr>
            <a:r>
              <a:rPr lang="en-US" sz="6600" b="1" dirty="0" err="1">
                <a:solidFill>
                  <a:schemeClr val="bg1"/>
                </a:solidFill>
                <a:latin typeface="Glacial Indifference Bold"/>
                <a:ea typeface="Glacial Indifference Bold"/>
                <a:cs typeface="Glacial Indifference Bold"/>
                <a:sym typeface="Glacial Indifference Bold"/>
              </a:rPr>
              <a:t>Objetivo</a:t>
            </a:r>
            <a:endParaRPr lang="en-US" sz="6600" b="1" dirty="0">
              <a:solidFill>
                <a:schemeClr val="bg1"/>
              </a:solidFill>
              <a:latin typeface="Glacial Indifference Bold"/>
              <a:ea typeface="Glacial Indifference Bold"/>
              <a:cs typeface="Glacial Indifference Bold"/>
              <a:sym typeface="Glacial Indifference Bold"/>
            </a:endParaRPr>
          </a:p>
        </p:txBody>
      </p:sp>
      <p:sp>
        <p:nvSpPr>
          <p:cNvPr id="9" name="TextBox 3">
            <a:extLst>
              <a:ext uri="{FF2B5EF4-FFF2-40B4-BE49-F238E27FC236}">
                <a16:creationId xmlns:a16="http://schemas.microsoft.com/office/drawing/2014/main" id="{5E4CBBDD-839A-269A-4F50-7D46821583F0}"/>
              </a:ext>
            </a:extLst>
          </p:cNvPr>
          <p:cNvSpPr txBox="1"/>
          <p:nvPr/>
        </p:nvSpPr>
        <p:spPr>
          <a:xfrm>
            <a:off x="10105808" y="3241129"/>
            <a:ext cx="7801192" cy="2927533"/>
          </a:xfrm>
          <a:prstGeom prst="rect">
            <a:avLst/>
          </a:prstGeom>
        </p:spPr>
        <p:txBody>
          <a:bodyPr lIns="0" tIns="0" rIns="0" bIns="0" rtlCol="0" anchor="t">
            <a:spAutoFit/>
          </a:bodyPr>
          <a:lstStyle/>
          <a:p>
            <a:pPr algn="l">
              <a:lnSpc>
                <a:spcPts val="4570"/>
              </a:lnSpc>
            </a:pPr>
            <a:r>
              <a:rPr lang="es-MX" sz="3264" dirty="0">
                <a:solidFill>
                  <a:schemeClr val="bg1"/>
                </a:solidFill>
                <a:latin typeface="HK Grotesk"/>
                <a:ea typeface="HK Grotesk"/>
                <a:cs typeface="HK Grotesk"/>
                <a:sym typeface="HK Grotesk"/>
              </a:rPr>
              <a:t>Analizar el grado de conocimiento, uso y percepción de la inteligencia artificial entre los encuestados, con el fin de comprender su impacto en la vida cotidiana y su potencial educativo.</a:t>
            </a:r>
            <a:endParaRPr lang="en-US" sz="3264" dirty="0">
              <a:solidFill>
                <a:schemeClr val="bg1"/>
              </a:solidFill>
              <a:latin typeface="HK Grotesk"/>
              <a:ea typeface="HK Grotesk"/>
              <a:cs typeface="HK Grotesk"/>
              <a:sym typeface="HK Grotesk"/>
            </a:endParaRPr>
          </a:p>
        </p:txBody>
      </p:sp>
      <p:sp>
        <p:nvSpPr>
          <p:cNvPr id="13" name="TextBox 4">
            <a:extLst>
              <a:ext uri="{FF2B5EF4-FFF2-40B4-BE49-F238E27FC236}">
                <a16:creationId xmlns:a16="http://schemas.microsoft.com/office/drawing/2014/main" id="{A3A57645-35E8-77AE-66B7-17A6E44B4323}"/>
              </a:ext>
            </a:extLst>
          </p:cNvPr>
          <p:cNvSpPr txBox="1"/>
          <p:nvPr/>
        </p:nvSpPr>
        <p:spPr>
          <a:xfrm>
            <a:off x="198387" y="4494284"/>
            <a:ext cx="7696200" cy="1298432"/>
          </a:xfrm>
          <a:prstGeom prst="rect">
            <a:avLst/>
          </a:prstGeom>
        </p:spPr>
        <p:txBody>
          <a:bodyPr wrap="square" lIns="0" tIns="0" rIns="0" bIns="0" rtlCol="0" anchor="t">
            <a:spAutoFit/>
          </a:bodyPr>
          <a:lstStyle/>
          <a:p>
            <a:pPr algn="ctr">
              <a:lnSpc>
                <a:spcPts val="11307"/>
              </a:lnSpc>
            </a:pPr>
            <a:r>
              <a:rPr lang="en-US" sz="6600" b="1" dirty="0">
                <a:solidFill>
                  <a:schemeClr val="bg1"/>
                </a:solidFill>
                <a:latin typeface="Glacial Indifference Bold"/>
                <a:ea typeface="Glacial Indifference Bold"/>
                <a:cs typeface="Glacial Indifference Bold"/>
                <a:sym typeface="Glacial Indifference Bold"/>
              </a:rPr>
              <a:t>Publico </a:t>
            </a:r>
            <a:r>
              <a:rPr lang="en-US" sz="6600" b="1" dirty="0" err="1">
                <a:solidFill>
                  <a:schemeClr val="bg1"/>
                </a:solidFill>
                <a:latin typeface="Glacial Indifference Bold"/>
                <a:ea typeface="Glacial Indifference Bold"/>
                <a:cs typeface="Glacial Indifference Bold"/>
                <a:sym typeface="Glacial Indifference Bold"/>
              </a:rPr>
              <a:t>Objetivo</a:t>
            </a:r>
            <a:endParaRPr lang="en-US" sz="6600" b="1" dirty="0">
              <a:solidFill>
                <a:schemeClr val="bg1"/>
              </a:solidFill>
              <a:latin typeface="Glacial Indifference Bold"/>
              <a:ea typeface="Glacial Indifference Bold"/>
              <a:cs typeface="Glacial Indifference Bold"/>
              <a:sym typeface="Glacial Indifference Bold"/>
            </a:endParaRPr>
          </a:p>
        </p:txBody>
      </p:sp>
      <p:sp>
        <p:nvSpPr>
          <p:cNvPr id="17" name="TextBox 3">
            <a:extLst>
              <a:ext uri="{FF2B5EF4-FFF2-40B4-BE49-F238E27FC236}">
                <a16:creationId xmlns:a16="http://schemas.microsoft.com/office/drawing/2014/main" id="{8A4EB895-56BE-41B1-9444-3B637A0ABFE1}"/>
              </a:ext>
            </a:extLst>
          </p:cNvPr>
          <p:cNvSpPr txBox="1"/>
          <p:nvPr/>
        </p:nvSpPr>
        <p:spPr>
          <a:xfrm>
            <a:off x="631371" y="6168662"/>
            <a:ext cx="7801192" cy="3517438"/>
          </a:xfrm>
          <a:prstGeom prst="rect">
            <a:avLst/>
          </a:prstGeom>
        </p:spPr>
        <p:txBody>
          <a:bodyPr lIns="0" tIns="0" rIns="0" bIns="0" rtlCol="0" anchor="t">
            <a:spAutoFit/>
          </a:bodyPr>
          <a:lstStyle/>
          <a:p>
            <a:pPr algn="l">
              <a:lnSpc>
                <a:spcPts val="4570"/>
              </a:lnSpc>
            </a:pPr>
            <a:r>
              <a:rPr lang="es-MX" sz="3264" dirty="0">
                <a:solidFill>
                  <a:schemeClr val="bg1"/>
                </a:solidFill>
                <a:latin typeface="HK Grotesk"/>
                <a:ea typeface="HK Grotesk"/>
                <a:cs typeface="HK Grotesk"/>
                <a:sym typeface="HK Grotesk"/>
              </a:rPr>
              <a:t>Estudiantes de enseñanza media y superior</a:t>
            </a:r>
          </a:p>
          <a:p>
            <a:pPr algn="l">
              <a:lnSpc>
                <a:spcPts val="4570"/>
              </a:lnSpc>
            </a:pPr>
            <a:r>
              <a:rPr lang="es-MX" sz="3264" dirty="0">
                <a:solidFill>
                  <a:schemeClr val="bg1"/>
                </a:solidFill>
                <a:latin typeface="HK Grotesk"/>
                <a:ea typeface="HK Grotesk"/>
                <a:cs typeface="HK Grotesk"/>
                <a:sym typeface="HK Grotesk"/>
              </a:rPr>
              <a:t>Docentes y profesionales del área. educativa.</a:t>
            </a:r>
          </a:p>
          <a:p>
            <a:pPr algn="l">
              <a:lnSpc>
                <a:spcPts val="4570"/>
              </a:lnSpc>
            </a:pPr>
            <a:r>
              <a:rPr lang="es-MX" sz="3264" dirty="0">
                <a:solidFill>
                  <a:schemeClr val="bg1"/>
                </a:solidFill>
                <a:latin typeface="HK Grotesk"/>
                <a:ea typeface="HK Grotesk"/>
                <a:cs typeface="HK Grotesk"/>
                <a:sym typeface="HK Grotesk"/>
              </a:rPr>
              <a:t>Jóvenes entre 15 y 30 años.</a:t>
            </a:r>
          </a:p>
          <a:p>
            <a:pPr algn="l">
              <a:lnSpc>
                <a:spcPts val="4570"/>
              </a:lnSpc>
            </a:pPr>
            <a:r>
              <a:rPr lang="es-MX" sz="3264" dirty="0">
                <a:solidFill>
                  <a:schemeClr val="bg1"/>
                </a:solidFill>
                <a:latin typeface="HK Grotesk"/>
                <a:ea typeface="HK Grotesk"/>
                <a:cs typeface="HK Grotesk"/>
                <a:sym typeface="HK Grotesk"/>
              </a:rPr>
              <a:t>Personas interesadas en tecnología e innovación.</a:t>
            </a:r>
            <a:endParaRPr lang="en-US" sz="3264" dirty="0">
              <a:solidFill>
                <a:schemeClr val="bg1"/>
              </a:solidFill>
              <a:latin typeface="HK Grotesk"/>
              <a:ea typeface="HK Grotesk"/>
              <a:cs typeface="HK Grotesk"/>
              <a:sym typeface="HK Grotesk"/>
            </a:endParaRPr>
          </a:p>
        </p:txBody>
      </p:sp>
    </p:spTree>
    <p:extLst>
      <p:ext uri="{BB962C8B-B14F-4D97-AF65-F5344CB8AC3E}">
        <p14:creationId xmlns:p14="http://schemas.microsoft.com/office/powerpoint/2010/main" val="3879861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A0979-7C80-8FE9-2D45-FB3416A08A2B}"/>
            </a:ext>
          </a:extLst>
        </p:cNvPr>
        <p:cNvGrpSpPr/>
        <p:nvPr/>
      </p:nvGrpSpPr>
      <p:grpSpPr>
        <a:xfrm>
          <a:off x="0" y="0"/>
          <a:ext cx="0" cy="0"/>
          <a:chOff x="0" y="0"/>
          <a:chExt cx="0" cy="0"/>
        </a:xfrm>
      </p:grpSpPr>
      <p:sp>
        <p:nvSpPr>
          <p:cNvPr id="7" name="Freeform 2">
            <a:extLst>
              <a:ext uri="{FF2B5EF4-FFF2-40B4-BE49-F238E27FC236}">
                <a16:creationId xmlns:a16="http://schemas.microsoft.com/office/drawing/2014/main" id="{7CC77395-4FF2-63C6-07F2-C89BCBE07AC7}"/>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a:stretch>
          </a:blipFill>
        </p:spPr>
        <p:txBody>
          <a:bodyPr/>
          <a:lstStyle/>
          <a:p>
            <a:endParaRPr lang="es-ES"/>
          </a:p>
        </p:txBody>
      </p:sp>
      <p:sp>
        <p:nvSpPr>
          <p:cNvPr id="3" name="TextBox 3">
            <a:extLst>
              <a:ext uri="{FF2B5EF4-FFF2-40B4-BE49-F238E27FC236}">
                <a16:creationId xmlns:a16="http://schemas.microsoft.com/office/drawing/2014/main" id="{8313F7A6-9B1D-F8CC-FE20-EF8E3719314D}"/>
              </a:ext>
            </a:extLst>
          </p:cNvPr>
          <p:cNvSpPr txBox="1"/>
          <p:nvPr/>
        </p:nvSpPr>
        <p:spPr>
          <a:xfrm>
            <a:off x="5243404" y="3390900"/>
            <a:ext cx="7801192" cy="4697248"/>
          </a:xfrm>
          <a:prstGeom prst="rect">
            <a:avLst/>
          </a:prstGeom>
        </p:spPr>
        <p:txBody>
          <a:bodyPr lIns="0" tIns="0" rIns="0" bIns="0" rtlCol="0" anchor="t">
            <a:spAutoFit/>
          </a:bodyPr>
          <a:lstStyle/>
          <a:p>
            <a:pPr algn="l">
              <a:lnSpc>
                <a:spcPts val="4570"/>
              </a:lnSpc>
            </a:pPr>
            <a:r>
              <a:rPr lang="es-MX" sz="3264" dirty="0">
                <a:solidFill>
                  <a:schemeClr val="bg1"/>
                </a:solidFill>
                <a:latin typeface="HK Grotesk"/>
                <a:ea typeface="HK Grotesk"/>
                <a:cs typeface="HK Grotesk"/>
                <a:sym typeface="HK Grotesk"/>
              </a:rPr>
              <a:t>https://forms.office.com/Pages/DesignPageV2.aspx?subpage=design&amp;FormId=oeChOLG26UKzqVl2JmcLF1cdOVEe8R1CqyPbblu-1cFUMkJOUktEVFg1WFZUSzk3WDU0VFBES1E1My4u&amp;Token=68053c7ebc454aa3a371702d6924ac0a</a:t>
            </a:r>
            <a:endParaRPr lang="en-US" sz="3264" dirty="0">
              <a:solidFill>
                <a:schemeClr val="bg1"/>
              </a:solidFill>
              <a:latin typeface="HK Grotesk"/>
              <a:ea typeface="HK Grotesk"/>
              <a:cs typeface="HK Grotesk"/>
              <a:sym typeface="HK Grotesk"/>
            </a:endParaRPr>
          </a:p>
          <a:p>
            <a:pPr algn="l">
              <a:lnSpc>
                <a:spcPts val="4570"/>
              </a:lnSpc>
            </a:pPr>
            <a:endParaRPr lang="en-US" sz="3264" dirty="0">
              <a:solidFill>
                <a:schemeClr val="bg1"/>
              </a:solidFill>
              <a:latin typeface="HK Grotesk"/>
              <a:ea typeface="HK Grotesk"/>
              <a:cs typeface="HK Grotesk"/>
              <a:sym typeface="HK Grotesk"/>
            </a:endParaRPr>
          </a:p>
        </p:txBody>
      </p:sp>
      <p:sp>
        <p:nvSpPr>
          <p:cNvPr id="4" name="TextBox 4">
            <a:extLst>
              <a:ext uri="{FF2B5EF4-FFF2-40B4-BE49-F238E27FC236}">
                <a16:creationId xmlns:a16="http://schemas.microsoft.com/office/drawing/2014/main" id="{CED28387-7D37-FFFE-2F52-C7276BAE602A}"/>
              </a:ext>
            </a:extLst>
          </p:cNvPr>
          <p:cNvSpPr txBox="1"/>
          <p:nvPr/>
        </p:nvSpPr>
        <p:spPr>
          <a:xfrm>
            <a:off x="7425556" y="905863"/>
            <a:ext cx="3436887" cy="1298432"/>
          </a:xfrm>
          <a:prstGeom prst="rect">
            <a:avLst/>
          </a:prstGeom>
        </p:spPr>
        <p:txBody>
          <a:bodyPr wrap="square" lIns="0" tIns="0" rIns="0" bIns="0" rtlCol="0" anchor="t">
            <a:spAutoFit/>
          </a:bodyPr>
          <a:lstStyle/>
          <a:p>
            <a:pPr algn="ctr">
              <a:lnSpc>
                <a:spcPts val="11307"/>
              </a:lnSpc>
            </a:pPr>
            <a:r>
              <a:rPr lang="en-US" sz="6600" b="1" dirty="0">
                <a:solidFill>
                  <a:schemeClr val="bg1"/>
                </a:solidFill>
                <a:latin typeface="Glacial Indifference Bold"/>
                <a:ea typeface="Glacial Indifference Bold"/>
                <a:cs typeface="Glacial Indifference Bold"/>
                <a:sym typeface="Glacial Indifference Bold"/>
              </a:rPr>
              <a:t>Link</a:t>
            </a:r>
          </a:p>
        </p:txBody>
      </p:sp>
    </p:spTree>
    <p:extLst>
      <p:ext uri="{BB962C8B-B14F-4D97-AF65-F5344CB8AC3E}">
        <p14:creationId xmlns:p14="http://schemas.microsoft.com/office/powerpoint/2010/main" val="3317619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txBody>
          <a:bodyPr/>
          <a:lstStyle/>
          <a:p>
            <a:endParaRPr lang="es-ES"/>
          </a:p>
        </p:txBody>
      </p:sp>
      <p:graphicFrame>
        <p:nvGraphicFramePr>
          <p:cNvPr id="4" name="Table 4"/>
          <p:cNvGraphicFramePr>
            <a:graphicFrameLocks noGrp="1"/>
          </p:cNvGraphicFramePr>
          <p:nvPr>
            <p:extLst>
              <p:ext uri="{D42A27DB-BD31-4B8C-83A1-F6EECF244321}">
                <p14:modId xmlns:p14="http://schemas.microsoft.com/office/powerpoint/2010/main" val="3384967594"/>
              </p:ext>
            </p:extLst>
          </p:nvPr>
        </p:nvGraphicFramePr>
        <p:xfrm>
          <a:off x="1028700" y="1028700"/>
          <a:ext cx="7315200" cy="8086725"/>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1023999">
                <a:tc>
                  <a:txBody>
                    <a:bodyPr/>
                    <a:lstStyle/>
                    <a:p>
                      <a:pPr algn="ctr">
                        <a:lnSpc>
                          <a:spcPts val="2380"/>
                        </a:lnSpc>
                        <a:defRPr/>
                      </a:pPr>
                      <a:r>
                        <a:rPr lang="en-US" sz="1700" dirty="0" err="1">
                          <a:solidFill>
                            <a:srgbClr val="000000"/>
                          </a:solidFill>
                          <a:latin typeface="Glacial Indifference"/>
                          <a:ea typeface="Glacial Indifference"/>
                          <a:cs typeface="Glacial Indifference"/>
                          <a:sym typeface="Glacial Indifference"/>
                        </a:rPr>
                        <a:t>Numero</a:t>
                      </a:r>
                      <a:r>
                        <a:rPr lang="en-US" sz="1700" dirty="0">
                          <a:solidFill>
                            <a:srgbClr val="000000"/>
                          </a:solidFill>
                          <a:latin typeface="Glacial Indifference"/>
                          <a:ea typeface="Glacial Indifference"/>
                          <a:cs typeface="Glacial Indifference"/>
                          <a:sym typeface="Glacial Indifference"/>
                        </a:rPr>
                        <a:t> de </a:t>
                      </a:r>
                      <a:r>
                        <a:rPr lang="en-US" sz="1700" dirty="0" err="1">
                          <a:solidFill>
                            <a:srgbClr val="000000"/>
                          </a:solidFill>
                          <a:latin typeface="Glacial Indifference"/>
                          <a:ea typeface="Glacial Indifference"/>
                          <a:cs typeface="Glacial Indifference"/>
                          <a:sym typeface="Glacial Indifference"/>
                        </a:rPr>
                        <a:t>pregunta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dirty="0">
                          <a:solidFill>
                            <a:srgbClr val="000000"/>
                          </a:solidFill>
                          <a:latin typeface="Glacial Indifference"/>
                          <a:sym typeface="Glacial Indifference"/>
                        </a:rPr>
                        <a:t>Tipo de </a:t>
                      </a:r>
                      <a:r>
                        <a:rPr lang="en-US" sz="1700" dirty="0" err="1">
                          <a:solidFill>
                            <a:srgbClr val="000000"/>
                          </a:solidFill>
                          <a:latin typeface="Glacial Indifference"/>
                          <a:sym typeface="Glacial Indifference"/>
                        </a:rPr>
                        <a:t>Pregunta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a:solidFill>
                            <a:srgbClr val="000000"/>
                          </a:solidFill>
                          <a:latin typeface="Glacial Indifference"/>
                          <a:ea typeface="Glacial Indifference"/>
                          <a:cs typeface="Glacial Indifference"/>
                          <a:sym typeface="Glacial Indifference"/>
                        </a:rPr>
                        <a:t>Tipo de variable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extLst>
                  <a:ext uri="{0D108BD9-81ED-4DB2-BD59-A6C34878D82A}">
                    <a16:rowId xmlns:a16="http://schemas.microsoft.com/office/drawing/2014/main" val="10000"/>
                  </a:ext>
                </a:extLst>
              </a:tr>
              <a:tr h="1320672">
                <a:tc>
                  <a:txBody>
                    <a:bodyPr/>
                    <a:lstStyle/>
                    <a:p>
                      <a:pPr algn="l">
                        <a:lnSpc>
                          <a:spcPts val="2380"/>
                        </a:lnSpc>
                        <a:defRPr/>
                      </a:pPr>
                      <a:r>
                        <a:rPr lang="en-US" sz="1700" dirty="0" err="1">
                          <a:solidFill>
                            <a:srgbClr val="FFFFFF"/>
                          </a:solidFill>
                          <a:latin typeface="Glacial Indifference"/>
                          <a:ea typeface="Glacial Indifference"/>
                          <a:cs typeface="Glacial Indifference"/>
                          <a:sym typeface="Glacial Indifference"/>
                        </a:rPr>
                        <a:t>Pregunta</a:t>
                      </a:r>
                      <a:r>
                        <a:rPr lang="en-US" sz="1700" dirty="0">
                          <a:solidFill>
                            <a:srgbClr val="FFFFFF"/>
                          </a:solidFill>
                          <a:latin typeface="Glacial Indifference"/>
                          <a:ea typeface="Glacial Indifference"/>
                          <a:cs typeface="Glacial Indifference"/>
                          <a:sym typeface="Glacial Indifference"/>
                        </a:rPr>
                        <a:t> 1:</a:t>
                      </a:r>
                      <a:endParaRPr lang="en-US" sz="1100" dirty="0"/>
                    </a:p>
                    <a:p>
                      <a:pPr algn="l">
                        <a:lnSpc>
                          <a:spcPts val="2380"/>
                        </a:lnSpc>
                      </a:pPr>
                      <a:r>
                        <a:rPr lang="en-US" sz="1700" dirty="0">
                          <a:solidFill>
                            <a:srgbClr val="FFFFFF"/>
                          </a:solidFill>
                          <a:latin typeface="Glacial Indifference"/>
                          <a:ea typeface="Glacial Indifference"/>
                          <a:cs typeface="Glacial Indifference"/>
                          <a:sym typeface="Glacial Indifference"/>
                        </a:rPr>
                        <a:t>¿</a:t>
                      </a:r>
                      <a:r>
                        <a:rPr lang="en-US" sz="1700" dirty="0" err="1">
                          <a:solidFill>
                            <a:srgbClr val="FFFFFF"/>
                          </a:solidFill>
                          <a:latin typeface="Glacial Indifference"/>
                          <a:ea typeface="Glacial Indifference"/>
                          <a:cs typeface="Glacial Indifference"/>
                          <a:sym typeface="Glacial Indifference"/>
                        </a:rPr>
                        <a:t>Cuántos</a:t>
                      </a:r>
                      <a:r>
                        <a:rPr lang="en-US" sz="1700" dirty="0">
                          <a:solidFill>
                            <a:srgbClr val="FFFFFF"/>
                          </a:solidFill>
                          <a:latin typeface="Glacial Indifference"/>
                          <a:ea typeface="Glacial Indifference"/>
                          <a:cs typeface="Glacial Indifference"/>
                          <a:sym typeface="Glacial Indifference"/>
                        </a:rPr>
                        <a:t> </a:t>
                      </a:r>
                      <a:r>
                        <a:rPr lang="en-US" sz="1700" dirty="0" err="1">
                          <a:solidFill>
                            <a:srgbClr val="FFFFFF"/>
                          </a:solidFill>
                          <a:latin typeface="Glacial Indifference"/>
                          <a:ea typeface="Glacial Indifference"/>
                          <a:cs typeface="Glacial Indifference"/>
                          <a:sym typeface="Glacial Indifference"/>
                        </a:rPr>
                        <a:t>años</a:t>
                      </a:r>
                      <a:r>
                        <a:rPr lang="en-US" sz="1700" dirty="0">
                          <a:solidFill>
                            <a:srgbClr val="FFFFFF"/>
                          </a:solidFill>
                          <a:latin typeface="Glacial Indifference"/>
                          <a:ea typeface="Glacial Indifference"/>
                          <a:cs typeface="Glacial Indifference"/>
                          <a:sym typeface="Glacial Indifference"/>
                        </a:rPr>
                        <a:t> </a:t>
                      </a:r>
                      <a:r>
                        <a:rPr lang="en-US" sz="1700" dirty="0" err="1">
                          <a:solidFill>
                            <a:srgbClr val="FFFFFF"/>
                          </a:solidFill>
                          <a:latin typeface="Glacial Indifference"/>
                          <a:ea typeface="Glacial Indifference"/>
                          <a:cs typeface="Glacial Indifference"/>
                          <a:sym typeface="Glacial Indifference"/>
                        </a:rPr>
                        <a:t>tienes</a:t>
                      </a:r>
                      <a:r>
                        <a:rPr lang="en-US" sz="1700" dirty="0">
                          <a:solidFill>
                            <a:srgbClr val="FFFFFF"/>
                          </a:solidFill>
                          <a:latin typeface="Glacial Indifference"/>
                          <a:ea typeface="Glacial Indifference"/>
                          <a:cs typeface="Glacial Indifference"/>
                          <a:sym typeface="Glacial Indifference"/>
                        </a:rPr>
                        <a: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Glacial Indifference"/>
                          <a:sym typeface="Glacial Indifference"/>
                        </a:rPr>
                        <a:t>Alternativa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a:solidFill>
                            <a:srgbClr val="FFFFFF"/>
                          </a:solidFill>
                          <a:latin typeface="Open Sans"/>
                          <a:ea typeface="Open Sans"/>
                          <a:cs typeface="Open Sans"/>
                          <a:sym typeface="Open Sans"/>
                        </a:rPr>
                        <a:t>Cuantitativa continua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2210691">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Pregunta 2:</a:t>
                      </a:r>
                      <a:endParaRPr lang="en-US" sz="1100"/>
                    </a:p>
                    <a:p>
                      <a:pPr algn="ctr">
                        <a:lnSpc>
                          <a:spcPts val="2380"/>
                        </a:lnSpc>
                      </a:pPr>
                      <a:r>
                        <a:rPr lang="en-US" sz="1700">
                          <a:solidFill>
                            <a:srgbClr val="FFFFFF"/>
                          </a:solidFill>
                          <a:latin typeface="Glacial Indifference"/>
                          <a:ea typeface="Glacial Indifference"/>
                          <a:cs typeface="Glacial Indifference"/>
                          <a:sym typeface="Glacial Indifference"/>
                        </a:rPr>
                        <a:t>¿Qué sector ha sido más impactado por la inteligencia artificial en los últimos años?</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Glacial Indifference"/>
                          <a:sym typeface="Glacial Indifference"/>
                        </a:rPr>
                        <a:t>Seleccion</a:t>
                      </a:r>
                      <a:r>
                        <a:rPr lang="en-US" sz="1700" dirty="0">
                          <a:solidFill>
                            <a:srgbClr val="FFFFFF"/>
                          </a:solidFill>
                          <a:latin typeface="Glacial Indifference"/>
                          <a:sym typeface="Glacial Indifference"/>
                        </a:rPr>
                        <a:t> Multiple</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Glacial Indifference"/>
                          <a:ea typeface="Glacial Indifference"/>
                          <a:cs typeface="Glacial Indifference"/>
                          <a:sym typeface="Glacial Indifference"/>
                        </a:rPr>
                        <a:t>cualitativa</a:t>
                      </a:r>
                      <a:r>
                        <a:rPr lang="en-US" sz="1700" dirty="0">
                          <a:solidFill>
                            <a:srgbClr val="FFFFFF"/>
                          </a:solidFill>
                          <a:latin typeface="Glacial Indifference"/>
                          <a:ea typeface="Glacial Indifference"/>
                          <a:cs typeface="Glacial Indifference"/>
                          <a:sym typeface="Glacial Indifference"/>
                        </a:rPr>
                        <a:t> nominal</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914018">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Pregunta 3: ¿Cuál piensas que es una preocupación sobre el uso de inteligencia artificial?</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Glacial Indifference"/>
                          <a:sym typeface="Glacial Indifference"/>
                        </a:rPr>
                        <a:t>Seleccion</a:t>
                      </a:r>
                      <a:r>
                        <a:rPr lang="en-US" sz="1700" dirty="0">
                          <a:solidFill>
                            <a:srgbClr val="FFFFFF"/>
                          </a:solidFill>
                          <a:latin typeface="Glacial Indifference"/>
                          <a:sym typeface="Glacial Indifference"/>
                        </a:rPr>
                        <a:t> Multiple</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Glacial Indifference"/>
                          <a:ea typeface="Glacial Indifference"/>
                          <a:cs typeface="Glacial Indifference"/>
                          <a:sym typeface="Glacial Indifference"/>
                        </a:rPr>
                        <a:t>Cualitativa</a:t>
                      </a:r>
                      <a:r>
                        <a:rPr lang="en-US" sz="1700" dirty="0">
                          <a:solidFill>
                            <a:srgbClr val="FFFFFF"/>
                          </a:solidFill>
                          <a:latin typeface="Glacial Indifference"/>
                          <a:ea typeface="Glacial Indifference"/>
                          <a:cs typeface="Glacial Indifference"/>
                          <a:sym typeface="Glacial Indifference"/>
                        </a:rPr>
                        <a:t> </a:t>
                      </a:r>
                      <a:r>
                        <a:rPr lang="en-US" sz="1700" dirty="0" err="1">
                          <a:solidFill>
                            <a:srgbClr val="FFFFFF"/>
                          </a:solidFill>
                          <a:latin typeface="Glacial Indifference"/>
                          <a:ea typeface="Glacial Indifference"/>
                          <a:cs typeface="Glacial Indifference"/>
                          <a:sym typeface="Glacial Indifference"/>
                        </a:rPr>
                        <a:t>nomial</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1617345">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Pregunta 4: ¿Cuánto impacto tiene la inteligencia artificial en ti vida?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Glacial Indifference"/>
                          <a:ea typeface="Glacial Indifference"/>
                          <a:cs typeface="Glacial Indifference"/>
                          <a:sym typeface="Glacial Indifference"/>
                        </a:rPr>
                        <a:t>Escala Likert</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dirty="0" err="1">
                          <a:solidFill>
                            <a:srgbClr val="FFFFFF"/>
                          </a:solidFill>
                          <a:latin typeface="Open Sans"/>
                          <a:ea typeface="Open Sans"/>
                          <a:cs typeface="Open Sans"/>
                          <a:sym typeface="Open Sans"/>
                        </a:rPr>
                        <a:t>Cualitativa</a:t>
                      </a:r>
                      <a:r>
                        <a:rPr lang="en-US" sz="1700" dirty="0">
                          <a:solidFill>
                            <a:srgbClr val="FFFFFF"/>
                          </a:solidFill>
                          <a:latin typeface="Open Sans"/>
                          <a:ea typeface="Open Sans"/>
                          <a:cs typeface="Open Sans"/>
                          <a:sym typeface="Open Sans"/>
                        </a:rPr>
                        <a:t> ordinal</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5" name="Table 5"/>
          <p:cNvGraphicFramePr>
            <a:graphicFrameLocks noGrp="1"/>
          </p:cNvGraphicFramePr>
          <p:nvPr>
            <p:extLst>
              <p:ext uri="{D42A27DB-BD31-4B8C-83A1-F6EECF244321}">
                <p14:modId xmlns:p14="http://schemas.microsoft.com/office/powerpoint/2010/main" val="3715493911"/>
              </p:ext>
            </p:extLst>
          </p:nvPr>
        </p:nvGraphicFramePr>
        <p:xfrm>
          <a:off x="9144000" y="1028700"/>
          <a:ext cx="7315200" cy="7496175"/>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1024382">
                <a:tc>
                  <a:txBody>
                    <a:bodyPr/>
                    <a:lstStyle/>
                    <a:p>
                      <a:pPr algn="ctr">
                        <a:lnSpc>
                          <a:spcPts val="2380"/>
                        </a:lnSpc>
                        <a:defRPr/>
                      </a:pPr>
                      <a:r>
                        <a:rPr lang="en-US" sz="1700" dirty="0" err="1">
                          <a:solidFill>
                            <a:srgbClr val="000000"/>
                          </a:solidFill>
                          <a:latin typeface="Glacial Indifference"/>
                          <a:ea typeface="Glacial Indifference"/>
                          <a:cs typeface="Glacial Indifference"/>
                          <a:sym typeface="Glacial Indifference"/>
                        </a:rPr>
                        <a:t>Numero</a:t>
                      </a:r>
                      <a:r>
                        <a:rPr lang="en-US" sz="1700" dirty="0">
                          <a:solidFill>
                            <a:srgbClr val="000000"/>
                          </a:solidFill>
                          <a:latin typeface="Glacial Indifference"/>
                          <a:ea typeface="Glacial Indifference"/>
                          <a:cs typeface="Glacial Indifference"/>
                          <a:sym typeface="Glacial Indifference"/>
                        </a:rPr>
                        <a:t> de </a:t>
                      </a:r>
                      <a:r>
                        <a:rPr lang="en-US" sz="1700" dirty="0" err="1">
                          <a:solidFill>
                            <a:srgbClr val="000000"/>
                          </a:solidFill>
                          <a:latin typeface="Glacial Indifference"/>
                          <a:ea typeface="Glacial Indifference"/>
                          <a:cs typeface="Glacial Indifference"/>
                          <a:sym typeface="Glacial Indifference"/>
                        </a:rPr>
                        <a:t>pregunta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dirty="0">
                          <a:solidFill>
                            <a:srgbClr val="000000"/>
                          </a:solidFill>
                          <a:latin typeface="Glacial Indifference"/>
                          <a:sym typeface="Glacial Indifference"/>
                        </a:rPr>
                        <a:t>Tipo de </a:t>
                      </a:r>
                      <a:r>
                        <a:rPr lang="en-US" sz="1700" dirty="0" err="1">
                          <a:solidFill>
                            <a:srgbClr val="000000"/>
                          </a:solidFill>
                          <a:latin typeface="Glacial Indifference"/>
                          <a:sym typeface="Glacial Indifference"/>
                        </a:rPr>
                        <a:t>Pregunta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a:solidFill>
                            <a:srgbClr val="000000"/>
                          </a:solidFill>
                          <a:latin typeface="Glacial Indifference"/>
                          <a:ea typeface="Glacial Indifference"/>
                          <a:cs typeface="Glacial Indifference"/>
                          <a:sym typeface="Glacial Indifference"/>
                        </a:rPr>
                        <a:t>Tipo de variable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extLst>
                  <a:ext uri="{0D108BD9-81ED-4DB2-BD59-A6C34878D82A}">
                    <a16:rowId xmlns:a16="http://schemas.microsoft.com/office/drawing/2014/main" val="10000"/>
                  </a:ext>
                </a:extLst>
              </a:tr>
              <a:tr h="1617948">
                <a:tc>
                  <a:txBody>
                    <a:bodyPr/>
                    <a:lstStyle/>
                    <a:p>
                      <a:pPr algn="l">
                        <a:lnSpc>
                          <a:spcPts val="2380"/>
                        </a:lnSpc>
                        <a:defRPr/>
                      </a:pPr>
                      <a:r>
                        <a:rPr lang="en-US" sz="1700">
                          <a:solidFill>
                            <a:srgbClr val="FFFFFF"/>
                          </a:solidFill>
                          <a:latin typeface="Glacial Indifference"/>
                          <a:ea typeface="Glacial Indifference"/>
                          <a:cs typeface="Glacial Indifference"/>
                          <a:sym typeface="Glacial Indifference"/>
                        </a:rPr>
                        <a:t>Pregunta 5: ¿Utiliza inteligencia artificial en su trabajo o estudios?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Glacial Indifference"/>
                          <a:sym typeface="Glacial Indifference"/>
                        </a:rPr>
                        <a:t>Alternativa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a:solidFill>
                            <a:srgbClr val="FFFFFF"/>
                          </a:solidFill>
                          <a:latin typeface="Open Sans"/>
                          <a:ea typeface="Open Sans"/>
                          <a:cs typeface="Open Sans"/>
                          <a:sym typeface="Open Sans"/>
                        </a:rPr>
                        <a:t>Cualitativa dicotómica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914732">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Pregunta 6: Encuesta sobre la Integración de la Inteligencia Artificial en la Vida Moderna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2000" dirty="0">
                          <a:solidFill>
                            <a:schemeClr val="bg1"/>
                          </a:solidFill>
                        </a:rPr>
                        <a:t>Escala Likert</a:t>
                      </a:r>
                    </a:p>
                    <a:p>
                      <a:pPr algn="ctr">
                        <a:lnSpc>
                          <a:spcPts val="2380"/>
                        </a:lnSpc>
                        <a:defRPr/>
                      </a:pP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cualitativa nominal</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321165">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Pregunta 7: ¿Cómo utilizas la IA en tu trabajo o estudios?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Glacial Indifference"/>
                          <a:sym typeface="Glacial Indifference"/>
                        </a:rPr>
                        <a:t>Seleccion</a:t>
                      </a:r>
                      <a:r>
                        <a:rPr lang="en-US" sz="1700" dirty="0">
                          <a:solidFill>
                            <a:srgbClr val="FFFFFF"/>
                          </a:solidFill>
                          <a:latin typeface="Glacial Indifference"/>
                          <a:sym typeface="Glacial Indifference"/>
                        </a:rPr>
                        <a:t> Multiple</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Cualitativa nominal</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1617948">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Pregunta 8: ¿Cuántas horas a la semana utilizas IA en tu trabajo o estudios?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800" dirty="0">
                          <a:solidFill>
                            <a:schemeClr val="bg1"/>
                          </a:solidFill>
                        </a:rPr>
                        <a:t>Escala Likert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dirty="0" err="1">
                          <a:solidFill>
                            <a:srgbClr val="FFFFFF"/>
                          </a:solidFill>
                          <a:latin typeface="Open Sans"/>
                          <a:ea typeface="Open Sans"/>
                          <a:cs typeface="Open Sans"/>
                          <a:sym typeface="Open Sans"/>
                        </a:rPr>
                        <a:t>Cuantitativa</a:t>
                      </a:r>
                      <a:r>
                        <a:rPr lang="en-US" sz="1700" dirty="0">
                          <a:solidFill>
                            <a:srgbClr val="FFFFFF"/>
                          </a:solidFill>
                          <a:latin typeface="Open Sans"/>
                          <a:ea typeface="Open Sans"/>
                          <a:cs typeface="Open Sans"/>
                          <a:sym typeface="Open Sans"/>
                        </a:rPr>
                        <a:t> </a:t>
                      </a:r>
                      <a:r>
                        <a:rPr lang="en-US" sz="1700" dirty="0" err="1">
                          <a:solidFill>
                            <a:srgbClr val="FFFFFF"/>
                          </a:solidFill>
                          <a:latin typeface="Open Sans"/>
                          <a:ea typeface="Open Sans"/>
                          <a:cs typeface="Open Sans"/>
                          <a:sym typeface="Open Sans"/>
                        </a:rPr>
                        <a:t>discreta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txBody>
          <a:bodyPr/>
          <a:lstStyle/>
          <a:p>
            <a:endParaRPr lang="es-ES"/>
          </a:p>
        </p:txBody>
      </p:sp>
      <p:graphicFrame>
        <p:nvGraphicFramePr>
          <p:cNvPr id="4" name="Table 4"/>
          <p:cNvGraphicFramePr>
            <a:graphicFrameLocks noGrp="1"/>
          </p:cNvGraphicFramePr>
          <p:nvPr>
            <p:extLst>
              <p:ext uri="{D42A27DB-BD31-4B8C-83A1-F6EECF244321}">
                <p14:modId xmlns:p14="http://schemas.microsoft.com/office/powerpoint/2010/main" val="2863655799"/>
              </p:ext>
            </p:extLst>
          </p:nvPr>
        </p:nvGraphicFramePr>
        <p:xfrm>
          <a:off x="304800" y="257175"/>
          <a:ext cx="7315200" cy="9563100"/>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1023252">
                <a:tc>
                  <a:txBody>
                    <a:bodyPr/>
                    <a:lstStyle/>
                    <a:p>
                      <a:pPr algn="ctr">
                        <a:lnSpc>
                          <a:spcPts val="2380"/>
                        </a:lnSpc>
                        <a:defRPr/>
                      </a:pPr>
                      <a:r>
                        <a:rPr lang="en-US" sz="1700" dirty="0" err="1">
                          <a:solidFill>
                            <a:srgbClr val="000000"/>
                          </a:solidFill>
                          <a:latin typeface="Glacial Indifference"/>
                          <a:ea typeface="Glacial Indifference"/>
                          <a:cs typeface="Glacial Indifference"/>
                          <a:sym typeface="Glacial Indifference"/>
                        </a:rPr>
                        <a:t>Numero</a:t>
                      </a:r>
                      <a:r>
                        <a:rPr lang="en-US" sz="1700" dirty="0">
                          <a:solidFill>
                            <a:srgbClr val="000000"/>
                          </a:solidFill>
                          <a:latin typeface="Glacial Indifference"/>
                          <a:ea typeface="Glacial Indifference"/>
                          <a:cs typeface="Glacial Indifference"/>
                          <a:sym typeface="Glacial Indifference"/>
                        </a:rPr>
                        <a:t> de </a:t>
                      </a:r>
                      <a:r>
                        <a:rPr lang="en-US" sz="1700" dirty="0" err="1">
                          <a:solidFill>
                            <a:srgbClr val="000000"/>
                          </a:solidFill>
                          <a:latin typeface="Glacial Indifference"/>
                          <a:ea typeface="Glacial Indifference"/>
                          <a:cs typeface="Glacial Indifference"/>
                          <a:sym typeface="Glacial Indifference"/>
                        </a:rPr>
                        <a:t>pregunta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dirty="0">
                          <a:solidFill>
                            <a:srgbClr val="000000"/>
                          </a:solidFill>
                          <a:latin typeface="Glacial Indifference"/>
                          <a:sym typeface="Glacial Indifference"/>
                        </a:rPr>
                        <a:t>Tipo de </a:t>
                      </a:r>
                      <a:r>
                        <a:rPr lang="en-US" sz="1700" dirty="0" err="1">
                          <a:solidFill>
                            <a:srgbClr val="000000"/>
                          </a:solidFill>
                          <a:latin typeface="Glacial Indifference"/>
                          <a:sym typeface="Glacial Indifference"/>
                        </a:rPr>
                        <a:t>Pregunta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dirty="0">
                          <a:solidFill>
                            <a:srgbClr val="000000"/>
                          </a:solidFill>
                          <a:latin typeface="Glacial Indifference"/>
                          <a:ea typeface="Glacial Indifference"/>
                          <a:cs typeface="Glacial Indifference"/>
                          <a:sym typeface="Glacial Indifference"/>
                        </a:rPr>
                        <a:t>Tipo de variable</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extLst>
                  <a:ext uri="{0D108BD9-81ED-4DB2-BD59-A6C34878D82A}">
                    <a16:rowId xmlns:a16="http://schemas.microsoft.com/office/drawing/2014/main" val="10000"/>
                  </a:ext>
                </a:extLst>
              </a:tr>
              <a:tr h="2209076">
                <a:tc>
                  <a:txBody>
                    <a:bodyPr/>
                    <a:lstStyle/>
                    <a:p>
                      <a:pPr algn="l">
                        <a:lnSpc>
                          <a:spcPts val="2380"/>
                        </a:lnSpc>
                        <a:defRPr/>
                      </a:pPr>
                      <a:r>
                        <a:rPr lang="en-US" sz="1700" dirty="0" err="1">
                          <a:solidFill>
                            <a:srgbClr val="FFFFFF"/>
                          </a:solidFill>
                          <a:latin typeface="Glacial Indifference"/>
                          <a:ea typeface="Glacial Indifference"/>
                          <a:cs typeface="Glacial Indifference"/>
                          <a:sym typeface="Glacial Indifference"/>
                        </a:rPr>
                        <a:t>Pregunta</a:t>
                      </a:r>
                      <a:r>
                        <a:rPr lang="en-US" sz="1700" dirty="0">
                          <a:solidFill>
                            <a:srgbClr val="FFFFFF"/>
                          </a:solidFill>
                          <a:latin typeface="Glacial Indifference"/>
                          <a:ea typeface="Glacial Indifference"/>
                          <a:cs typeface="Glacial Indifference"/>
                          <a:sym typeface="Glacial Indifference"/>
                        </a:rPr>
                        <a:t> 9:</a:t>
                      </a:r>
                      <a:endParaRPr lang="en-US" sz="1100" dirty="0"/>
                    </a:p>
                    <a:p>
                      <a:pPr algn="l">
                        <a:lnSpc>
                          <a:spcPts val="2380"/>
                        </a:lnSpc>
                      </a:pPr>
                      <a:r>
                        <a:rPr lang="en-US" sz="1700" dirty="0">
                          <a:solidFill>
                            <a:srgbClr val="FFFFFF"/>
                          </a:solidFill>
                          <a:latin typeface="Glacial Indifference"/>
                          <a:ea typeface="Glacial Indifference"/>
                          <a:cs typeface="Glacial Indifference"/>
                          <a:sym typeface="Glacial Indifference"/>
                        </a:rPr>
                        <a:t>¿</a:t>
                      </a:r>
                      <a:r>
                        <a:rPr lang="en-US" sz="1700" dirty="0" err="1">
                          <a:solidFill>
                            <a:srgbClr val="FFFFFF"/>
                          </a:solidFill>
                          <a:latin typeface="Glacial Indifference"/>
                          <a:ea typeface="Glacial Indifference"/>
                          <a:cs typeface="Glacial Indifference"/>
                          <a:sym typeface="Glacial Indifference"/>
                        </a:rPr>
                        <a:t>Cuánto</a:t>
                      </a:r>
                      <a:r>
                        <a:rPr lang="en-US" sz="1700" dirty="0">
                          <a:solidFill>
                            <a:srgbClr val="FFFFFF"/>
                          </a:solidFill>
                          <a:latin typeface="Glacial Indifference"/>
                          <a:ea typeface="Glacial Indifference"/>
                          <a:cs typeface="Glacial Indifference"/>
                          <a:sym typeface="Glacial Indifference"/>
                        </a:rPr>
                        <a:t> </a:t>
                      </a:r>
                      <a:r>
                        <a:rPr lang="en-US" sz="1700" dirty="0" err="1">
                          <a:solidFill>
                            <a:srgbClr val="FFFFFF"/>
                          </a:solidFill>
                          <a:latin typeface="Glacial Indifference"/>
                          <a:ea typeface="Glacial Indifference"/>
                          <a:cs typeface="Glacial Indifference"/>
                          <a:sym typeface="Glacial Indifference"/>
                        </a:rPr>
                        <a:t>confías</a:t>
                      </a:r>
                      <a:r>
                        <a:rPr lang="en-US" sz="1700" dirty="0">
                          <a:solidFill>
                            <a:srgbClr val="FFFFFF"/>
                          </a:solidFill>
                          <a:latin typeface="Glacial Indifference"/>
                          <a:ea typeface="Glacial Indifference"/>
                          <a:cs typeface="Glacial Indifference"/>
                          <a:sym typeface="Glacial Indifference"/>
                        </a:rPr>
                        <a:t> </a:t>
                      </a:r>
                      <a:r>
                        <a:rPr lang="en-US" sz="1700" dirty="0" err="1">
                          <a:solidFill>
                            <a:srgbClr val="FFFFFF"/>
                          </a:solidFill>
                          <a:latin typeface="Glacial Indifference"/>
                          <a:ea typeface="Glacial Indifference"/>
                          <a:cs typeface="Glacial Indifference"/>
                          <a:sym typeface="Glacial Indifference"/>
                        </a:rPr>
                        <a:t>en</a:t>
                      </a:r>
                      <a:r>
                        <a:rPr lang="en-US" sz="1700" dirty="0">
                          <a:solidFill>
                            <a:srgbClr val="FFFFFF"/>
                          </a:solidFill>
                          <a:latin typeface="Glacial Indifference"/>
                          <a:ea typeface="Glacial Indifference"/>
                          <a:cs typeface="Glacial Indifference"/>
                          <a:sym typeface="Glacial Indifference"/>
                        </a:rPr>
                        <a:t> la </a:t>
                      </a:r>
                      <a:r>
                        <a:rPr lang="en-US" sz="1700" dirty="0" err="1">
                          <a:solidFill>
                            <a:srgbClr val="FFFFFF"/>
                          </a:solidFill>
                          <a:latin typeface="Glacial Indifference"/>
                          <a:ea typeface="Glacial Indifference"/>
                          <a:cs typeface="Glacial Indifference"/>
                          <a:sym typeface="Glacial Indifference"/>
                        </a:rPr>
                        <a:t>información</a:t>
                      </a:r>
                      <a:r>
                        <a:rPr lang="en-US" sz="1700" dirty="0">
                          <a:solidFill>
                            <a:srgbClr val="FFFFFF"/>
                          </a:solidFill>
                          <a:latin typeface="Glacial Indifference"/>
                          <a:ea typeface="Glacial Indifference"/>
                          <a:cs typeface="Glacial Indifference"/>
                          <a:sym typeface="Glacial Indifference"/>
                        </a:rPr>
                        <a:t> </a:t>
                      </a:r>
                      <a:r>
                        <a:rPr lang="en-US" sz="1700" dirty="0" err="1">
                          <a:solidFill>
                            <a:srgbClr val="FFFFFF"/>
                          </a:solidFill>
                          <a:latin typeface="Glacial Indifference"/>
                          <a:ea typeface="Glacial Indifference"/>
                          <a:cs typeface="Glacial Indifference"/>
                          <a:sym typeface="Glacial Indifference"/>
                        </a:rPr>
                        <a:t>proporcionada</a:t>
                      </a:r>
                      <a:r>
                        <a:rPr lang="en-US" sz="1700" dirty="0">
                          <a:solidFill>
                            <a:srgbClr val="FFFFFF"/>
                          </a:solidFill>
                          <a:latin typeface="Glacial Indifference"/>
                          <a:ea typeface="Glacial Indifference"/>
                          <a:cs typeface="Glacial Indifference"/>
                          <a:sym typeface="Glacial Indifference"/>
                        </a:rPr>
                        <a:t> </a:t>
                      </a:r>
                      <a:r>
                        <a:rPr lang="en-US" sz="1700" dirty="0" err="1">
                          <a:solidFill>
                            <a:srgbClr val="FFFFFF"/>
                          </a:solidFill>
                          <a:latin typeface="Glacial Indifference"/>
                          <a:ea typeface="Glacial Indifference"/>
                          <a:cs typeface="Glacial Indifference"/>
                          <a:sym typeface="Glacial Indifference"/>
                        </a:rPr>
                        <a:t>por</a:t>
                      </a:r>
                      <a:r>
                        <a:rPr lang="en-US" sz="1700" dirty="0">
                          <a:solidFill>
                            <a:srgbClr val="FFFFFF"/>
                          </a:solidFill>
                          <a:latin typeface="Glacial Indifference"/>
                          <a:ea typeface="Glacial Indifference"/>
                          <a:cs typeface="Glacial Indifference"/>
                          <a:sym typeface="Glacial Indifference"/>
                        </a:rPr>
                        <a:t> IA </a:t>
                      </a:r>
                      <a:r>
                        <a:rPr lang="en-US" sz="1700" dirty="0" err="1">
                          <a:solidFill>
                            <a:srgbClr val="FFFFFF"/>
                          </a:solidFill>
                          <a:latin typeface="Glacial Indifference"/>
                          <a:ea typeface="Glacial Indifference"/>
                          <a:cs typeface="Glacial Indifference"/>
                          <a:sym typeface="Glacial Indifference"/>
                        </a:rPr>
                        <a:t>en</a:t>
                      </a:r>
                      <a:r>
                        <a:rPr lang="en-US" sz="1700" dirty="0">
                          <a:solidFill>
                            <a:srgbClr val="FFFFFF"/>
                          </a:solidFill>
                          <a:latin typeface="Glacial Indifference"/>
                          <a:ea typeface="Glacial Indifference"/>
                          <a:cs typeface="Glacial Indifference"/>
                          <a:sym typeface="Glacial Indifference"/>
                        </a:rPr>
                        <a:t> </a:t>
                      </a:r>
                      <a:r>
                        <a:rPr lang="en-US" sz="1700" dirty="0" err="1">
                          <a:solidFill>
                            <a:srgbClr val="FFFFFF"/>
                          </a:solidFill>
                          <a:latin typeface="Glacial Indifference"/>
                          <a:ea typeface="Glacial Indifference"/>
                          <a:cs typeface="Glacial Indifference"/>
                          <a:sym typeface="Glacial Indifference"/>
                        </a:rPr>
                        <a:t>tu</a:t>
                      </a:r>
                      <a:r>
                        <a:rPr lang="en-US" sz="1700" dirty="0">
                          <a:solidFill>
                            <a:srgbClr val="FFFFFF"/>
                          </a:solidFill>
                          <a:latin typeface="Glacial Indifference"/>
                          <a:ea typeface="Glacial Indifference"/>
                          <a:cs typeface="Glacial Indifference"/>
                          <a:sym typeface="Glacial Indifference"/>
                        </a:rPr>
                        <a:t> </a:t>
                      </a:r>
                      <a:r>
                        <a:rPr lang="en-US" sz="1700" dirty="0" err="1">
                          <a:solidFill>
                            <a:srgbClr val="FFFFFF"/>
                          </a:solidFill>
                          <a:latin typeface="Glacial Indifference"/>
                          <a:ea typeface="Glacial Indifference"/>
                          <a:cs typeface="Glacial Indifference"/>
                          <a:sym typeface="Glacial Indifference"/>
                        </a:rPr>
                        <a:t>trabajo</a:t>
                      </a:r>
                      <a:r>
                        <a:rPr lang="en-US" sz="1700" dirty="0">
                          <a:solidFill>
                            <a:srgbClr val="FFFFFF"/>
                          </a:solidFill>
                          <a:latin typeface="Glacial Indifference"/>
                          <a:ea typeface="Glacial Indifference"/>
                          <a:cs typeface="Glacial Indifference"/>
                          <a:sym typeface="Glacial Indifference"/>
                        </a:rPr>
                        <a:t>/</a:t>
                      </a:r>
                      <a:r>
                        <a:rPr lang="en-US" sz="1700" dirty="0" err="1">
                          <a:solidFill>
                            <a:srgbClr val="FFFFFF"/>
                          </a:solidFill>
                          <a:latin typeface="Glacial Indifference"/>
                          <a:ea typeface="Glacial Indifference"/>
                          <a:cs typeface="Glacial Indifference"/>
                          <a:sym typeface="Glacial Indifference"/>
                        </a:rPr>
                        <a:t>estudios</a:t>
                      </a:r>
                      <a:r>
                        <a:rPr lang="en-US" sz="1700" dirty="0">
                          <a:solidFill>
                            <a:srgbClr val="FFFFFF"/>
                          </a:solidFill>
                          <a:latin typeface="Glacial Indifference"/>
                          <a:ea typeface="Glacial Indifference"/>
                          <a:cs typeface="Glacial Indifference"/>
                          <a:sym typeface="Glacial Indifference"/>
                        </a:rPr>
                        <a: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Glacial Indifference"/>
                          <a:ea typeface="Glacial Indifference"/>
                          <a:cs typeface="Glacial Indifference"/>
                          <a:sym typeface="Glacial Indifference"/>
                        </a:rPr>
                        <a:t>Escala Likert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a:solidFill>
                            <a:srgbClr val="FFFFFF"/>
                          </a:solidFill>
                          <a:latin typeface="Open Sans"/>
                          <a:ea typeface="Open Sans"/>
                          <a:cs typeface="Open Sans"/>
                          <a:sym typeface="Open Sans"/>
                        </a:rPr>
                        <a:t>Cualitativa ordinal</a:t>
                      </a:r>
                      <a:endParaRPr lang="en-US" sz="1100"/>
                    </a:p>
                    <a:p>
                      <a:pPr algn="l">
                        <a:lnSpc>
                          <a:spcPts val="2380"/>
                        </a:lnSpc>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2209076">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Pregunta 10: ¿Has pagado o considerarías pagar por herramientas de IA para mejorar tu trabajo o estudios?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Glacial Indifference"/>
                          <a:ea typeface="Glacial Indifference"/>
                          <a:cs typeface="Glacial Indifference"/>
                          <a:sym typeface="Glacial Indifference"/>
                        </a:rPr>
                        <a:t>Alternativa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Cualitativa nominal dicotómica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912620">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Pregunta 11: ¿Para qué tipo de tareas utilizas herramientas de inteligencia artificial?</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err="1">
                          <a:solidFill>
                            <a:srgbClr val="FFFFFF"/>
                          </a:solidFill>
                          <a:latin typeface="Glacial Indifference"/>
                          <a:sym typeface="Glacial Indifference"/>
                        </a:rPr>
                        <a:t>Seleccion</a:t>
                      </a:r>
                      <a:r>
                        <a:rPr lang="en-US" sz="1700" dirty="0">
                          <a:solidFill>
                            <a:srgbClr val="FFFFFF"/>
                          </a:solidFill>
                          <a:latin typeface="Glacial Indifference"/>
                          <a:sym typeface="Glacial Indifference"/>
                        </a:rPr>
                        <a:t> Multiple</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Cualitativa nominal de respuesta múltiple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2209076">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Pregunta 12: ¿Qué herramienta de inteligencia artificial utilizas con mayor frecuencia?</a:t>
                      </a:r>
                      <a:endParaRPr lang="en-US" sz="1100"/>
                    </a:p>
                    <a:p>
                      <a:pPr algn="ctr">
                        <a:lnSpc>
                          <a:spcPts val="2380"/>
                        </a:lnSpc>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Glacial Indifference"/>
                          <a:ea typeface="Glacial Indifference"/>
                          <a:cs typeface="Glacial Indifference"/>
                          <a:sym typeface="Glacial Indifference"/>
                        </a:rPr>
                        <a:t>Alternativa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dirty="0" err="1">
                          <a:solidFill>
                            <a:srgbClr val="FFFFFF"/>
                          </a:solidFill>
                          <a:latin typeface="Open Sans"/>
                          <a:ea typeface="Open Sans"/>
                          <a:cs typeface="Open Sans"/>
                          <a:sym typeface="Open Sans"/>
                        </a:rPr>
                        <a:t>Cualitativa</a:t>
                      </a:r>
                      <a:r>
                        <a:rPr lang="en-US" sz="1700" dirty="0">
                          <a:solidFill>
                            <a:srgbClr val="FFFFFF"/>
                          </a:solidFill>
                          <a:latin typeface="Open Sans"/>
                          <a:ea typeface="Open Sans"/>
                          <a:cs typeface="Open Sans"/>
                          <a:sym typeface="Open Sans"/>
                        </a:rPr>
                        <a:t> nominal</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5" name="Table 5"/>
          <p:cNvGraphicFramePr>
            <a:graphicFrameLocks noGrp="1"/>
          </p:cNvGraphicFramePr>
          <p:nvPr>
            <p:extLst>
              <p:ext uri="{D42A27DB-BD31-4B8C-83A1-F6EECF244321}">
                <p14:modId xmlns:p14="http://schemas.microsoft.com/office/powerpoint/2010/main" val="3080709370"/>
              </p:ext>
            </p:extLst>
          </p:nvPr>
        </p:nvGraphicFramePr>
        <p:xfrm>
          <a:off x="9570497" y="257175"/>
          <a:ext cx="7315200" cy="9563100"/>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1023252">
                <a:tc>
                  <a:txBody>
                    <a:bodyPr/>
                    <a:lstStyle/>
                    <a:p>
                      <a:pPr algn="ctr">
                        <a:lnSpc>
                          <a:spcPts val="2380"/>
                        </a:lnSpc>
                        <a:defRPr/>
                      </a:pPr>
                      <a:r>
                        <a:rPr lang="en-US" sz="1700">
                          <a:solidFill>
                            <a:srgbClr val="000000"/>
                          </a:solidFill>
                          <a:latin typeface="Glacial Indifference"/>
                          <a:ea typeface="Glacial Indifference"/>
                          <a:cs typeface="Glacial Indifference"/>
                          <a:sym typeface="Glacial Indifference"/>
                        </a:rPr>
                        <a:t>Numero de pregunta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dirty="0">
                          <a:solidFill>
                            <a:srgbClr val="000000"/>
                          </a:solidFill>
                          <a:latin typeface="Glacial Indifference"/>
                          <a:sym typeface="Glacial Indifference"/>
                        </a:rPr>
                        <a:t>Tipo de </a:t>
                      </a:r>
                      <a:r>
                        <a:rPr lang="en-US" sz="1700" dirty="0" err="1">
                          <a:solidFill>
                            <a:srgbClr val="000000"/>
                          </a:solidFill>
                          <a:latin typeface="Glacial Indifference"/>
                          <a:sym typeface="Glacial Indifference"/>
                        </a:rPr>
                        <a:t>Pregunta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a:solidFill>
                            <a:srgbClr val="000000"/>
                          </a:solidFill>
                          <a:latin typeface="Glacial Indifference"/>
                          <a:ea typeface="Glacial Indifference"/>
                          <a:cs typeface="Glacial Indifference"/>
                          <a:sym typeface="Glacial Indifference"/>
                        </a:rPr>
                        <a:t>Tipo de variable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extLst>
                  <a:ext uri="{0D108BD9-81ED-4DB2-BD59-A6C34878D82A}">
                    <a16:rowId xmlns:a16="http://schemas.microsoft.com/office/drawing/2014/main" val="10000"/>
                  </a:ext>
                </a:extLst>
              </a:tr>
              <a:tr h="1912620">
                <a:tc>
                  <a:txBody>
                    <a:bodyPr/>
                    <a:lstStyle/>
                    <a:p>
                      <a:pPr algn="l">
                        <a:lnSpc>
                          <a:spcPts val="2380"/>
                        </a:lnSpc>
                        <a:defRPr/>
                      </a:pPr>
                      <a:r>
                        <a:rPr lang="en-US" sz="1700">
                          <a:solidFill>
                            <a:srgbClr val="FFFFFF"/>
                          </a:solidFill>
                          <a:latin typeface="Glacial Indifference"/>
                          <a:ea typeface="Glacial Indifference"/>
                          <a:cs typeface="Glacial Indifference"/>
                          <a:sym typeface="Glacial Indifference"/>
                        </a:rPr>
                        <a:t>Pregunta 13: ¿Qué tan importante consideras la IA para mejorar tu productividad diaria?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Glacial Indifference"/>
                          <a:ea typeface="Glacial Indifference"/>
                          <a:cs typeface="Glacial Indifference"/>
                          <a:sym typeface="Glacial Indifference"/>
                        </a:rPr>
                        <a:t>Escala Likert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a:solidFill>
                            <a:srgbClr val="FFFFFF"/>
                          </a:solidFill>
                          <a:latin typeface="Open Sans"/>
                          <a:ea typeface="Open Sans"/>
                          <a:cs typeface="Open Sans"/>
                          <a:sym typeface="Open Sans"/>
                        </a:rPr>
                        <a:t>Cualitativa dicotómica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2209076">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Pregunta 14: ¿Qué tan satisfecho/a estás con los resultados generados por las herramientas de IA que utilizas?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Glacial Indifference"/>
                          <a:ea typeface="Glacial Indifference"/>
                          <a:cs typeface="Glacial Indifference"/>
                          <a:sym typeface="Glacial Indifference"/>
                        </a:rPr>
                        <a:t>Escala Likert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Cualitativa ordinal</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912620">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Pregunta 15: ¿Utilizas herramientas de IA para aprender nuevas habilidades o temas?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Glacial Indifference"/>
                          <a:ea typeface="Glacial Indifference"/>
                          <a:cs typeface="Glacial Indifference"/>
                          <a:sym typeface="Glacial Indifference"/>
                        </a:rPr>
                        <a:t>Alternativa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Cualitativa nominal</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2505532">
                <a:tc>
                  <a:txBody>
                    <a:bodyPr/>
                    <a:lstStyle/>
                    <a:p>
                      <a:pPr algn="ctr">
                        <a:lnSpc>
                          <a:spcPts val="2380"/>
                        </a:lnSpc>
                        <a:defRPr/>
                      </a:pPr>
                      <a:r>
                        <a:rPr lang="en-US" sz="1700">
                          <a:solidFill>
                            <a:srgbClr val="FFFFFF"/>
                          </a:solidFill>
                          <a:latin typeface="Glacial Indifference"/>
                          <a:ea typeface="Glacial Indifference"/>
                          <a:cs typeface="Glacial Indifference"/>
                          <a:sym typeface="Glacial Indifference"/>
                        </a:rPr>
                        <a:t>Pregunta 16: ¿Has utilizado herramientas de IA para tareas creativas, como escribir historias o componer música?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Glacial Indifference"/>
                          <a:ea typeface="Glacial Indifference"/>
                          <a:cs typeface="Glacial Indifference"/>
                          <a:sym typeface="Glacial Indifference"/>
                        </a:rPr>
                        <a:t>Alternativa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dirty="0" err="1">
                          <a:solidFill>
                            <a:srgbClr val="FFFFFF"/>
                          </a:solidFill>
                          <a:latin typeface="Open Sans"/>
                          <a:ea typeface="Open Sans"/>
                          <a:cs typeface="Open Sans"/>
                          <a:sym typeface="Open Sans"/>
                        </a:rPr>
                        <a:t>Cuantitativa</a:t>
                      </a:r>
                      <a:r>
                        <a:rPr lang="en-US" sz="1700" dirty="0">
                          <a:solidFill>
                            <a:srgbClr val="FFFFFF"/>
                          </a:solidFill>
                          <a:latin typeface="Open Sans"/>
                          <a:ea typeface="Open Sans"/>
                          <a:cs typeface="Open Sans"/>
                          <a:sym typeface="Open Sans"/>
                        </a:rPr>
                        <a:t> </a:t>
                      </a:r>
                      <a:r>
                        <a:rPr lang="en-US" sz="1700" dirty="0" err="1">
                          <a:solidFill>
                            <a:srgbClr val="FFFFFF"/>
                          </a:solidFill>
                          <a:latin typeface="Open Sans"/>
                          <a:ea typeface="Open Sans"/>
                          <a:cs typeface="Open Sans"/>
                          <a:sym typeface="Open Sans"/>
                        </a:rPr>
                        <a:t>discreta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1905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txBody>
          <a:bodyPr/>
          <a:lstStyle/>
          <a:p>
            <a:endParaRPr lang="es-ES"/>
          </a:p>
        </p:txBody>
      </p:sp>
      <p:graphicFrame>
        <p:nvGraphicFramePr>
          <p:cNvPr id="4" name="Table 4"/>
          <p:cNvGraphicFramePr>
            <a:graphicFrameLocks noGrp="1"/>
          </p:cNvGraphicFramePr>
          <p:nvPr>
            <p:extLst>
              <p:ext uri="{D42A27DB-BD31-4B8C-83A1-F6EECF244321}">
                <p14:modId xmlns:p14="http://schemas.microsoft.com/office/powerpoint/2010/main" val="2738338490"/>
              </p:ext>
            </p:extLst>
          </p:nvPr>
        </p:nvGraphicFramePr>
        <p:xfrm>
          <a:off x="5486400" y="3662362"/>
          <a:ext cx="7315200" cy="2962275"/>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1032454">
                <a:tc>
                  <a:txBody>
                    <a:bodyPr/>
                    <a:lstStyle/>
                    <a:p>
                      <a:pPr algn="ctr">
                        <a:lnSpc>
                          <a:spcPts val="2380"/>
                        </a:lnSpc>
                        <a:defRPr/>
                      </a:pPr>
                      <a:r>
                        <a:rPr lang="en-US" sz="1700">
                          <a:solidFill>
                            <a:srgbClr val="000000"/>
                          </a:solidFill>
                          <a:latin typeface="Glacial Indifference"/>
                          <a:ea typeface="Glacial Indifference"/>
                          <a:cs typeface="Glacial Indifference"/>
                          <a:sym typeface="Glacial Indifference"/>
                        </a:rPr>
                        <a:t>Numero de pregunta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dirty="0">
                          <a:solidFill>
                            <a:srgbClr val="000000"/>
                          </a:solidFill>
                          <a:latin typeface="Glacial Indifference"/>
                          <a:sym typeface="Glacial Indifference"/>
                        </a:rPr>
                        <a:t>Tipo de </a:t>
                      </a:r>
                      <a:r>
                        <a:rPr lang="en-US" sz="1700" dirty="0" err="1">
                          <a:solidFill>
                            <a:srgbClr val="000000"/>
                          </a:solidFill>
                          <a:latin typeface="Glacial Indifference"/>
                          <a:sym typeface="Glacial Indifference"/>
                        </a:rPr>
                        <a:t>Pregunta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tc>
                  <a:txBody>
                    <a:bodyPr/>
                    <a:lstStyle/>
                    <a:p>
                      <a:pPr algn="ctr">
                        <a:lnSpc>
                          <a:spcPts val="2380"/>
                        </a:lnSpc>
                        <a:defRPr/>
                      </a:pPr>
                      <a:r>
                        <a:rPr lang="en-US" sz="1700">
                          <a:solidFill>
                            <a:srgbClr val="000000"/>
                          </a:solidFill>
                          <a:latin typeface="Glacial Indifference"/>
                          <a:ea typeface="Glacial Indifference"/>
                          <a:cs typeface="Glacial Indifference"/>
                          <a:sym typeface="Glacial Indifference"/>
                        </a:rPr>
                        <a:t>Tipo de variable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6E6E6"/>
                    </a:solidFill>
                  </a:tcPr>
                </a:tc>
                <a:extLst>
                  <a:ext uri="{0D108BD9-81ED-4DB2-BD59-A6C34878D82A}">
                    <a16:rowId xmlns:a16="http://schemas.microsoft.com/office/drawing/2014/main" val="10000"/>
                  </a:ext>
                </a:extLst>
              </a:tr>
              <a:tr h="1929821">
                <a:tc>
                  <a:txBody>
                    <a:bodyPr/>
                    <a:lstStyle/>
                    <a:p>
                      <a:pPr algn="l">
                        <a:lnSpc>
                          <a:spcPts val="2380"/>
                        </a:lnSpc>
                        <a:defRPr/>
                      </a:pPr>
                      <a:r>
                        <a:rPr lang="en-US" sz="1700" dirty="0" err="1">
                          <a:solidFill>
                            <a:srgbClr val="FFFFFF"/>
                          </a:solidFill>
                          <a:latin typeface="Glacial Indifference"/>
                          <a:ea typeface="Glacial Indifference"/>
                          <a:cs typeface="Glacial Indifference"/>
                          <a:sym typeface="Glacial Indifference"/>
                        </a:rPr>
                        <a:t>Pregunta</a:t>
                      </a:r>
                      <a:r>
                        <a:rPr lang="en-US" sz="1700" dirty="0">
                          <a:solidFill>
                            <a:srgbClr val="FFFFFF"/>
                          </a:solidFill>
                          <a:latin typeface="Glacial Indifference"/>
                          <a:ea typeface="Glacial Indifference"/>
                          <a:cs typeface="Glacial Indifference"/>
                          <a:sym typeface="Glacial Indifference"/>
                        </a:rPr>
                        <a:t> 17: ¿</a:t>
                      </a:r>
                      <a:r>
                        <a:rPr lang="en-US" sz="1700" dirty="0" err="1">
                          <a:solidFill>
                            <a:srgbClr val="FFFFFF"/>
                          </a:solidFill>
                          <a:latin typeface="Glacial Indifference"/>
                          <a:ea typeface="Glacial Indifference"/>
                          <a:cs typeface="Glacial Indifference"/>
                          <a:sym typeface="Glacial Indifference"/>
                        </a:rPr>
                        <a:t>Qué</a:t>
                      </a:r>
                      <a:r>
                        <a:rPr lang="en-US" sz="1700" dirty="0">
                          <a:solidFill>
                            <a:srgbClr val="FFFFFF"/>
                          </a:solidFill>
                          <a:latin typeface="Glacial Indifference"/>
                          <a:ea typeface="Glacial Indifference"/>
                          <a:cs typeface="Glacial Indifference"/>
                          <a:sym typeface="Glacial Indifference"/>
                        </a:rPr>
                        <a:t> tan </a:t>
                      </a:r>
                      <a:r>
                        <a:rPr lang="en-US" sz="1700" dirty="0" err="1">
                          <a:solidFill>
                            <a:srgbClr val="FFFFFF"/>
                          </a:solidFill>
                          <a:latin typeface="Glacial Indifference"/>
                          <a:ea typeface="Glacial Indifference"/>
                          <a:cs typeface="Glacial Indifference"/>
                          <a:sym typeface="Glacial Indifference"/>
                        </a:rPr>
                        <a:t>fácil</a:t>
                      </a:r>
                      <a:r>
                        <a:rPr lang="en-US" sz="1700" dirty="0">
                          <a:solidFill>
                            <a:srgbClr val="FFFFFF"/>
                          </a:solidFill>
                          <a:latin typeface="Glacial Indifference"/>
                          <a:ea typeface="Glacial Indifference"/>
                          <a:cs typeface="Glacial Indifference"/>
                          <a:sym typeface="Glacial Indifference"/>
                        </a:rPr>
                        <a:t> </a:t>
                      </a:r>
                      <a:r>
                        <a:rPr lang="en-US" sz="1700" dirty="0" err="1">
                          <a:solidFill>
                            <a:srgbClr val="FFFFFF"/>
                          </a:solidFill>
                          <a:latin typeface="Glacial Indifference"/>
                          <a:ea typeface="Glacial Indifference"/>
                          <a:cs typeface="Glacial Indifference"/>
                          <a:sym typeface="Glacial Indifference"/>
                        </a:rPr>
                        <a:t>te</a:t>
                      </a:r>
                      <a:r>
                        <a:rPr lang="en-US" sz="1700" dirty="0">
                          <a:solidFill>
                            <a:srgbClr val="FFFFFF"/>
                          </a:solidFill>
                          <a:latin typeface="Glacial Indifference"/>
                          <a:ea typeface="Glacial Indifference"/>
                          <a:cs typeface="Glacial Indifference"/>
                          <a:sym typeface="Glacial Indifference"/>
                        </a:rPr>
                        <a:t> </a:t>
                      </a:r>
                      <a:r>
                        <a:rPr lang="en-US" sz="1700" dirty="0" err="1">
                          <a:solidFill>
                            <a:srgbClr val="FFFFFF"/>
                          </a:solidFill>
                          <a:latin typeface="Glacial Indifference"/>
                          <a:ea typeface="Glacial Indifference"/>
                          <a:cs typeface="Glacial Indifference"/>
                          <a:sym typeface="Glacial Indifference"/>
                        </a:rPr>
                        <a:t>resulta</a:t>
                      </a:r>
                      <a:r>
                        <a:rPr lang="en-US" sz="1700" dirty="0">
                          <a:solidFill>
                            <a:srgbClr val="FFFFFF"/>
                          </a:solidFill>
                          <a:latin typeface="Glacial Indifference"/>
                          <a:ea typeface="Glacial Indifference"/>
                          <a:cs typeface="Glacial Indifference"/>
                          <a:sym typeface="Glacial Indifference"/>
                        </a:rPr>
                        <a:t> </a:t>
                      </a:r>
                      <a:r>
                        <a:rPr lang="en-US" sz="1700" dirty="0" err="1">
                          <a:solidFill>
                            <a:srgbClr val="FFFFFF"/>
                          </a:solidFill>
                          <a:latin typeface="Glacial Indifference"/>
                          <a:ea typeface="Glacial Indifference"/>
                          <a:cs typeface="Glacial Indifference"/>
                          <a:sym typeface="Glacial Indifference"/>
                        </a:rPr>
                        <a:t>aprender</a:t>
                      </a:r>
                      <a:r>
                        <a:rPr lang="en-US" sz="1700" dirty="0">
                          <a:solidFill>
                            <a:srgbClr val="FFFFFF"/>
                          </a:solidFill>
                          <a:latin typeface="Glacial Indifference"/>
                          <a:ea typeface="Glacial Indifference"/>
                          <a:cs typeface="Glacial Indifference"/>
                          <a:sym typeface="Glacial Indifference"/>
                        </a:rPr>
                        <a:t> a usar </a:t>
                      </a:r>
                      <a:r>
                        <a:rPr lang="en-US" sz="1700" dirty="0" err="1">
                          <a:solidFill>
                            <a:srgbClr val="FFFFFF"/>
                          </a:solidFill>
                          <a:latin typeface="Glacial Indifference"/>
                          <a:ea typeface="Glacial Indifference"/>
                          <a:cs typeface="Glacial Indifference"/>
                          <a:sym typeface="Glacial Indifference"/>
                        </a:rPr>
                        <a:t>nuevas</a:t>
                      </a:r>
                      <a:r>
                        <a:rPr lang="en-US" sz="1700" dirty="0">
                          <a:solidFill>
                            <a:srgbClr val="FFFFFF"/>
                          </a:solidFill>
                          <a:latin typeface="Glacial Indifference"/>
                          <a:ea typeface="Glacial Indifference"/>
                          <a:cs typeface="Glacial Indifference"/>
                          <a:sym typeface="Glacial Indifference"/>
                        </a:rPr>
                        <a:t> </a:t>
                      </a:r>
                      <a:r>
                        <a:rPr lang="en-US" sz="1700" dirty="0" err="1">
                          <a:solidFill>
                            <a:srgbClr val="FFFFFF"/>
                          </a:solidFill>
                          <a:latin typeface="Glacial Indifference"/>
                          <a:ea typeface="Glacial Indifference"/>
                          <a:cs typeface="Glacial Indifference"/>
                          <a:sym typeface="Glacial Indifference"/>
                        </a:rPr>
                        <a:t>herramientas</a:t>
                      </a:r>
                      <a:r>
                        <a:rPr lang="en-US" sz="1700" dirty="0">
                          <a:solidFill>
                            <a:srgbClr val="FFFFFF"/>
                          </a:solidFill>
                          <a:latin typeface="Glacial Indifference"/>
                          <a:ea typeface="Glacial Indifference"/>
                          <a:cs typeface="Glacial Indifference"/>
                          <a:sym typeface="Glacial Indifference"/>
                        </a:rPr>
                        <a:t> de IA?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380"/>
                        </a:lnSpc>
                        <a:defRPr/>
                      </a:pPr>
                      <a:r>
                        <a:rPr lang="en-US" sz="1700" dirty="0">
                          <a:solidFill>
                            <a:srgbClr val="FFFFFF"/>
                          </a:solidFill>
                          <a:latin typeface="Glacial Indifference"/>
                          <a:ea typeface="Glacial Indifference"/>
                          <a:cs typeface="Glacial Indifference"/>
                          <a:sym typeface="Glacial Indifference"/>
                        </a:rPr>
                        <a:t>Escala Likert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2380"/>
                        </a:lnSpc>
                        <a:defRPr/>
                      </a:pPr>
                      <a:r>
                        <a:rPr lang="en-US" sz="1700" dirty="0" err="1">
                          <a:solidFill>
                            <a:srgbClr val="FFFFFF"/>
                          </a:solidFill>
                          <a:latin typeface="Open Sans"/>
                          <a:ea typeface="Open Sans"/>
                          <a:cs typeface="Open Sans"/>
                          <a:sym typeface="Open Sans"/>
                        </a:rPr>
                        <a:t>Cualitativa</a:t>
                      </a:r>
                      <a:r>
                        <a:rPr lang="en-US" sz="1700" dirty="0">
                          <a:solidFill>
                            <a:srgbClr val="FFFFFF"/>
                          </a:solidFill>
                          <a:latin typeface="Open Sans"/>
                          <a:ea typeface="Open Sans"/>
                          <a:cs typeface="Open Sans"/>
                          <a:sym typeface="Open Sans"/>
                        </a:rPr>
                        <a:t> ordinal</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158A97C5-B0F0-3427-8E0F-E50C10BEBC9E}"/>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p>
        </p:txBody>
      </p:sp>
      <p:sp>
        <p:nvSpPr>
          <p:cNvPr id="3" name="TextBox 5">
            <a:extLst>
              <a:ext uri="{FF2B5EF4-FFF2-40B4-BE49-F238E27FC236}">
                <a16:creationId xmlns:a16="http://schemas.microsoft.com/office/drawing/2014/main" id="{9FBEA64D-991B-3BFF-D531-B9FB90D308C2}"/>
              </a:ext>
            </a:extLst>
          </p:cNvPr>
          <p:cNvSpPr txBox="1"/>
          <p:nvPr/>
        </p:nvSpPr>
        <p:spPr>
          <a:xfrm>
            <a:off x="1346150" y="1095375"/>
            <a:ext cx="15595699" cy="1451033"/>
          </a:xfrm>
          <a:prstGeom prst="rect">
            <a:avLst/>
          </a:prstGeom>
        </p:spPr>
        <p:txBody>
          <a:bodyPr lIns="0" tIns="0" rIns="0" bIns="0" rtlCol="0" anchor="t">
            <a:spAutoFit/>
          </a:bodyPr>
          <a:lstStyle/>
          <a:p>
            <a:pPr algn="ctr">
              <a:lnSpc>
                <a:spcPts val="11307"/>
              </a:lnSpc>
              <a:spcBef>
                <a:spcPct val="0"/>
              </a:spcBef>
            </a:pPr>
            <a:r>
              <a:rPr lang="en-US" sz="10006" b="1" dirty="0">
                <a:solidFill>
                  <a:schemeClr val="bg1"/>
                </a:solidFill>
                <a:latin typeface="Glacial Indifference Bold"/>
                <a:ea typeface="Glacial Indifference Bold"/>
                <a:cs typeface="Glacial Indifference Bold"/>
                <a:sym typeface="Glacial Indifference Bold"/>
              </a:rPr>
              <a:t>¿CUANTOS AÑOS TIENES? </a:t>
            </a:r>
          </a:p>
        </p:txBody>
      </p:sp>
      <p:sp>
        <p:nvSpPr>
          <p:cNvPr id="4" name="Rectangle 4">
            <a:extLst>
              <a:ext uri="{FF2B5EF4-FFF2-40B4-BE49-F238E27FC236}">
                <a16:creationId xmlns:a16="http://schemas.microsoft.com/office/drawing/2014/main" id="{6019ABFB-6C46-F3AB-C2D9-4EA7B94D5DBD}"/>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de </a:t>
            </a:r>
            <a:r>
              <a:rPr lang="es-ES" altLang="es-ES" sz="2800" b="1" dirty="0" err="1">
                <a:solidFill>
                  <a:schemeClr val="bg1"/>
                </a:solidFill>
                <a:latin typeface="Arial" panose="020B0604020202020204" pitchFamily="34" charset="0"/>
              </a:rPr>
              <a:t>Razon</a:t>
            </a:r>
            <a:endParaRPr lang="es-ES"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ES" altLang="es-ES" sz="2800" b="1" i="0" u="none" strike="noStrike" cap="none" normalizeH="0" baseline="0" dirty="0">
                <a:ln>
                  <a:noFill/>
                </a:ln>
                <a:solidFill>
                  <a:schemeClr val="bg1"/>
                </a:solidFill>
                <a:effectLst/>
                <a:latin typeface="Arial" panose="020B0604020202020204" pitchFamily="34" charset="0"/>
              </a:rPr>
              <a:t>Tipo de Variable: Cuantitativa continua</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B377B428-6546-ADA4-197B-5A44ECD4BDE3}"/>
              </a:ext>
            </a:extLst>
          </p:cNvPr>
          <p:cNvSpPr>
            <a:spLocks noChangeArrowheads="1"/>
          </p:cNvSpPr>
          <p:nvPr/>
        </p:nvSpPr>
        <p:spPr bwMode="auto">
          <a:xfrm>
            <a:off x="609599" y="4398449"/>
            <a:ext cx="717001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Medida de tendencia central: La moda es el valor con mayor </a:t>
            </a:r>
            <a:r>
              <a:rPr lang="es-MX" altLang="es-ES" sz="2800" b="1" dirty="0" err="1">
                <a:solidFill>
                  <a:schemeClr val="bg1"/>
                </a:solidFill>
                <a:latin typeface="Arial" panose="020B0604020202020204" pitchFamily="34" charset="0"/>
              </a:rPr>
              <a:t>frecuencia.Moda</a:t>
            </a:r>
            <a:r>
              <a:rPr lang="es-MX" altLang="es-ES" sz="2800" b="1" dirty="0">
                <a:solidFill>
                  <a:schemeClr val="bg1"/>
                </a:solidFill>
                <a:latin typeface="Arial" panose="020B0604020202020204" pitchFamily="34" charset="0"/>
              </a:rPr>
              <a:t>: 18–25 años (con 37 respuestas)</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Medida de posición: Mediana (estimada por intervalos)</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Mediana aproximada: 23.5 años</a:t>
            </a:r>
            <a:endParaRPr kumimoji="0" lang="es-ES" altLang="es-ES" sz="2800" b="1" i="0" u="none" strike="noStrike" cap="none" normalizeH="0" baseline="0" dirty="0">
              <a:ln>
                <a:noFill/>
              </a:ln>
              <a:solidFill>
                <a:schemeClr val="bg1"/>
              </a:solidFill>
              <a:effectLst/>
              <a:latin typeface="Arial" panose="020B0604020202020204" pitchFamily="34" charset="0"/>
            </a:endParaRPr>
          </a:p>
        </p:txBody>
      </p:sp>
      <p:pic>
        <p:nvPicPr>
          <p:cNvPr id="7" name="Imagen 6">
            <a:extLst>
              <a:ext uri="{FF2B5EF4-FFF2-40B4-BE49-F238E27FC236}">
                <a16:creationId xmlns:a16="http://schemas.microsoft.com/office/drawing/2014/main" id="{4874F0CA-8CBB-4023-EA24-A2D99FE0FC7A}"/>
              </a:ext>
            </a:extLst>
          </p:cNvPr>
          <p:cNvPicPr>
            <a:picLocks noChangeAspect="1"/>
          </p:cNvPicPr>
          <p:nvPr/>
        </p:nvPicPr>
        <p:blipFill>
          <a:blip r:embed="rId5"/>
          <a:stretch>
            <a:fillRect/>
          </a:stretch>
        </p:blipFill>
        <p:spPr>
          <a:xfrm>
            <a:off x="11362179" y="3364660"/>
            <a:ext cx="5579670" cy="3557680"/>
          </a:xfrm>
          <a:prstGeom prst="rect">
            <a:avLst/>
          </a:prstGeom>
        </p:spPr>
      </p:pic>
    </p:spTree>
    <p:extLst>
      <p:ext uri="{BB962C8B-B14F-4D97-AF65-F5344CB8AC3E}">
        <p14:creationId xmlns:p14="http://schemas.microsoft.com/office/powerpoint/2010/main" val="3880860418"/>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C41AF-B04F-D51C-742D-56C2F70D532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38C56C8-94A0-271C-371E-831C74D42101}"/>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p>
        </p:txBody>
      </p:sp>
      <p:sp>
        <p:nvSpPr>
          <p:cNvPr id="3" name="TextBox 5">
            <a:extLst>
              <a:ext uri="{FF2B5EF4-FFF2-40B4-BE49-F238E27FC236}">
                <a16:creationId xmlns:a16="http://schemas.microsoft.com/office/drawing/2014/main" id="{F6B4BDF6-A7A6-1ADD-8F24-71747300A0C1}"/>
              </a:ext>
            </a:extLst>
          </p:cNvPr>
          <p:cNvSpPr txBox="1"/>
          <p:nvPr/>
        </p:nvSpPr>
        <p:spPr>
          <a:xfrm>
            <a:off x="1346150" y="436419"/>
            <a:ext cx="15595699" cy="1846659"/>
          </a:xfrm>
          <a:prstGeom prst="rect">
            <a:avLst/>
          </a:prstGeom>
        </p:spPr>
        <p:txBody>
          <a:bodyPr lIns="0" tIns="0" rIns="0" bIns="0" rtlCol="0" anchor="t">
            <a:spAutoFit/>
          </a:bodyPr>
          <a:lstStyle/>
          <a:p>
            <a:pPr algn="ctr">
              <a:spcBef>
                <a:spcPct val="0"/>
              </a:spcBef>
            </a:pPr>
            <a:r>
              <a:rPr lang="es-MX" sz="6000" b="1" dirty="0">
                <a:solidFill>
                  <a:schemeClr val="bg1"/>
                </a:solidFill>
                <a:latin typeface="Glacial Indifference Bold"/>
                <a:ea typeface="Glacial Indifference Bold"/>
                <a:cs typeface="Glacial Indifference Bold"/>
                <a:sym typeface="Glacial Indifference Bold"/>
              </a:rPr>
              <a:t>¿Qué sector ha sido más impactado por la inteligencia artificial en los últimos años</a:t>
            </a:r>
            <a:r>
              <a:rPr lang="en-US" sz="6000" b="1" dirty="0">
                <a:solidFill>
                  <a:schemeClr val="bg1"/>
                </a:solidFill>
                <a:latin typeface="Glacial Indifference Bold"/>
                <a:ea typeface="Glacial Indifference Bold"/>
                <a:cs typeface="Glacial Indifference Bold"/>
                <a:sym typeface="Glacial Indifference Bold"/>
              </a:rPr>
              <a:t>? </a:t>
            </a:r>
          </a:p>
        </p:txBody>
      </p:sp>
      <p:sp>
        <p:nvSpPr>
          <p:cNvPr id="4" name="Rectangle 4">
            <a:extLst>
              <a:ext uri="{FF2B5EF4-FFF2-40B4-BE49-F238E27FC236}">
                <a16:creationId xmlns:a16="http://schemas.microsoft.com/office/drawing/2014/main" id="{55F26B20-87EB-DCE6-9372-5EFC83BFBFFC}"/>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Nominal </a:t>
            </a: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Nominal</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4FFA5EBF-EC50-0948-285C-6DC06A46CF83}"/>
              </a:ext>
            </a:extLst>
          </p:cNvPr>
          <p:cNvSpPr>
            <a:spLocks noChangeArrowheads="1"/>
          </p:cNvSpPr>
          <p:nvPr/>
        </p:nvSpPr>
        <p:spPr bwMode="auto">
          <a:xfrm>
            <a:off x="609599" y="4262419"/>
            <a:ext cx="7170019"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Medida de tendencia central: Moda: Entretenimiento, con 64 menciones→ Es el sector más percibido como impactado por la </a:t>
            </a:r>
            <a:r>
              <a:rPr lang="es-MX" altLang="es-ES" sz="2800" b="1" dirty="0" err="1">
                <a:solidFill>
                  <a:schemeClr val="bg1"/>
                </a:solidFill>
                <a:latin typeface="Arial" panose="020B0604020202020204" pitchFamily="34" charset="0"/>
              </a:rPr>
              <a:t>Ifrecuencia.Moda</a:t>
            </a:r>
            <a:r>
              <a:rPr lang="es-MX" altLang="es-ES" sz="2800" b="1" dirty="0">
                <a:solidFill>
                  <a:schemeClr val="bg1"/>
                </a:solidFill>
                <a:latin typeface="Arial" panose="020B0604020202020204" pitchFamily="34" charset="0"/>
              </a:rPr>
              <a:t>: 18–25 años (con 37 respuestas)</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Medida de posición: Porcentaje de menciones</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Medida de dispersión: Rango de frecuencia</a:t>
            </a:r>
            <a:endParaRPr kumimoji="0" lang="es-ES" altLang="es-ES" sz="2800" b="1" i="0" u="none" strike="noStrike" cap="none" normalizeH="0" baseline="0" dirty="0">
              <a:ln>
                <a:noFill/>
              </a:ln>
              <a:solidFill>
                <a:schemeClr val="bg1"/>
              </a:solidFill>
              <a:effectLst/>
              <a:latin typeface="Arial" panose="020B0604020202020204" pitchFamily="34" charset="0"/>
            </a:endParaRPr>
          </a:p>
        </p:txBody>
      </p:sp>
      <p:pic>
        <p:nvPicPr>
          <p:cNvPr id="8" name="Imagen 7">
            <a:extLst>
              <a:ext uri="{FF2B5EF4-FFF2-40B4-BE49-F238E27FC236}">
                <a16:creationId xmlns:a16="http://schemas.microsoft.com/office/drawing/2014/main" id="{4F1D0070-E523-68B1-6419-2504A4F2A64E}"/>
              </a:ext>
            </a:extLst>
          </p:cNvPr>
          <p:cNvPicPr>
            <a:picLocks noChangeAspect="1"/>
          </p:cNvPicPr>
          <p:nvPr/>
        </p:nvPicPr>
        <p:blipFill>
          <a:blip r:embed="rId5"/>
          <a:stretch>
            <a:fillRect/>
          </a:stretch>
        </p:blipFill>
        <p:spPr>
          <a:xfrm>
            <a:off x="8359826" y="3164730"/>
            <a:ext cx="9340284" cy="5560170"/>
          </a:xfrm>
          <a:prstGeom prst="rect">
            <a:avLst/>
          </a:prstGeom>
        </p:spPr>
      </p:pic>
    </p:spTree>
    <p:extLst>
      <p:ext uri="{BB962C8B-B14F-4D97-AF65-F5344CB8AC3E}">
        <p14:creationId xmlns:p14="http://schemas.microsoft.com/office/powerpoint/2010/main" val="2110254234"/>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0F11B-AA44-AE0F-EBF9-AC4C8F2AABF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6EC2A6F-6014-7F40-6317-1EEBB616F338}"/>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p>
        </p:txBody>
      </p:sp>
      <p:sp>
        <p:nvSpPr>
          <p:cNvPr id="3" name="TextBox 5">
            <a:extLst>
              <a:ext uri="{FF2B5EF4-FFF2-40B4-BE49-F238E27FC236}">
                <a16:creationId xmlns:a16="http://schemas.microsoft.com/office/drawing/2014/main" id="{7034B6F2-3A57-7269-6444-DCBF11648449}"/>
              </a:ext>
            </a:extLst>
          </p:cNvPr>
          <p:cNvSpPr txBox="1"/>
          <p:nvPr/>
        </p:nvSpPr>
        <p:spPr>
          <a:xfrm>
            <a:off x="1346150" y="436419"/>
            <a:ext cx="15595699" cy="1846659"/>
          </a:xfrm>
          <a:prstGeom prst="rect">
            <a:avLst/>
          </a:prstGeom>
        </p:spPr>
        <p:txBody>
          <a:bodyPr lIns="0" tIns="0" rIns="0" bIns="0" rtlCol="0" anchor="t">
            <a:spAutoFit/>
          </a:bodyPr>
          <a:lstStyle/>
          <a:p>
            <a:pPr algn="ctr">
              <a:spcBef>
                <a:spcPct val="0"/>
              </a:spcBef>
            </a:pPr>
            <a:r>
              <a:rPr lang="es-MX" sz="6000" b="1" dirty="0">
                <a:solidFill>
                  <a:schemeClr val="bg1"/>
                </a:solidFill>
                <a:latin typeface="Glacial Indifference Bold"/>
                <a:ea typeface="Glacial Indifference Bold"/>
                <a:cs typeface="Glacial Indifference Bold"/>
                <a:sym typeface="Glacial Indifference Bold"/>
              </a:rPr>
              <a:t>¿Cuál piensas que es una preocupación sobre el uso de inteligencia artificial?</a:t>
            </a:r>
            <a:endParaRPr lang="en-US" sz="6000" b="1" dirty="0">
              <a:solidFill>
                <a:schemeClr val="bg1"/>
              </a:solidFill>
              <a:latin typeface="Glacial Indifference Bold"/>
              <a:ea typeface="Glacial Indifference Bold"/>
              <a:cs typeface="Glacial Indifference Bold"/>
              <a:sym typeface="Glacial Indifference Bold"/>
            </a:endParaRPr>
          </a:p>
        </p:txBody>
      </p:sp>
      <p:sp>
        <p:nvSpPr>
          <p:cNvPr id="4" name="Rectangle 4">
            <a:extLst>
              <a:ext uri="{FF2B5EF4-FFF2-40B4-BE49-F238E27FC236}">
                <a16:creationId xmlns:a16="http://schemas.microsoft.com/office/drawing/2014/main" id="{CAF0B7ED-04E7-DE10-DE6B-7EC8259A8017}"/>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Nominal </a:t>
            </a: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Nominal</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7C4EE077-30F3-D272-718F-52469BD98BA4}"/>
              </a:ext>
            </a:extLst>
          </p:cNvPr>
          <p:cNvSpPr>
            <a:spLocks noChangeArrowheads="1"/>
          </p:cNvSpPr>
          <p:nvPr/>
        </p:nvSpPr>
        <p:spPr bwMode="auto">
          <a:xfrm>
            <a:off x="609599" y="4262420"/>
            <a:ext cx="7170019"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Medida de tendencia central: Moda: Uso indebido (84 menciones)</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 Medida de posición: Porcentajes ordenados Segundo lugar: Privacidad y seguridad de datos (28%)Tercer lugar: Creatividad y arte (19.9%)</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Medida de dispersión: </a:t>
            </a:r>
            <a:r>
              <a:rPr kumimoji="0" lang="es-MX" altLang="es-ES" sz="2800" b="1" i="0" u="none" strike="noStrike" cap="none" normalizeH="0" baseline="0" dirty="0" err="1">
                <a:ln>
                  <a:noFill/>
                </a:ln>
                <a:solidFill>
                  <a:schemeClr val="bg1"/>
                </a:solidFill>
                <a:effectLst/>
                <a:latin typeface="Arial" panose="020B0604020202020204" pitchFamily="34" charset="0"/>
              </a:rPr>
              <a:t>RangoRango</a:t>
            </a:r>
            <a:r>
              <a:rPr kumimoji="0" lang="es-MX" altLang="es-ES" sz="2800" b="1" i="0" u="none" strike="noStrike" cap="none" normalizeH="0" baseline="0" dirty="0">
                <a:ln>
                  <a:noFill/>
                </a:ln>
                <a:solidFill>
                  <a:schemeClr val="bg1"/>
                </a:solidFill>
                <a:effectLst/>
                <a:latin typeface="Arial" panose="020B0604020202020204" pitchFamily="34" charset="0"/>
              </a:rPr>
              <a:t> = máxima frecuencia - mínima frecuencia = 84 - 20 = 64 menciones</a:t>
            </a:r>
            <a:endParaRPr kumimoji="0" lang="es-ES" altLang="es-ES" sz="2800" b="1" i="0" u="none" strike="noStrike" cap="none" normalizeH="0" baseline="0" dirty="0">
              <a:ln>
                <a:noFill/>
              </a:ln>
              <a:solidFill>
                <a:schemeClr val="bg1"/>
              </a:solidFill>
              <a:effectLst/>
              <a:latin typeface="Arial" panose="020B0604020202020204" pitchFamily="34" charset="0"/>
            </a:endParaRPr>
          </a:p>
        </p:txBody>
      </p:sp>
      <p:pic>
        <p:nvPicPr>
          <p:cNvPr id="7" name="Imagen 6">
            <a:extLst>
              <a:ext uri="{FF2B5EF4-FFF2-40B4-BE49-F238E27FC236}">
                <a16:creationId xmlns:a16="http://schemas.microsoft.com/office/drawing/2014/main" id="{87811FB7-A35C-EDA5-9151-2EF7CB9E4ECB}"/>
              </a:ext>
            </a:extLst>
          </p:cNvPr>
          <p:cNvPicPr>
            <a:picLocks noChangeAspect="1"/>
          </p:cNvPicPr>
          <p:nvPr/>
        </p:nvPicPr>
        <p:blipFill>
          <a:blip r:embed="rId5"/>
          <a:stretch>
            <a:fillRect/>
          </a:stretch>
        </p:blipFill>
        <p:spPr>
          <a:xfrm>
            <a:off x="8403368" y="4031409"/>
            <a:ext cx="9541641" cy="3959970"/>
          </a:xfrm>
          <a:prstGeom prst="rect">
            <a:avLst/>
          </a:prstGeom>
        </p:spPr>
      </p:pic>
    </p:spTree>
    <p:extLst>
      <p:ext uri="{BB962C8B-B14F-4D97-AF65-F5344CB8AC3E}">
        <p14:creationId xmlns:p14="http://schemas.microsoft.com/office/powerpoint/2010/main" val="856869035"/>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3BFA7-08C7-D450-FC24-D55C9C4ADB1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1CD0E68-69A6-AFFC-A4E1-BECBCF870DC4}"/>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p>
        </p:txBody>
      </p:sp>
      <p:sp>
        <p:nvSpPr>
          <p:cNvPr id="3" name="TextBox 5">
            <a:extLst>
              <a:ext uri="{FF2B5EF4-FFF2-40B4-BE49-F238E27FC236}">
                <a16:creationId xmlns:a16="http://schemas.microsoft.com/office/drawing/2014/main" id="{CDE7BF44-127D-97DC-E662-32F390D44A85}"/>
              </a:ext>
            </a:extLst>
          </p:cNvPr>
          <p:cNvSpPr txBox="1"/>
          <p:nvPr/>
        </p:nvSpPr>
        <p:spPr>
          <a:xfrm>
            <a:off x="1346150" y="436419"/>
            <a:ext cx="15595699" cy="1846659"/>
          </a:xfrm>
          <a:prstGeom prst="rect">
            <a:avLst/>
          </a:prstGeom>
        </p:spPr>
        <p:txBody>
          <a:bodyPr lIns="0" tIns="0" rIns="0" bIns="0" rtlCol="0" anchor="t">
            <a:spAutoFit/>
          </a:bodyPr>
          <a:lstStyle/>
          <a:p>
            <a:pPr algn="ctr">
              <a:spcBef>
                <a:spcPct val="0"/>
              </a:spcBef>
            </a:pPr>
            <a:r>
              <a:rPr lang="es-MX" sz="6000" b="1" dirty="0">
                <a:solidFill>
                  <a:schemeClr val="bg1"/>
                </a:solidFill>
                <a:latin typeface="Glacial Indifference Bold"/>
                <a:ea typeface="Glacial Indifference Bold"/>
                <a:cs typeface="Glacial Indifference Bold"/>
                <a:sym typeface="Glacial Indifference Bold"/>
              </a:rPr>
              <a:t>¿Cuánto impacto tiene la inteligencia artificial en ti vida?</a:t>
            </a:r>
            <a:endParaRPr lang="en-US" sz="6000" b="1" dirty="0">
              <a:solidFill>
                <a:schemeClr val="bg1"/>
              </a:solidFill>
              <a:latin typeface="Glacial Indifference Bold"/>
              <a:ea typeface="Glacial Indifference Bold"/>
              <a:cs typeface="Glacial Indifference Bold"/>
              <a:sym typeface="Glacial Indifference Bold"/>
            </a:endParaRPr>
          </a:p>
        </p:txBody>
      </p:sp>
      <p:sp>
        <p:nvSpPr>
          <p:cNvPr id="4" name="Rectangle 4">
            <a:extLst>
              <a:ext uri="{FF2B5EF4-FFF2-40B4-BE49-F238E27FC236}">
                <a16:creationId xmlns:a16="http://schemas.microsoft.com/office/drawing/2014/main" id="{C5ADF692-FEAB-3A1B-2726-37758FC251B5}"/>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Ordinal</a:t>
            </a:r>
          </a:p>
          <a:p>
            <a:pPr marL="0" marR="0" lvl="0" indent="0" algn="l" defTabSz="914400" rtl="0" eaLnBrk="0" fontAlgn="base" latinLnBrk="0" hangingPunct="0">
              <a:lnSpc>
                <a:spcPct val="100000"/>
              </a:lnSpc>
              <a:spcBef>
                <a:spcPct val="0"/>
              </a:spcBef>
              <a:spcAft>
                <a:spcPct val="0"/>
              </a:spcAft>
              <a:buClrTx/>
              <a:buSzTx/>
              <a:tabLst/>
            </a:pP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Ordinal</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2966555E-9522-6F11-12A0-94E90ED8934B}"/>
              </a:ext>
            </a:extLst>
          </p:cNvPr>
          <p:cNvSpPr>
            <a:spLocks noChangeArrowheads="1"/>
          </p:cNvSpPr>
          <p:nvPr/>
        </p:nvSpPr>
        <p:spPr bwMode="auto">
          <a:xfrm>
            <a:off x="609599" y="4046977"/>
            <a:ext cx="7170019"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Medida de tendencia central: Moda: No la utilizo en absoluto (46 respuestas)</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 Medida de posición: Mediana N = 104 → N/2 = 52 → la mediana está en la segunda categoría : “ La uso ocasionalmente", ya que : Frecuencia acumulada 1°: 46Frecuencia acumulada 2°: 46 + 24 = 70 → ahí cae la posición 52</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Medida de dispersión: Rango y Desviación estándar estimada</a:t>
            </a:r>
            <a:endParaRPr kumimoji="0" lang="es-ES" altLang="es-ES" sz="2800" b="1" i="0" u="none" strike="noStrike" cap="none" normalizeH="0" baseline="0" dirty="0">
              <a:ln>
                <a:noFill/>
              </a:ln>
              <a:solidFill>
                <a:schemeClr val="bg1"/>
              </a:solidFill>
              <a:effectLst/>
              <a:latin typeface="Arial" panose="020B0604020202020204" pitchFamily="34" charset="0"/>
            </a:endParaRPr>
          </a:p>
        </p:txBody>
      </p:sp>
      <p:pic>
        <p:nvPicPr>
          <p:cNvPr id="8" name="Imagen 7">
            <a:extLst>
              <a:ext uri="{FF2B5EF4-FFF2-40B4-BE49-F238E27FC236}">
                <a16:creationId xmlns:a16="http://schemas.microsoft.com/office/drawing/2014/main" id="{A0863101-53AA-B610-9504-6752F5D8AEF7}"/>
              </a:ext>
            </a:extLst>
          </p:cNvPr>
          <p:cNvPicPr>
            <a:picLocks noChangeAspect="1"/>
          </p:cNvPicPr>
          <p:nvPr/>
        </p:nvPicPr>
        <p:blipFill>
          <a:blip r:embed="rId5"/>
          <a:stretch>
            <a:fillRect/>
          </a:stretch>
        </p:blipFill>
        <p:spPr>
          <a:xfrm>
            <a:off x="8381597" y="2719497"/>
            <a:ext cx="9167103" cy="5415166"/>
          </a:xfrm>
          <a:prstGeom prst="rect">
            <a:avLst/>
          </a:prstGeom>
        </p:spPr>
      </p:pic>
    </p:spTree>
    <p:extLst>
      <p:ext uri="{BB962C8B-B14F-4D97-AF65-F5344CB8AC3E}">
        <p14:creationId xmlns:p14="http://schemas.microsoft.com/office/powerpoint/2010/main" val="1262794120"/>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40074-549A-14C9-B720-FCE3E593989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CD921FE-12E4-8DDC-3E18-54EC32CE76EE}"/>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p>
        </p:txBody>
      </p:sp>
      <p:sp>
        <p:nvSpPr>
          <p:cNvPr id="3" name="TextBox 5">
            <a:extLst>
              <a:ext uri="{FF2B5EF4-FFF2-40B4-BE49-F238E27FC236}">
                <a16:creationId xmlns:a16="http://schemas.microsoft.com/office/drawing/2014/main" id="{B529C892-8E52-8205-370B-B475F2906EED}"/>
              </a:ext>
            </a:extLst>
          </p:cNvPr>
          <p:cNvSpPr txBox="1"/>
          <p:nvPr/>
        </p:nvSpPr>
        <p:spPr>
          <a:xfrm>
            <a:off x="1346150" y="436419"/>
            <a:ext cx="15595699" cy="1846659"/>
          </a:xfrm>
          <a:prstGeom prst="rect">
            <a:avLst/>
          </a:prstGeom>
        </p:spPr>
        <p:txBody>
          <a:bodyPr lIns="0" tIns="0" rIns="0" bIns="0" rtlCol="0" anchor="t">
            <a:spAutoFit/>
          </a:bodyPr>
          <a:lstStyle/>
          <a:p>
            <a:pPr algn="ctr">
              <a:spcBef>
                <a:spcPct val="0"/>
              </a:spcBef>
            </a:pPr>
            <a:r>
              <a:rPr lang="es-MX" sz="6000" b="1" dirty="0">
                <a:solidFill>
                  <a:schemeClr val="bg1"/>
                </a:solidFill>
                <a:latin typeface="Glacial Indifference Bold"/>
                <a:ea typeface="Glacial Indifference Bold"/>
                <a:cs typeface="Glacial Indifference Bold"/>
                <a:sym typeface="Glacial Indifference Bold"/>
              </a:rPr>
              <a:t>¿Utiliza inteligencia artificial en su trabajo o estudios?</a:t>
            </a:r>
            <a:endParaRPr lang="en-US" sz="6000" b="1" dirty="0">
              <a:solidFill>
                <a:schemeClr val="bg1"/>
              </a:solidFill>
              <a:latin typeface="Glacial Indifference Bold"/>
              <a:ea typeface="Glacial Indifference Bold"/>
              <a:cs typeface="Glacial Indifference Bold"/>
              <a:sym typeface="Glacial Indifference Bold"/>
            </a:endParaRPr>
          </a:p>
        </p:txBody>
      </p:sp>
      <p:sp>
        <p:nvSpPr>
          <p:cNvPr id="4" name="Rectangle 4">
            <a:extLst>
              <a:ext uri="{FF2B5EF4-FFF2-40B4-BE49-F238E27FC236}">
                <a16:creationId xmlns:a16="http://schemas.microsoft.com/office/drawing/2014/main" id="{A1F081A5-1881-F845-2124-33213710B9E1}"/>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Nominal</a:t>
            </a:r>
          </a:p>
          <a:p>
            <a:pPr marL="0" marR="0" lvl="0" indent="0" algn="l" defTabSz="914400" rtl="0" eaLnBrk="0" fontAlgn="base" latinLnBrk="0" hangingPunct="0">
              <a:lnSpc>
                <a:spcPct val="100000"/>
              </a:lnSpc>
              <a:spcBef>
                <a:spcPct val="0"/>
              </a:spcBef>
              <a:spcAft>
                <a:spcPct val="0"/>
              </a:spcAft>
              <a:buClrTx/>
              <a:buSzTx/>
              <a:tabLst/>
            </a:pP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a:t>
            </a:r>
            <a:r>
              <a:rPr lang="es-ES" altLang="es-ES" sz="2800" b="1" dirty="0" err="1">
                <a:solidFill>
                  <a:schemeClr val="bg1"/>
                </a:solidFill>
                <a:latin typeface="Arial" panose="020B0604020202020204" pitchFamily="34" charset="0"/>
              </a:rPr>
              <a:t>Dicotomica</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2BE8BAF9-2358-8D32-6BCD-84BD01ED6F92}"/>
              </a:ext>
            </a:extLst>
          </p:cNvPr>
          <p:cNvSpPr>
            <a:spLocks noChangeArrowheads="1"/>
          </p:cNvSpPr>
          <p:nvPr/>
        </p:nvSpPr>
        <p:spPr bwMode="auto">
          <a:xfrm>
            <a:off x="609599" y="5718064"/>
            <a:ext cx="717001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 Medida de tendencia central: Moda: No la utilizo en absoluto (49 respuestas))</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Medida de posición: Mediana</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Media: 2.12</a:t>
            </a:r>
            <a:endParaRPr kumimoji="0" lang="es-ES" altLang="es-ES" sz="2800" b="1" i="0" u="none" strike="noStrike" cap="none" normalizeH="0" baseline="0" dirty="0">
              <a:ln>
                <a:noFill/>
              </a:ln>
              <a:solidFill>
                <a:schemeClr val="bg1"/>
              </a:solidFill>
              <a:effectLst/>
              <a:latin typeface="Arial" panose="020B0604020202020204" pitchFamily="34" charset="0"/>
            </a:endParaRPr>
          </a:p>
        </p:txBody>
      </p:sp>
      <p:pic>
        <p:nvPicPr>
          <p:cNvPr id="7" name="Imagen 6">
            <a:extLst>
              <a:ext uri="{FF2B5EF4-FFF2-40B4-BE49-F238E27FC236}">
                <a16:creationId xmlns:a16="http://schemas.microsoft.com/office/drawing/2014/main" id="{FCBBFDA0-A3A4-A698-015F-ADB1140DC318}"/>
              </a:ext>
            </a:extLst>
          </p:cNvPr>
          <p:cNvPicPr>
            <a:picLocks noChangeAspect="1"/>
          </p:cNvPicPr>
          <p:nvPr/>
        </p:nvPicPr>
        <p:blipFill>
          <a:blip r:embed="rId5"/>
          <a:stretch>
            <a:fillRect/>
          </a:stretch>
        </p:blipFill>
        <p:spPr>
          <a:xfrm>
            <a:off x="8229600" y="3695700"/>
            <a:ext cx="9171974" cy="4215784"/>
          </a:xfrm>
          <a:prstGeom prst="rect">
            <a:avLst/>
          </a:prstGeom>
        </p:spPr>
      </p:pic>
    </p:spTree>
    <p:extLst>
      <p:ext uri="{BB962C8B-B14F-4D97-AF65-F5344CB8AC3E}">
        <p14:creationId xmlns:p14="http://schemas.microsoft.com/office/powerpoint/2010/main" val="2185200900"/>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F37F2-C6B3-EAFD-48C0-C5A8E824EC6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8C9BB3B-C93B-004A-8F59-89C10FC14F04}"/>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p>
        </p:txBody>
      </p:sp>
      <p:sp>
        <p:nvSpPr>
          <p:cNvPr id="3" name="TextBox 5">
            <a:extLst>
              <a:ext uri="{FF2B5EF4-FFF2-40B4-BE49-F238E27FC236}">
                <a16:creationId xmlns:a16="http://schemas.microsoft.com/office/drawing/2014/main" id="{8BBDE849-E5DC-659C-F666-648ED985EEEF}"/>
              </a:ext>
            </a:extLst>
          </p:cNvPr>
          <p:cNvSpPr txBox="1"/>
          <p:nvPr/>
        </p:nvSpPr>
        <p:spPr>
          <a:xfrm>
            <a:off x="1346150" y="436419"/>
            <a:ext cx="15595699" cy="1846659"/>
          </a:xfrm>
          <a:prstGeom prst="rect">
            <a:avLst/>
          </a:prstGeom>
        </p:spPr>
        <p:txBody>
          <a:bodyPr lIns="0" tIns="0" rIns="0" bIns="0" rtlCol="0" anchor="t">
            <a:spAutoFit/>
          </a:bodyPr>
          <a:lstStyle/>
          <a:p>
            <a:pPr algn="ctr">
              <a:spcBef>
                <a:spcPct val="0"/>
              </a:spcBef>
            </a:pPr>
            <a:r>
              <a:rPr lang="es-MX" sz="6000" b="1" dirty="0">
                <a:solidFill>
                  <a:schemeClr val="bg1"/>
                </a:solidFill>
                <a:latin typeface="Glacial Indifference Bold"/>
                <a:ea typeface="Glacial Indifference Bold"/>
                <a:cs typeface="Glacial Indifference Bold"/>
                <a:sym typeface="Glacial Indifference Bold"/>
              </a:rPr>
              <a:t>Encuesta sobre la Integración de la Inteligencia Artificial en la Vida Moderna</a:t>
            </a:r>
            <a:endParaRPr lang="en-US" sz="6000" b="1" dirty="0">
              <a:solidFill>
                <a:schemeClr val="bg1"/>
              </a:solidFill>
              <a:latin typeface="Glacial Indifference Bold"/>
              <a:ea typeface="Glacial Indifference Bold"/>
              <a:cs typeface="Glacial Indifference Bold"/>
              <a:sym typeface="Glacial Indifference Bold"/>
            </a:endParaRPr>
          </a:p>
        </p:txBody>
      </p:sp>
      <p:sp>
        <p:nvSpPr>
          <p:cNvPr id="4" name="Rectangle 4">
            <a:extLst>
              <a:ext uri="{FF2B5EF4-FFF2-40B4-BE49-F238E27FC236}">
                <a16:creationId xmlns:a16="http://schemas.microsoft.com/office/drawing/2014/main" id="{75336FED-A06A-54F7-C0D7-D1ECD53CAF5D}"/>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Ordinal</a:t>
            </a:r>
          </a:p>
          <a:p>
            <a:pPr marL="0" marR="0" lvl="0" indent="0" algn="l" defTabSz="914400" rtl="0" eaLnBrk="0" fontAlgn="base" latinLnBrk="0" hangingPunct="0">
              <a:lnSpc>
                <a:spcPct val="100000"/>
              </a:lnSpc>
              <a:spcBef>
                <a:spcPct val="0"/>
              </a:spcBef>
              <a:spcAft>
                <a:spcPct val="0"/>
              </a:spcAft>
              <a:buClrTx/>
              <a:buSzTx/>
              <a:tabLst/>
            </a:pP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Ordinal</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F8924BE5-2749-DCB5-4CB4-900F061EFFBC}"/>
              </a:ext>
            </a:extLst>
          </p:cNvPr>
          <p:cNvSpPr>
            <a:spLocks noChangeArrowheads="1"/>
          </p:cNvSpPr>
          <p:nvPr/>
        </p:nvSpPr>
        <p:spPr bwMode="auto">
          <a:xfrm>
            <a:off x="609599" y="5502622"/>
            <a:ext cx="7170019"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Medida de tendencia central: Moda: De acuerdo (16 respuestas)</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 Mediana N = 35 → N/2 = 17.5 → posición 18</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Media: 2.</a:t>
            </a:r>
            <a:r>
              <a:rPr lang="es-MX" altLang="es-ES" sz="2800" b="1" dirty="0">
                <a:solidFill>
                  <a:schemeClr val="bg1"/>
                </a:solidFill>
                <a:latin typeface="Arial" panose="020B0604020202020204" pitchFamily="34" charset="0"/>
              </a:rPr>
              <a:t>71</a:t>
            </a:r>
            <a:endParaRPr kumimoji="0" lang="es-ES" altLang="es-ES" sz="2800" b="1" i="0" u="none" strike="noStrike" cap="none" normalizeH="0" baseline="0" dirty="0">
              <a:ln>
                <a:noFill/>
              </a:ln>
              <a:solidFill>
                <a:schemeClr val="bg1"/>
              </a:solidFill>
              <a:effectLst/>
              <a:latin typeface="Arial" panose="020B0604020202020204" pitchFamily="34" charset="0"/>
            </a:endParaRPr>
          </a:p>
        </p:txBody>
      </p:sp>
      <p:pic>
        <p:nvPicPr>
          <p:cNvPr id="8" name="Imagen 7">
            <a:extLst>
              <a:ext uri="{FF2B5EF4-FFF2-40B4-BE49-F238E27FC236}">
                <a16:creationId xmlns:a16="http://schemas.microsoft.com/office/drawing/2014/main" id="{E1D29973-740B-1F0B-CBE4-9C3A02036CFF}"/>
              </a:ext>
            </a:extLst>
          </p:cNvPr>
          <p:cNvPicPr>
            <a:picLocks noChangeAspect="1"/>
          </p:cNvPicPr>
          <p:nvPr/>
        </p:nvPicPr>
        <p:blipFill>
          <a:blip r:embed="rId5"/>
          <a:stretch>
            <a:fillRect/>
          </a:stretch>
        </p:blipFill>
        <p:spPr>
          <a:xfrm>
            <a:off x="8048738" y="3658112"/>
            <a:ext cx="9977761" cy="4834187"/>
          </a:xfrm>
          <a:prstGeom prst="rect">
            <a:avLst/>
          </a:prstGeom>
        </p:spPr>
      </p:pic>
    </p:spTree>
    <p:extLst>
      <p:ext uri="{BB962C8B-B14F-4D97-AF65-F5344CB8AC3E}">
        <p14:creationId xmlns:p14="http://schemas.microsoft.com/office/powerpoint/2010/main" val="1569039203"/>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46C1D-00C9-58C5-8666-2F3216CA6AD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B901EA-4382-3AA7-2BE2-B4F158D471CF}"/>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p>
        </p:txBody>
      </p:sp>
      <p:sp>
        <p:nvSpPr>
          <p:cNvPr id="3" name="TextBox 5">
            <a:extLst>
              <a:ext uri="{FF2B5EF4-FFF2-40B4-BE49-F238E27FC236}">
                <a16:creationId xmlns:a16="http://schemas.microsoft.com/office/drawing/2014/main" id="{83FEB657-F461-1FD0-280E-807A55B67EC8}"/>
              </a:ext>
            </a:extLst>
          </p:cNvPr>
          <p:cNvSpPr txBox="1"/>
          <p:nvPr/>
        </p:nvSpPr>
        <p:spPr>
          <a:xfrm>
            <a:off x="1346150" y="436419"/>
            <a:ext cx="15595699" cy="1846659"/>
          </a:xfrm>
          <a:prstGeom prst="rect">
            <a:avLst/>
          </a:prstGeom>
        </p:spPr>
        <p:txBody>
          <a:bodyPr lIns="0" tIns="0" rIns="0" bIns="0" rtlCol="0" anchor="t">
            <a:spAutoFit/>
          </a:bodyPr>
          <a:lstStyle/>
          <a:p>
            <a:pPr algn="ctr">
              <a:spcBef>
                <a:spcPct val="0"/>
              </a:spcBef>
            </a:pPr>
            <a:r>
              <a:rPr lang="es-MX" sz="6000" b="1" dirty="0">
                <a:solidFill>
                  <a:schemeClr val="bg1"/>
                </a:solidFill>
                <a:latin typeface="Glacial Indifference Bold"/>
                <a:ea typeface="Glacial Indifference Bold"/>
                <a:cs typeface="Glacial Indifference Bold"/>
                <a:sym typeface="Glacial Indifference Bold"/>
              </a:rPr>
              <a:t>¿Cómo utilizas la IA en tu trabajo o estudios? </a:t>
            </a:r>
            <a:endParaRPr lang="en-US" sz="6000" b="1" dirty="0">
              <a:solidFill>
                <a:schemeClr val="bg1"/>
              </a:solidFill>
              <a:latin typeface="Glacial Indifference Bold"/>
              <a:ea typeface="Glacial Indifference Bold"/>
              <a:cs typeface="Glacial Indifference Bold"/>
              <a:sym typeface="Glacial Indifference Bold"/>
            </a:endParaRPr>
          </a:p>
        </p:txBody>
      </p:sp>
      <p:sp>
        <p:nvSpPr>
          <p:cNvPr id="4" name="Rectangle 4">
            <a:extLst>
              <a:ext uri="{FF2B5EF4-FFF2-40B4-BE49-F238E27FC236}">
                <a16:creationId xmlns:a16="http://schemas.microsoft.com/office/drawing/2014/main" id="{3B5585AF-F816-91BF-4B57-534502EC783E}"/>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Nominal</a:t>
            </a:r>
          </a:p>
          <a:p>
            <a:pPr marL="0" marR="0" lvl="0" indent="0" algn="l" defTabSz="914400" rtl="0" eaLnBrk="0" fontAlgn="base" latinLnBrk="0" hangingPunct="0">
              <a:lnSpc>
                <a:spcPct val="100000"/>
              </a:lnSpc>
              <a:spcBef>
                <a:spcPct val="0"/>
              </a:spcBef>
              <a:spcAft>
                <a:spcPct val="0"/>
              </a:spcAft>
              <a:buClrTx/>
              <a:buSzTx/>
              <a:tabLst/>
            </a:pP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a:t>
            </a:r>
            <a:r>
              <a:rPr lang="es-ES" altLang="es-ES" sz="2800" b="1" dirty="0">
                <a:solidFill>
                  <a:schemeClr val="bg1"/>
                </a:solidFill>
                <a:latin typeface="Arial" panose="020B0604020202020204" pitchFamily="34" charset="0"/>
              </a:rPr>
              <a:t>Nominal</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6A4B66E7-8E1D-E979-3FA9-A4F825A40D52}"/>
              </a:ext>
            </a:extLst>
          </p:cNvPr>
          <p:cNvSpPr>
            <a:spLocks noChangeArrowheads="1"/>
          </p:cNvSpPr>
          <p:nvPr/>
        </p:nvSpPr>
        <p:spPr bwMode="auto">
          <a:xfrm>
            <a:off x="609599" y="5502622"/>
            <a:ext cx="7170019"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Medida de tendencia central: Moda: Investigación, con 22 menciones</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Medida de posición: </a:t>
            </a:r>
            <a:r>
              <a:rPr kumimoji="0" lang="es-MX" altLang="es-ES" sz="2800" b="1" i="0" u="none" strike="noStrike" cap="none" normalizeH="0" baseline="0" dirty="0" err="1">
                <a:ln>
                  <a:noFill/>
                </a:ln>
                <a:solidFill>
                  <a:schemeClr val="bg1"/>
                </a:solidFill>
                <a:effectLst/>
                <a:latin typeface="Arial" panose="020B0604020202020204" pitchFamily="34" charset="0"/>
              </a:rPr>
              <a:t>PorcentajesTotal</a:t>
            </a:r>
            <a:r>
              <a:rPr kumimoji="0" lang="es-MX" altLang="es-ES" sz="2800" b="1" i="0" u="none" strike="noStrike" cap="none" normalizeH="0" baseline="0" dirty="0">
                <a:ln>
                  <a:noFill/>
                </a:ln>
                <a:solidFill>
                  <a:schemeClr val="bg1"/>
                </a:solidFill>
                <a:effectLst/>
                <a:latin typeface="Arial" panose="020B0604020202020204" pitchFamily="34" charset="0"/>
              </a:rPr>
              <a:t> de menciones: 53</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 Medida de dispersión: Rango</a:t>
            </a:r>
            <a:endParaRPr kumimoji="0" lang="es-ES" altLang="es-ES" sz="2800" b="1" i="0" u="none" strike="noStrike" cap="none" normalizeH="0" baseline="0" dirty="0">
              <a:ln>
                <a:noFill/>
              </a:ln>
              <a:solidFill>
                <a:schemeClr val="bg1"/>
              </a:solidFill>
              <a:effectLst/>
              <a:latin typeface="Arial" panose="020B0604020202020204" pitchFamily="34" charset="0"/>
            </a:endParaRPr>
          </a:p>
        </p:txBody>
      </p:sp>
      <p:pic>
        <p:nvPicPr>
          <p:cNvPr id="7" name="Imagen 6">
            <a:extLst>
              <a:ext uri="{FF2B5EF4-FFF2-40B4-BE49-F238E27FC236}">
                <a16:creationId xmlns:a16="http://schemas.microsoft.com/office/drawing/2014/main" id="{456831E0-EE66-CAC5-C64A-02B7B9087182}"/>
              </a:ext>
            </a:extLst>
          </p:cNvPr>
          <p:cNvPicPr>
            <a:picLocks noChangeAspect="1"/>
          </p:cNvPicPr>
          <p:nvPr/>
        </p:nvPicPr>
        <p:blipFill>
          <a:blip r:embed="rId5"/>
          <a:stretch>
            <a:fillRect/>
          </a:stretch>
        </p:blipFill>
        <p:spPr>
          <a:xfrm>
            <a:off x="8770259" y="3126591"/>
            <a:ext cx="8534719" cy="5067490"/>
          </a:xfrm>
          <a:prstGeom prst="rect">
            <a:avLst/>
          </a:prstGeom>
        </p:spPr>
      </p:pic>
    </p:spTree>
    <p:extLst>
      <p:ext uri="{BB962C8B-B14F-4D97-AF65-F5344CB8AC3E}">
        <p14:creationId xmlns:p14="http://schemas.microsoft.com/office/powerpoint/2010/main" val="1085476536"/>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909B9-3F54-A8B0-0CA6-DD8C8972865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F9A854B-5A0C-1090-0FE3-A69D538B8E21}"/>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p>
        </p:txBody>
      </p:sp>
      <p:sp>
        <p:nvSpPr>
          <p:cNvPr id="3" name="TextBox 5">
            <a:extLst>
              <a:ext uri="{FF2B5EF4-FFF2-40B4-BE49-F238E27FC236}">
                <a16:creationId xmlns:a16="http://schemas.microsoft.com/office/drawing/2014/main" id="{1BB464F5-DA1D-EA20-EA36-31C686C108F2}"/>
              </a:ext>
            </a:extLst>
          </p:cNvPr>
          <p:cNvSpPr txBox="1"/>
          <p:nvPr/>
        </p:nvSpPr>
        <p:spPr>
          <a:xfrm>
            <a:off x="1346150" y="436419"/>
            <a:ext cx="15595699" cy="1846659"/>
          </a:xfrm>
          <a:prstGeom prst="rect">
            <a:avLst/>
          </a:prstGeom>
        </p:spPr>
        <p:txBody>
          <a:bodyPr lIns="0" tIns="0" rIns="0" bIns="0" rtlCol="0" anchor="t">
            <a:spAutoFit/>
          </a:bodyPr>
          <a:lstStyle/>
          <a:p>
            <a:pPr algn="ctr">
              <a:spcBef>
                <a:spcPct val="0"/>
              </a:spcBef>
            </a:pPr>
            <a:r>
              <a:rPr lang="es-MX" sz="6000" b="1" dirty="0">
                <a:solidFill>
                  <a:schemeClr val="bg1"/>
                </a:solidFill>
                <a:latin typeface="Glacial Indifference Bold"/>
                <a:ea typeface="Glacial Indifference Bold"/>
                <a:cs typeface="Glacial Indifference Bold"/>
                <a:sym typeface="Glacial Indifference Bold"/>
              </a:rPr>
              <a:t>¿Cuántas horas a la semana utilizas IA en tu trabajo o estudios? </a:t>
            </a:r>
            <a:endParaRPr lang="en-US" sz="6000" b="1" dirty="0">
              <a:solidFill>
                <a:schemeClr val="bg1"/>
              </a:solidFill>
              <a:latin typeface="Glacial Indifference Bold"/>
              <a:ea typeface="Glacial Indifference Bold"/>
              <a:cs typeface="Glacial Indifference Bold"/>
              <a:sym typeface="Glacial Indifference Bold"/>
            </a:endParaRPr>
          </a:p>
        </p:txBody>
      </p:sp>
      <p:sp>
        <p:nvSpPr>
          <p:cNvPr id="4" name="Rectangle 4">
            <a:extLst>
              <a:ext uri="{FF2B5EF4-FFF2-40B4-BE49-F238E27FC236}">
                <a16:creationId xmlns:a16="http://schemas.microsoft.com/office/drawing/2014/main" id="{3E10F3FD-EF2D-4319-86CC-4CBE57FD8820}"/>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Cuantitativa</a:t>
            </a:r>
          </a:p>
          <a:p>
            <a:pPr marL="0" marR="0" lvl="0" indent="0" algn="l" defTabSz="914400" rtl="0" eaLnBrk="0" fontAlgn="base" latinLnBrk="0" hangingPunct="0">
              <a:lnSpc>
                <a:spcPct val="100000"/>
              </a:lnSpc>
              <a:spcBef>
                <a:spcPct val="0"/>
              </a:spcBef>
              <a:spcAft>
                <a:spcPct val="0"/>
              </a:spcAft>
              <a:buClrTx/>
              <a:buSzTx/>
              <a:tabLst/>
            </a:pP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Ordinal</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5CAC2F38-C058-8A23-62F7-0CAA7FB4FD67}"/>
              </a:ext>
            </a:extLst>
          </p:cNvPr>
          <p:cNvSpPr>
            <a:spLocks noChangeArrowheads="1"/>
          </p:cNvSpPr>
          <p:nvPr/>
        </p:nvSpPr>
        <p:spPr bwMode="auto">
          <a:xfrm>
            <a:off x="609599" y="5502622"/>
            <a:ext cx="7170019"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Medida de tendencia central: Moda 0–4 horas </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MedianaN = 31 → N/2 = 15.5 → posición 16</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 Media estimada: 4.10 </a:t>
            </a:r>
            <a:endParaRPr kumimoji="0" lang="es-ES" altLang="es-ES" sz="2800" b="1" i="0" u="none" strike="noStrike" cap="none" normalizeH="0" baseline="0" dirty="0">
              <a:ln>
                <a:noFill/>
              </a:ln>
              <a:solidFill>
                <a:schemeClr val="bg1"/>
              </a:solidFill>
              <a:effectLst/>
              <a:latin typeface="Arial" panose="020B0604020202020204" pitchFamily="34" charset="0"/>
            </a:endParaRPr>
          </a:p>
        </p:txBody>
      </p:sp>
      <p:pic>
        <p:nvPicPr>
          <p:cNvPr id="8" name="Imagen 7">
            <a:extLst>
              <a:ext uri="{FF2B5EF4-FFF2-40B4-BE49-F238E27FC236}">
                <a16:creationId xmlns:a16="http://schemas.microsoft.com/office/drawing/2014/main" id="{80939821-E7B9-F31F-57DC-42DEBD5E114E}"/>
              </a:ext>
            </a:extLst>
          </p:cNvPr>
          <p:cNvPicPr>
            <a:picLocks noChangeAspect="1"/>
          </p:cNvPicPr>
          <p:nvPr/>
        </p:nvPicPr>
        <p:blipFill>
          <a:blip r:embed="rId5"/>
          <a:stretch>
            <a:fillRect/>
          </a:stretch>
        </p:blipFill>
        <p:spPr>
          <a:xfrm>
            <a:off x="8539572" y="3215134"/>
            <a:ext cx="9138828" cy="5564445"/>
          </a:xfrm>
          <a:prstGeom prst="rect">
            <a:avLst/>
          </a:prstGeom>
        </p:spPr>
      </p:pic>
    </p:spTree>
    <p:extLst>
      <p:ext uri="{BB962C8B-B14F-4D97-AF65-F5344CB8AC3E}">
        <p14:creationId xmlns:p14="http://schemas.microsoft.com/office/powerpoint/2010/main" val="2740663195"/>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3B6DC-1F06-7240-41B0-3982B666905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6550197-AC75-66F9-6BFB-304808CE400D}"/>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r>
              <a:rPr lang="es-MX" dirty="0"/>
              <a:t>5</a:t>
            </a:r>
            <a:endParaRPr lang="es-ES" dirty="0"/>
          </a:p>
        </p:txBody>
      </p:sp>
      <p:sp>
        <p:nvSpPr>
          <p:cNvPr id="3" name="TextBox 5">
            <a:extLst>
              <a:ext uri="{FF2B5EF4-FFF2-40B4-BE49-F238E27FC236}">
                <a16:creationId xmlns:a16="http://schemas.microsoft.com/office/drawing/2014/main" id="{8467F10D-AFC4-B275-DD13-263C30A22DA3}"/>
              </a:ext>
            </a:extLst>
          </p:cNvPr>
          <p:cNvSpPr txBox="1"/>
          <p:nvPr/>
        </p:nvSpPr>
        <p:spPr>
          <a:xfrm>
            <a:off x="669265" y="565565"/>
            <a:ext cx="16949470" cy="1846659"/>
          </a:xfrm>
          <a:prstGeom prst="rect">
            <a:avLst/>
          </a:prstGeom>
        </p:spPr>
        <p:txBody>
          <a:bodyPr wrap="square" lIns="0" tIns="0" rIns="0" bIns="0" rtlCol="0" anchor="t">
            <a:spAutoFit/>
          </a:bodyPr>
          <a:lstStyle/>
          <a:p>
            <a:pPr algn="ctr">
              <a:spcBef>
                <a:spcPct val="0"/>
              </a:spcBef>
            </a:pPr>
            <a:r>
              <a:rPr lang="es-MX" sz="6000" b="1" dirty="0">
                <a:solidFill>
                  <a:schemeClr val="bg1"/>
                </a:solidFill>
                <a:latin typeface="Glacial Indifference Bold"/>
                <a:ea typeface="Glacial Indifference Bold"/>
                <a:cs typeface="Glacial Indifference Bold"/>
                <a:sym typeface="Glacial Indifference Bold"/>
              </a:rPr>
              <a:t>¿Cuánto confías en la información proporcionada por IA en tu trabajo/estudios?</a:t>
            </a:r>
            <a:endParaRPr lang="en-US" sz="6000" b="1" dirty="0">
              <a:solidFill>
                <a:schemeClr val="bg1"/>
              </a:solidFill>
              <a:latin typeface="Glacial Indifference Bold"/>
              <a:ea typeface="Glacial Indifference Bold"/>
              <a:cs typeface="Glacial Indifference Bold"/>
              <a:sym typeface="Glacial Indifference Bold"/>
            </a:endParaRPr>
          </a:p>
        </p:txBody>
      </p:sp>
      <p:sp>
        <p:nvSpPr>
          <p:cNvPr id="4" name="Rectangle 4">
            <a:extLst>
              <a:ext uri="{FF2B5EF4-FFF2-40B4-BE49-F238E27FC236}">
                <a16:creationId xmlns:a16="http://schemas.microsoft.com/office/drawing/2014/main" id="{E0B1D14E-EE67-2048-8A85-B1D7608764FC}"/>
              </a:ext>
            </a:extLst>
          </p:cNvPr>
          <p:cNvSpPr>
            <a:spLocks noChangeArrowheads="1"/>
          </p:cNvSpPr>
          <p:nvPr/>
        </p:nvSpPr>
        <p:spPr bwMode="auto">
          <a:xfrm>
            <a:off x="609600" y="3164730"/>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de </a:t>
            </a:r>
            <a:r>
              <a:rPr lang="es-ES" altLang="es-ES" sz="2800" b="1" dirty="0" err="1">
                <a:solidFill>
                  <a:schemeClr val="bg1"/>
                </a:solidFill>
                <a:latin typeface="Arial" panose="020B0604020202020204" pitchFamily="34" charset="0"/>
              </a:rPr>
              <a:t>Razon</a:t>
            </a:r>
            <a:endParaRPr lang="es-ES"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discreta</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86C2A143-D775-1FC8-4F2A-E47E2E407D65}"/>
              </a:ext>
            </a:extLst>
          </p:cNvPr>
          <p:cNvSpPr>
            <a:spLocks noChangeArrowheads="1"/>
          </p:cNvSpPr>
          <p:nvPr/>
        </p:nvSpPr>
        <p:spPr bwMode="auto">
          <a:xfrm>
            <a:off x="609599" y="5718066"/>
            <a:ext cx="717001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 Medida de tendencia </a:t>
            </a:r>
            <a:r>
              <a:rPr lang="es-MX" altLang="es-ES" sz="2800" b="1" dirty="0" err="1">
                <a:solidFill>
                  <a:schemeClr val="bg1"/>
                </a:solidFill>
                <a:latin typeface="Arial" panose="020B0604020202020204" pitchFamily="34" charset="0"/>
              </a:rPr>
              <a:t>central:Moda</a:t>
            </a:r>
            <a:r>
              <a:rPr lang="es-MX" altLang="es-ES" sz="2800" b="1" dirty="0">
                <a:solidFill>
                  <a:schemeClr val="bg1"/>
                </a:solidFill>
                <a:latin typeface="Arial" panose="020B0604020202020204" pitchFamily="34" charset="0"/>
              </a:rPr>
              <a:t>:  5 es el valor más frecuente (7 veces)</a:t>
            </a:r>
          </a:p>
          <a:p>
            <a:pPr marL="0" marR="0" lvl="0" indent="0" algn="l" defTabSz="914400" rtl="0" eaLnBrk="0" fontAlgn="base" latinLnBrk="0" hangingPunct="0">
              <a:lnSpc>
                <a:spcPct val="100000"/>
              </a:lnSpc>
              <a:spcBef>
                <a:spcPct val="0"/>
              </a:spcBef>
              <a:spcAft>
                <a:spcPct val="0"/>
              </a:spcAft>
              <a:buClrTx/>
              <a:buSzTx/>
              <a:tabLst/>
            </a:pP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Medida de dispersión:</a:t>
            </a:r>
            <a:r>
              <a:rPr lang="es-MX" altLang="es-ES" sz="2800" b="1" dirty="0">
                <a:solidFill>
                  <a:schemeClr val="bg1"/>
                </a:solidFill>
                <a:latin typeface="Arial" panose="020B0604020202020204" pitchFamily="34" charset="0"/>
              </a:rPr>
              <a:t> desviación estándar: 2.05</a:t>
            </a:r>
            <a:endParaRPr kumimoji="0" lang="es-MX" altLang="es-E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p:txBody>
      </p:sp>
      <p:pic>
        <p:nvPicPr>
          <p:cNvPr id="7" name="Imagen 6">
            <a:extLst>
              <a:ext uri="{FF2B5EF4-FFF2-40B4-BE49-F238E27FC236}">
                <a16:creationId xmlns:a16="http://schemas.microsoft.com/office/drawing/2014/main" id="{BAFFC27D-F3BB-E253-1392-9DB53159C7AE}"/>
              </a:ext>
            </a:extLst>
          </p:cNvPr>
          <p:cNvPicPr>
            <a:picLocks noChangeAspect="1"/>
          </p:cNvPicPr>
          <p:nvPr/>
        </p:nvPicPr>
        <p:blipFill>
          <a:blip r:embed="rId5"/>
          <a:stretch>
            <a:fillRect/>
          </a:stretch>
        </p:blipFill>
        <p:spPr>
          <a:xfrm>
            <a:off x="7779618" y="4341098"/>
            <a:ext cx="10205025" cy="3405323"/>
          </a:xfrm>
          <a:prstGeom prst="rect">
            <a:avLst/>
          </a:prstGeom>
        </p:spPr>
      </p:pic>
    </p:spTree>
    <p:extLst>
      <p:ext uri="{BB962C8B-B14F-4D97-AF65-F5344CB8AC3E}">
        <p14:creationId xmlns:p14="http://schemas.microsoft.com/office/powerpoint/2010/main" val="3612382716"/>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AEA77-2372-9453-0329-F1A137E93E8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8ADB39D-F837-A59B-5045-3CD751929356}"/>
              </a:ext>
            </a:extLst>
          </p:cNvPr>
          <p:cNvSpPr>
            <a:spLocks noGrp="1" noRot="1" noMove="1" noResize="1" noEditPoints="1" noAdjustHandles="1" noChangeArrowheads="1" noChangeShapeType="1"/>
          </p:cNvSpPr>
          <p:nvPr/>
        </p:nvSpPr>
        <p:spPr>
          <a:xfrm flipH="1">
            <a:off x="762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r>
              <a:rPr lang="es-MX" dirty="0"/>
              <a:t>5</a:t>
            </a:r>
            <a:endParaRPr lang="es-ES" dirty="0"/>
          </a:p>
        </p:txBody>
      </p:sp>
      <p:sp>
        <p:nvSpPr>
          <p:cNvPr id="3" name="TextBox 5">
            <a:extLst>
              <a:ext uri="{FF2B5EF4-FFF2-40B4-BE49-F238E27FC236}">
                <a16:creationId xmlns:a16="http://schemas.microsoft.com/office/drawing/2014/main" id="{91F85446-82DC-6737-5619-7D28C9BDCD94}"/>
              </a:ext>
            </a:extLst>
          </p:cNvPr>
          <p:cNvSpPr txBox="1"/>
          <p:nvPr/>
        </p:nvSpPr>
        <p:spPr>
          <a:xfrm>
            <a:off x="669265" y="565565"/>
            <a:ext cx="16949470" cy="2769989"/>
          </a:xfrm>
          <a:prstGeom prst="rect">
            <a:avLst/>
          </a:prstGeom>
        </p:spPr>
        <p:txBody>
          <a:bodyPr wrap="square" lIns="0" tIns="0" rIns="0" bIns="0" rtlCol="0" anchor="t">
            <a:spAutoFit/>
          </a:bodyPr>
          <a:lstStyle/>
          <a:p>
            <a:pPr algn="ctr">
              <a:spcBef>
                <a:spcPct val="0"/>
              </a:spcBef>
            </a:pPr>
            <a:r>
              <a:rPr lang="es-MX" sz="6000" b="1" dirty="0">
                <a:solidFill>
                  <a:schemeClr val="bg1"/>
                </a:solidFill>
                <a:latin typeface="Glacial Indifference Bold"/>
                <a:ea typeface="Glacial Indifference Bold"/>
                <a:cs typeface="Glacial Indifference Bold"/>
                <a:sym typeface="Glacial Indifference Bold"/>
              </a:rPr>
              <a:t>¿Has pagado o considerarías pagar por herramientas de IA para mejorar tu trabajo o estudios?</a:t>
            </a:r>
            <a:endParaRPr lang="en-US" sz="6000" b="1" dirty="0">
              <a:solidFill>
                <a:schemeClr val="bg1"/>
              </a:solidFill>
              <a:latin typeface="Glacial Indifference Bold"/>
              <a:ea typeface="Glacial Indifference Bold"/>
              <a:cs typeface="Glacial Indifference Bold"/>
              <a:sym typeface="Glacial Indifference Bold"/>
            </a:endParaRPr>
          </a:p>
        </p:txBody>
      </p:sp>
      <p:sp>
        <p:nvSpPr>
          <p:cNvPr id="4" name="Rectangle 4">
            <a:extLst>
              <a:ext uri="{FF2B5EF4-FFF2-40B4-BE49-F238E27FC236}">
                <a16:creationId xmlns:a16="http://schemas.microsoft.com/office/drawing/2014/main" id="{67D38E07-AB59-2D3F-07E1-02D4492FC096}"/>
              </a:ext>
            </a:extLst>
          </p:cNvPr>
          <p:cNvSpPr>
            <a:spLocks noChangeArrowheads="1"/>
          </p:cNvSpPr>
          <p:nvPr/>
        </p:nvSpPr>
        <p:spPr bwMode="auto">
          <a:xfrm>
            <a:off x="11052225" y="8456963"/>
            <a:ext cx="717001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E</a:t>
            </a:r>
            <a:r>
              <a:rPr lang="es-ES" altLang="es-ES" sz="2800" b="1" dirty="0" err="1">
                <a:solidFill>
                  <a:schemeClr val="bg1"/>
                </a:solidFill>
                <a:latin typeface="Arial" panose="020B0604020202020204" pitchFamily="34" charset="0"/>
              </a:rPr>
              <a:t>scala</a:t>
            </a:r>
            <a:r>
              <a:rPr lang="es-ES" altLang="es-ES" sz="2800" b="1" dirty="0">
                <a:solidFill>
                  <a:schemeClr val="bg1"/>
                </a:solidFill>
                <a:latin typeface="Arial" panose="020B0604020202020204" pitchFamily="34" charset="0"/>
              </a:rPr>
              <a:t> de medición: Escala Ordinal</a:t>
            </a:r>
          </a:p>
          <a:p>
            <a:pPr marL="0" marR="0" lvl="0" indent="0" algn="l" defTabSz="914400" rtl="0" eaLnBrk="0" fontAlgn="base" latinLnBrk="0" hangingPunct="0">
              <a:lnSpc>
                <a:spcPct val="100000"/>
              </a:lnSpc>
              <a:spcBef>
                <a:spcPct val="0"/>
              </a:spcBef>
              <a:spcAft>
                <a:spcPct val="0"/>
              </a:spcAft>
              <a:buClrTx/>
              <a:buSzTx/>
              <a:tabLst/>
            </a:pPr>
            <a:r>
              <a:rPr kumimoji="0" lang="es-ES" altLang="es-ES" sz="2800" b="1" i="0" u="none" strike="noStrike" cap="none" normalizeH="0" baseline="0" dirty="0">
                <a:ln>
                  <a:noFill/>
                </a:ln>
                <a:solidFill>
                  <a:schemeClr val="bg1"/>
                </a:solidFill>
                <a:effectLst/>
                <a:latin typeface="Arial" panose="020B0604020202020204" pitchFamily="34" charset="0"/>
              </a:rPr>
              <a:t>Tipo de Variable: Cualitativa </a:t>
            </a:r>
            <a:r>
              <a:rPr lang="es-ES" altLang="es-ES" sz="2800" b="1" dirty="0">
                <a:solidFill>
                  <a:schemeClr val="bg1"/>
                </a:solidFill>
                <a:latin typeface="Arial" panose="020B0604020202020204" pitchFamily="34" charset="0"/>
              </a:rPr>
              <a:t>Ordinal </a:t>
            </a:r>
            <a:endParaRPr kumimoji="0" lang="es-ES" altLang="es-ES" sz="2800" b="0" i="0" u="none" strike="noStrike" cap="none" normalizeH="0" baseline="0" dirty="0">
              <a:ln>
                <a:noFill/>
              </a:ln>
              <a:solidFill>
                <a:schemeClr val="bg1"/>
              </a:solidFill>
              <a:effectLst/>
              <a:latin typeface="Arial" panose="020B0604020202020204" pitchFamily="34" charset="0"/>
            </a:endParaRPr>
          </a:p>
        </p:txBody>
      </p:sp>
      <p:sp>
        <p:nvSpPr>
          <p:cNvPr id="5" name="Rectangle 4">
            <a:extLst>
              <a:ext uri="{FF2B5EF4-FFF2-40B4-BE49-F238E27FC236}">
                <a16:creationId xmlns:a16="http://schemas.microsoft.com/office/drawing/2014/main" id="{0CFC6B04-1417-9A50-6ED5-45F299786FB1}"/>
              </a:ext>
            </a:extLst>
          </p:cNvPr>
          <p:cNvSpPr>
            <a:spLocks noChangeArrowheads="1"/>
          </p:cNvSpPr>
          <p:nvPr/>
        </p:nvSpPr>
        <p:spPr bwMode="auto">
          <a:xfrm>
            <a:off x="763696" y="2718257"/>
            <a:ext cx="7170019" cy="7417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Hay dos modas: “No, prefiero utilizar opciones gratuitas” y “Sí, ya pago por herramientas de IA”, ambas con 11 respuestas.</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MX" altLang="es-ES" sz="2800" b="1" i="0" u="none" strike="noStrike" cap="none" normalizeH="0" baseline="0" dirty="0">
                <a:ln>
                  <a:noFill/>
                </a:ln>
                <a:solidFill>
                  <a:schemeClr val="bg1"/>
                </a:solidFill>
                <a:effectLst/>
                <a:latin typeface="Arial" panose="020B0604020202020204" pitchFamily="34" charset="0"/>
              </a:rPr>
              <a:t> Mediana N = 35 → N/2 = 17.5 → posición 18Acumuladas: “Gratuitas”: 12 “Consideraría pagar”: 12 + 11 = 23→ La mediana es: “No, pero consideraría pagar en el futuro” </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Media aproximada Media=7035=2.00Media= 3570​ =2.00→ Exactamente el valor de la opción “No, pero consideraría pagar”4.</a:t>
            </a:r>
          </a:p>
          <a:p>
            <a:pPr marL="0" marR="0" lvl="0" indent="0" algn="l" defTabSz="914400" rtl="0" eaLnBrk="0" fontAlgn="base" latinLnBrk="0" hangingPunct="0">
              <a:lnSpc>
                <a:spcPct val="100000"/>
              </a:lnSpc>
              <a:spcBef>
                <a:spcPct val="0"/>
              </a:spcBef>
              <a:spcAft>
                <a:spcPct val="0"/>
              </a:spcAft>
              <a:buClrTx/>
              <a:buSzTx/>
              <a:tabLst/>
            </a:pPr>
            <a:endParaRPr lang="es-MX" altLang="es-ES" sz="2800" b="1"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s-MX" altLang="es-ES" sz="2800" b="1" dirty="0">
                <a:solidFill>
                  <a:schemeClr val="bg1"/>
                </a:solidFill>
                <a:latin typeface="Arial" panose="020B0604020202020204" pitchFamily="34" charset="0"/>
              </a:rPr>
              <a:t>Rango = 3 - 1 = 2 niveles</a:t>
            </a:r>
          </a:p>
        </p:txBody>
      </p:sp>
      <p:pic>
        <p:nvPicPr>
          <p:cNvPr id="8" name="Imagen 7">
            <a:extLst>
              <a:ext uri="{FF2B5EF4-FFF2-40B4-BE49-F238E27FC236}">
                <a16:creationId xmlns:a16="http://schemas.microsoft.com/office/drawing/2014/main" id="{998579DF-224E-A535-535B-D13F3BBF3052}"/>
              </a:ext>
            </a:extLst>
          </p:cNvPr>
          <p:cNvPicPr>
            <a:picLocks noChangeAspect="1"/>
          </p:cNvPicPr>
          <p:nvPr/>
        </p:nvPicPr>
        <p:blipFill>
          <a:blip r:embed="rId5"/>
          <a:stretch>
            <a:fillRect/>
          </a:stretch>
        </p:blipFill>
        <p:spPr>
          <a:xfrm>
            <a:off x="8610600" y="3980389"/>
            <a:ext cx="9371539" cy="3600644"/>
          </a:xfrm>
          <a:prstGeom prst="rect">
            <a:avLst/>
          </a:prstGeom>
        </p:spPr>
      </p:pic>
    </p:spTree>
    <p:extLst>
      <p:ext uri="{BB962C8B-B14F-4D97-AF65-F5344CB8AC3E}">
        <p14:creationId xmlns:p14="http://schemas.microsoft.com/office/powerpoint/2010/main" val="2034613173"/>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2">
            <a:extLst>
              <a:ext uri="{FF2B5EF4-FFF2-40B4-BE49-F238E27FC236}">
                <a16:creationId xmlns:a16="http://schemas.microsoft.com/office/drawing/2014/main" id="{3BD7B3EA-C169-F15F-552F-CD2FA0CFEE79}"/>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a:solidFill>
                <a:schemeClr val="bg1"/>
              </a:solidFill>
            </a:endParaRPr>
          </a:p>
        </p:txBody>
      </p:sp>
      <p:sp>
        <p:nvSpPr>
          <p:cNvPr id="5" name="TextBox 5"/>
          <p:cNvSpPr txBox="1"/>
          <p:nvPr/>
        </p:nvSpPr>
        <p:spPr>
          <a:xfrm>
            <a:off x="1143000" y="493985"/>
            <a:ext cx="15595699" cy="2898229"/>
          </a:xfrm>
          <a:prstGeom prst="rect">
            <a:avLst/>
          </a:prstGeom>
        </p:spPr>
        <p:txBody>
          <a:bodyPr lIns="0" tIns="0" rIns="0" bIns="0" rtlCol="0" anchor="t">
            <a:spAutoFit/>
          </a:bodyPr>
          <a:lstStyle/>
          <a:p>
            <a:pPr algn="ctr">
              <a:lnSpc>
                <a:spcPts val="11307"/>
              </a:lnSpc>
              <a:spcBef>
                <a:spcPct val="0"/>
              </a:spcBef>
            </a:pPr>
            <a:r>
              <a:rPr lang="es-MX" sz="10006" b="1" dirty="0">
                <a:solidFill>
                  <a:schemeClr val="bg1"/>
                </a:solidFill>
                <a:latin typeface="Glacial Indifference Bold"/>
                <a:ea typeface="Glacial Indifference Bold"/>
                <a:cs typeface="Glacial Indifference Bold"/>
                <a:sym typeface="Glacial Indifference Bold"/>
              </a:rPr>
              <a:t>3 conclusiones de las preguntas cuantitativas</a:t>
            </a:r>
            <a:endParaRPr lang="en-US" sz="10006" b="1" dirty="0">
              <a:solidFill>
                <a:schemeClr val="bg1"/>
              </a:solidFill>
              <a:latin typeface="Glacial Indifference Bold"/>
              <a:ea typeface="Glacial Indifference Bold"/>
              <a:cs typeface="Glacial Indifference Bold"/>
              <a:sym typeface="Glacial Indifference Bold"/>
            </a:endParaRPr>
          </a:p>
        </p:txBody>
      </p:sp>
      <p:pic>
        <p:nvPicPr>
          <p:cNvPr id="8" name="Imagen 7">
            <a:extLst>
              <a:ext uri="{FF2B5EF4-FFF2-40B4-BE49-F238E27FC236}">
                <a16:creationId xmlns:a16="http://schemas.microsoft.com/office/drawing/2014/main" id="{26641289-9BE6-FC71-D0C3-83B7FF9919B4}"/>
              </a:ext>
            </a:extLst>
          </p:cNvPr>
          <p:cNvPicPr>
            <a:picLocks noChangeAspect="1"/>
          </p:cNvPicPr>
          <p:nvPr/>
        </p:nvPicPr>
        <p:blipFill>
          <a:blip r:embed="rId5"/>
          <a:stretch>
            <a:fillRect/>
          </a:stretch>
        </p:blipFill>
        <p:spPr>
          <a:xfrm>
            <a:off x="685799" y="3543300"/>
            <a:ext cx="8993775" cy="4800600"/>
          </a:xfrm>
          <a:prstGeom prst="rect">
            <a:avLst/>
          </a:prstGeom>
        </p:spPr>
      </p:pic>
      <p:sp>
        <p:nvSpPr>
          <p:cNvPr id="12" name="Rectangle 4">
            <a:extLst>
              <a:ext uri="{FF2B5EF4-FFF2-40B4-BE49-F238E27FC236}">
                <a16:creationId xmlns:a16="http://schemas.microsoft.com/office/drawing/2014/main" id="{52E9A382-8124-DCEF-2B14-C7924C06E448}"/>
              </a:ext>
            </a:extLst>
          </p:cNvPr>
          <p:cNvSpPr>
            <a:spLocks noChangeArrowheads="1"/>
          </p:cNvSpPr>
          <p:nvPr/>
        </p:nvSpPr>
        <p:spPr bwMode="auto">
          <a:xfrm>
            <a:off x="9906000" y="4173886"/>
            <a:ext cx="717001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800" b="1" i="0" u="none" strike="noStrike" cap="none" normalizeH="0" baseline="0" dirty="0">
                <a:ln>
                  <a:noFill/>
                </a:ln>
                <a:solidFill>
                  <a:schemeClr val="bg1"/>
                </a:solidFill>
                <a:effectLst/>
                <a:latin typeface="Arial" panose="020B0604020202020204" pitchFamily="34" charset="0"/>
              </a:rPr>
              <a:t>El grupo etario más participativo es el de 18 a 25 años</a:t>
            </a:r>
          </a:p>
          <a:p>
            <a:pPr marL="0" marR="0" lvl="0" indent="0" algn="l" defTabSz="914400" rtl="0" eaLnBrk="0" fontAlgn="base" latinLnBrk="0" hangingPunct="0">
              <a:lnSpc>
                <a:spcPct val="100000"/>
              </a:lnSpc>
              <a:spcBef>
                <a:spcPct val="0"/>
              </a:spcBef>
              <a:spcAft>
                <a:spcPct val="0"/>
              </a:spcAft>
              <a:buClrTx/>
              <a:buSzTx/>
              <a:tabLst/>
            </a:pPr>
            <a:endParaRPr lang="es-ES" altLang="es-ES" sz="2800"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800" b="1" i="0" u="none" strike="noStrike" cap="none" normalizeH="0" baseline="0" dirty="0">
                <a:ln>
                  <a:noFill/>
                </a:ln>
                <a:solidFill>
                  <a:schemeClr val="bg1"/>
                </a:solidFill>
                <a:effectLst/>
                <a:latin typeface="Arial" panose="020B0604020202020204" pitchFamily="34" charset="0"/>
              </a:rPr>
              <a:t>Las personas mayores de 30 años participaron significativamente menos</a:t>
            </a:r>
            <a:r>
              <a:rPr kumimoji="0" lang="es-ES" altLang="es-ES" sz="2800" b="0" i="0" u="none" strike="noStrike" cap="none" normalizeH="0" baseline="0" dirty="0">
                <a:ln>
                  <a:noFill/>
                </a:ln>
                <a:solidFill>
                  <a:schemeClr val="bg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s-ES" altLang="es-ES" sz="2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800" b="1" i="0" u="none" strike="noStrike" cap="none" normalizeH="0" baseline="0" dirty="0">
                <a:ln>
                  <a:noFill/>
                </a:ln>
                <a:solidFill>
                  <a:schemeClr val="bg1"/>
                </a:solidFill>
                <a:effectLst/>
                <a:latin typeface="Arial" panose="020B0604020202020204" pitchFamily="34" charset="0"/>
              </a:rPr>
              <a:t>La mayoría de las respuestas provienen de personas menores de 30 años</a:t>
            </a:r>
            <a:r>
              <a:rPr kumimoji="0" lang="es-ES" altLang="es-ES" sz="2800" b="0" i="0" u="none" strike="noStrike" cap="none" normalizeH="0" baseline="0" dirty="0">
                <a:ln>
                  <a:noFill/>
                </a:ln>
                <a:solidFill>
                  <a:schemeClr val="bg1"/>
                </a:solidFill>
                <a:effectLst/>
                <a:latin typeface="Arial" panose="020B0604020202020204" pitchFamily="34" charset="0"/>
              </a:rPr>
              <a:t>.</a:t>
            </a:r>
          </a:p>
        </p:txBody>
      </p:sp>
    </p:spTree>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2">
            <a:extLst>
              <a:ext uri="{FF2B5EF4-FFF2-40B4-BE49-F238E27FC236}">
                <a16:creationId xmlns:a16="http://schemas.microsoft.com/office/drawing/2014/main" id="{7DAAA677-4911-9E08-3D19-B2CC519F6A29}"/>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4"/>
            <a:stretch>
              <a:fillRect/>
            </a:stretch>
          </a:blipFill>
        </p:spPr>
        <p:txBody>
          <a:bodyPr/>
          <a:lstStyle/>
          <a:p>
            <a:endParaRPr lang="es-ES" dirty="0">
              <a:solidFill>
                <a:schemeClr val="bg1"/>
              </a:solidFill>
            </a:endParaRPr>
          </a:p>
        </p:txBody>
      </p:sp>
      <p:sp>
        <p:nvSpPr>
          <p:cNvPr id="5" name="TextBox 5"/>
          <p:cNvSpPr txBox="1"/>
          <p:nvPr/>
        </p:nvSpPr>
        <p:spPr>
          <a:xfrm>
            <a:off x="0" y="1057275"/>
            <a:ext cx="18288000" cy="1689886"/>
          </a:xfrm>
          <a:prstGeom prst="rect">
            <a:avLst/>
          </a:prstGeom>
        </p:spPr>
        <p:txBody>
          <a:bodyPr lIns="0" tIns="0" rIns="0" bIns="0" rtlCol="0" anchor="t">
            <a:spAutoFit/>
          </a:bodyPr>
          <a:lstStyle/>
          <a:p>
            <a:pPr algn="ctr">
              <a:lnSpc>
                <a:spcPts val="6110"/>
              </a:lnSpc>
              <a:spcBef>
                <a:spcPct val="0"/>
              </a:spcBef>
            </a:pPr>
            <a:r>
              <a:rPr lang="es-MX" sz="5407" b="1" dirty="0">
                <a:solidFill>
                  <a:schemeClr val="bg1"/>
                </a:solidFill>
                <a:latin typeface="Glacial Indifference Bold"/>
                <a:ea typeface="Glacial Indifference Bold"/>
                <a:cs typeface="Glacial Indifference Bold"/>
                <a:sym typeface="Glacial Indifference Bold"/>
              </a:rPr>
              <a:t> </a:t>
            </a:r>
            <a:r>
              <a:rPr lang="es-MX" sz="10010" b="1" dirty="0">
                <a:solidFill>
                  <a:schemeClr val="bg1"/>
                </a:solidFill>
                <a:latin typeface="Glacial Indifference Bold"/>
                <a:ea typeface="Glacial Indifference Bold"/>
                <a:cs typeface="Glacial Indifference Bold"/>
                <a:sym typeface="Glacial Indifference Bold"/>
              </a:rPr>
              <a:t>3 conclusiones de las preguntas de alternativas </a:t>
            </a:r>
            <a:endParaRPr lang="en-US" sz="10010" b="1" dirty="0">
              <a:solidFill>
                <a:schemeClr val="bg1"/>
              </a:solidFill>
              <a:latin typeface="Glacial Indifference Bold"/>
              <a:ea typeface="Glacial Indifference Bold"/>
              <a:cs typeface="Glacial Indifference Bold"/>
              <a:sym typeface="Glacial Indifference Bold"/>
            </a:endParaRPr>
          </a:p>
        </p:txBody>
      </p:sp>
      <p:sp>
        <p:nvSpPr>
          <p:cNvPr id="8" name="CuadroTexto 7">
            <a:extLst>
              <a:ext uri="{FF2B5EF4-FFF2-40B4-BE49-F238E27FC236}">
                <a16:creationId xmlns:a16="http://schemas.microsoft.com/office/drawing/2014/main" id="{F701814F-8A26-EBFD-C12D-7929433E2252}"/>
              </a:ext>
            </a:extLst>
          </p:cNvPr>
          <p:cNvSpPr txBox="1"/>
          <p:nvPr/>
        </p:nvSpPr>
        <p:spPr>
          <a:xfrm>
            <a:off x="9448800" y="3771900"/>
            <a:ext cx="7772400" cy="4031873"/>
          </a:xfrm>
          <a:prstGeom prst="rect">
            <a:avLst/>
          </a:prstGeom>
          <a:noFill/>
        </p:spPr>
        <p:txBody>
          <a:bodyPr wrap="square">
            <a:spAutoFit/>
          </a:bodyPr>
          <a:lstStyle/>
          <a:p>
            <a:r>
              <a:rPr lang="es-MX" sz="3200">
                <a:solidFill>
                  <a:schemeClr val="bg1"/>
                </a:solidFill>
                <a:latin typeface="Glacial Indifference Bold" panose="020B0604020202020204" charset="0"/>
              </a:rPr>
              <a:t>El sector entretenimiento es percibido como el más impactado por la IA</a:t>
            </a:r>
          </a:p>
          <a:p>
            <a:endParaRPr lang="es-MX" sz="3200">
              <a:solidFill>
                <a:schemeClr val="bg1"/>
              </a:solidFill>
              <a:latin typeface="Glacial Indifference Bold" panose="020B0604020202020204" charset="0"/>
            </a:endParaRPr>
          </a:p>
          <a:p>
            <a:r>
              <a:rPr lang="es-MX" sz="3200">
                <a:solidFill>
                  <a:schemeClr val="bg1"/>
                </a:solidFill>
                <a:latin typeface="Glacial Indifference Bold" panose="020B0604020202020204" charset="0"/>
              </a:rPr>
              <a:t>Educación también se destaca como un sector altamente impactado</a:t>
            </a:r>
          </a:p>
          <a:p>
            <a:endParaRPr lang="es-MX" sz="3200">
              <a:solidFill>
                <a:schemeClr val="bg1"/>
              </a:solidFill>
              <a:latin typeface="Glacial Indifference Bold" panose="020B0604020202020204" charset="0"/>
            </a:endParaRPr>
          </a:p>
          <a:p>
            <a:r>
              <a:rPr lang="es-MX" sz="3200">
                <a:solidFill>
                  <a:schemeClr val="bg1"/>
                </a:solidFill>
                <a:latin typeface="Glacial Indifference Bold" panose="020B0604020202020204" charset="0"/>
              </a:rPr>
              <a:t>Agricultura es el sector menos mencionado</a:t>
            </a:r>
            <a:endParaRPr lang="es-ES" sz="3200" dirty="0">
              <a:solidFill>
                <a:schemeClr val="bg1"/>
              </a:solidFill>
              <a:latin typeface="Glacial Indifference Bold" panose="020B0604020202020204" charset="0"/>
            </a:endParaRPr>
          </a:p>
        </p:txBody>
      </p:sp>
      <p:pic>
        <p:nvPicPr>
          <p:cNvPr id="10" name="Imagen 9">
            <a:extLst>
              <a:ext uri="{FF2B5EF4-FFF2-40B4-BE49-F238E27FC236}">
                <a16:creationId xmlns:a16="http://schemas.microsoft.com/office/drawing/2014/main" id="{F109E5B4-AA34-910B-38A1-6A8D90ADFE87}"/>
              </a:ext>
            </a:extLst>
          </p:cNvPr>
          <p:cNvPicPr>
            <a:picLocks noChangeAspect="1"/>
          </p:cNvPicPr>
          <p:nvPr/>
        </p:nvPicPr>
        <p:blipFill>
          <a:blip r:embed="rId5"/>
          <a:stretch>
            <a:fillRect/>
          </a:stretch>
        </p:blipFill>
        <p:spPr>
          <a:xfrm>
            <a:off x="171309" y="3467100"/>
            <a:ext cx="9285111" cy="533400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2">
            <a:extLst>
              <a:ext uri="{FF2B5EF4-FFF2-40B4-BE49-F238E27FC236}">
                <a16:creationId xmlns:a16="http://schemas.microsoft.com/office/drawing/2014/main" id="{E303A731-F36B-6432-96EE-3C9A30ED7D4E}"/>
              </a:ext>
            </a:extLst>
          </p:cNvPr>
          <p:cNvSpPr/>
          <p:nvPr/>
        </p:nvSpPr>
        <p:spPr>
          <a:xfrm flipH="1">
            <a:off x="0" y="-26035"/>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a:stretch>
          </a:blipFill>
        </p:spPr>
        <p:txBody>
          <a:bodyPr/>
          <a:lstStyle/>
          <a:p>
            <a:endParaRPr lang="es-ES">
              <a:solidFill>
                <a:schemeClr val="bg1"/>
              </a:solidFill>
            </a:endParaRPr>
          </a:p>
        </p:txBody>
      </p:sp>
      <p:pic>
        <p:nvPicPr>
          <p:cNvPr id="10" name="Imagen 9">
            <a:extLst>
              <a:ext uri="{FF2B5EF4-FFF2-40B4-BE49-F238E27FC236}">
                <a16:creationId xmlns:a16="http://schemas.microsoft.com/office/drawing/2014/main" id="{33D5CF48-8DDE-CB60-B4FE-5CF9455D6795}"/>
              </a:ext>
            </a:extLst>
          </p:cNvPr>
          <p:cNvPicPr>
            <a:picLocks noChangeAspect="1"/>
          </p:cNvPicPr>
          <p:nvPr/>
        </p:nvPicPr>
        <p:blipFill>
          <a:blip r:embed="rId4"/>
          <a:stretch>
            <a:fillRect/>
          </a:stretch>
        </p:blipFill>
        <p:spPr>
          <a:xfrm>
            <a:off x="1143000" y="3314700"/>
            <a:ext cx="9261230" cy="5334000"/>
          </a:xfrm>
          <a:prstGeom prst="rect">
            <a:avLst/>
          </a:prstGeom>
        </p:spPr>
      </p:pic>
      <p:sp>
        <p:nvSpPr>
          <p:cNvPr id="4" name="TextBox 4"/>
          <p:cNvSpPr txBox="1"/>
          <p:nvPr/>
        </p:nvSpPr>
        <p:spPr>
          <a:xfrm>
            <a:off x="0" y="1174388"/>
            <a:ext cx="18288000" cy="2048959"/>
          </a:xfrm>
          <a:prstGeom prst="rect">
            <a:avLst/>
          </a:prstGeom>
        </p:spPr>
        <p:txBody>
          <a:bodyPr lIns="0" tIns="0" rIns="0" bIns="0" rtlCol="0" anchor="t">
            <a:spAutoFit/>
          </a:bodyPr>
          <a:lstStyle/>
          <a:p>
            <a:pPr algn="ctr">
              <a:lnSpc>
                <a:spcPts val="4867"/>
              </a:lnSpc>
              <a:spcBef>
                <a:spcPct val="0"/>
              </a:spcBef>
            </a:pPr>
            <a:r>
              <a:rPr lang="es-MX" sz="10010" b="1" dirty="0">
                <a:solidFill>
                  <a:schemeClr val="bg1"/>
                </a:solidFill>
                <a:latin typeface="Glacial Indifference Bold"/>
                <a:ea typeface="Glacial Indifference Bold"/>
                <a:cs typeface="Glacial Indifference Bold"/>
                <a:sym typeface="Glacial Indifference Bold"/>
              </a:rPr>
              <a:t> 2 conclusiones de las</a:t>
            </a:r>
          </a:p>
          <a:p>
            <a:pPr algn="ctr">
              <a:lnSpc>
                <a:spcPts val="4867"/>
              </a:lnSpc>
              <a:spcBef>
                <a:spcPct val="0"/>
              </a:spcBef>
            </a:pPr>
            <a:endParaRPr lang="es-MX" sz="10010" b="1" dirty="0">
              <a:solidFill>
                <a:schemeClr val="bg1"/>
              </a:solidFill>
              <a:latin typeface="Glacial Indifference Bold"/>
              <a:ea typeface="Glacial Indifference Bold"/>
              <a:cs typeface="Glacial Indifference Bold"/>
              <a:sym typeface="Glacial Indifference Bold"/>
            </a:endParaRPr>
          </a:p>
          <a:p>
            <a:pPr algn="ctr">
              <a:lnSpc>
                <a:spcPts val="4867"/>
              </a:lnSpc>
              <a:spcBef>
                <a:spcPct val="0"/>
              </a:spcBef>
            </a:pPr>
            <a:r>
              <a:rPr lang="es-MX" sz="10010" b="1" dirty="0">
                <a:solidFill>
                  <a:schemeClr val="bg1"/>
                </a:solidFill>
                <a:latin typeface="Glacial Indifference Bold"/>
                <a:ea typeface="Glacial Indifference Bold"/>
                <a:cs typeface="Glacial Indifference Bold"/>
                <a:sym typeface="Glacial Indifference Bold"/>
              </a:rPr>
              <a:t> preguntas de ramificación</a:t>
            </a:r>
            <a:endParaRPr lang="en-US" sz="10010" b="1" dirty="0">
              <a:solidFill>
                <a:schemeClr val="bg1"/>
              </a:solidFill>
              <a:latin typeface="Glacial Indifference Bold"/>
              <a:ea typeface="Glacial Indifference Bold"/>
              <a:cs typeface="Glacial Indifference Bold"/>
              <a:sym typeface="Glacial Indifference Bold"/>
            </a:endParaRPr>
          </a:p>
        </p:txBody>
      </p:sp>
      <p:sp>
        <p:nvSpPr>
          <p:cNvPr id="5" name="TextBox 5"/>
          <p:cNvSpPr txBox="1"/>
          <p:nvPr/>
        </p:nvSpPr>
        <p:spPr>
          <a:xfrm>
            <a:off x="11105029" y="3154003"/>
            <a:ext cx="6039971" cy="3702937"/>
          </a:xfrm>
          <a:prstGeom prst="rect">
            <a:avLst/>
          </a:prstGeom>
        </p:spPr>
        <p:txBody>
          <a:bodyPr lIns="0" tIns="0" rIns="0" bIns="0" rtlCol="0" anchor="t">
            <a:spAutoFit/>
          </a:bodyPr>
          <a:lstStyle/>
          <a:p>
            <a:pPr algn="ctr">
              <a:lnSpc>
                <a:spcPts val="4945"/>
              </a:lnSpc>
            </a:pPr>
            <a:r>
              <a:rPr lang="es-MX" sz="2800" b="1" dirty="0">
                <a:solidFill>
                  <a:schemeClr val="bg1"/>
                </a:solidFill>
                <a:latin typeface="Glacial Indifference Bold"/>
                <a:ea typeface="Glacial Indifference Bold"/>
                <a:cs typeface="Glacial Indifference Bold"/>
                <a:sym typeface="Glacial Indifference Bold"/>
              </a:rPr>
              <a:t>La mayoría de los encuestados no utiliza inteligencia artificial en ningún contexto</a:t>
            </a:r>
          </a:p>
          <a:p>
            <a:pPr algn="ctr">
              <a:lnSpc>
                <a:spcPts val="4945"/>
              </a:lnSpc>
            </a:pPr>
            <a:endParaRPr lang="es-MX" sz="2800" b="1" dirty="0">
              <a:solidFill>
                <a:schemeClr val="bg1"/>
              </a:solidFill>
              <a:latin typeface="Glacial Indifference Bold"/>
              <a:ea typeface="Glacial Indifference Bold"/>
              <a:cs typeface="Glacial Indifference Bold"/>
              <a:sym typeface="Glacial Indifference Bold"/>
            </a:endParaRPr>
          </a:p>
          <a:p>
            <a:pPr algn="ctr">
              <a:lnSpc>
                <a:spcPts val="4945"/>
              </a:lnSpc>
            </a:pPr>
            <a:r>
              <a:rPr lang="es-MX" sz="2800" b="1" dirty="0">
                <a:solidFill>
                  <a:schemeClr val="bg1"/>
                </a:solidFill>
                <a:latin typeface="Glacial Indifference Bold"/>
                <a:ea typeface="Glacial Indifference Bold"/>
                <a:cs typeface="Glacial Indifference Bold"/>
                <a:sym typeface="Glacial Indifference Bold"/>
              </a:rPr>
              <a:t>Una parte considerable sí la usa con fines académicos o laborales</a:t>
            </a:r>
          </a:p>
        </p:txBody>
      </p:sp>
    </p:spTree>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2">
            <a:extLst>
              <a:ext uri="{FF2B5EF4-FFF2-40B4-BE49-F238E27FC236}">
                <a16:creationId xmlns:a16="http://schemas.microsoft.com/office/drawing/2014/main" id="{51AAC827-2519-960C-5FBB-8279E154FAA8}"/>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a:stretch>
          </a:blipFill>
        </p:spPr>
        <p:txBody>
          <a:bodyPr/>
          <a:lstStyle/>
          <a:p>
            <a:endParaRPr lang="es-ES">
              <a:solidFill>
                <a:schemeClr val="bg1"/>
              </a:solidFill>
            </a:endParaRPr>
          </a:p>
        </p:txBody>
      </p:sp>
      <p:sp>
        <p:nvSpPr>
          <p:cNvPr id="4" name="TextBox 4"/>
          <p:cNvSpPr txBox="1"/>
          <p:nvPr/>
        </p:nvSpPr>
        <p:spPr>
          <a:xfrm>
            <a:off x="0" y="242105"/>
            <a:ext cx="18288000" cy="3077766"/>
          </a:xfrm>
          <a:prstGeom prst="rect">
            <a:avLst/>
          </a:prstGeom>
        </p:spPr>
        <p:txBody>
          <a:bodyPr lIns="0" tIns="0" rIns="0" bIns="0" rtlCol="0" anchor="t">
            <a:spAutoFit/>
          </a:bodyPr>
          <a:lstStyle/>
          <a:p>
            <a:pPr algn="ctr">
              <a:spcBef>
                <a:spcPct val="0"/>
              </a:spcBef>
            </a:pPr>
            <a:r>
              <a:rPr lang="es-MX" sz="10000" b="1" dirty="0">
                <a:solidFill>
                  <a:schemeClr val="bg1"/>
                </a:solidFill>
                <a:latin typeface="Glacial Indifference Bold"/>
                <a:ea typeface="Glacial Indifference Bold"/>
                <a:cs typeface="Glacial Indifference Bold"/>
                <a:sym typeface="Glacial Indifference Bold"/>
              </a:rPr>
              <a:t>conclusiones de las preguntas de escala Likert</a:t>
            </a:r>
            <a:endParaRPr lang="en-US" sz="10000" b="1" dirty="0">
              <a:solidFill>
                <a:schemeClr val="bg1"/>
              </a:solidFill>
              <a:latin typeface="Glacial Indifference Bold"/>
              <a:ea typeface="Glacial Indifference Bold"/>
              <a:cs typeface="Glacial Indifference Bold"/>
              <a:sym typeface="Glacial Indifference Bold"/>
            </a:endParaRPr>
          </a:p>
        </p:txBody>
      </p:sp>
      <p:sp>
        <p:nvSpPr>
          <p:cNvPr id="5" name="TextBox 5"/>
          <p:cNvSpPr txBox="1"/>
          <p:nvPr/>
        </p:nvSpPr>
        <p:spPr>
          <a:xfrm>
            <a:off x="12571857" y="3800288"/>
            <a:ext cx="5685663" cy="3770263"/>
          </a:xfrm>
          <a:prstGeom prst="rect">
            <a:avLst/>
          </a:prstGeom>
        </p:spPr>
        <p:txBody>
          <a:bodyPr lIns="0" tIns="0" rIns="0" bIns="0" rtlCol="0" anchor="t">
            <a:spAutoFit/>
          </a:bodyPr>
          <a:lstStyle/>
          <a:p>
            <a:pPr algn="ctr">
              <a:lnSpc>
                <a:spcPts val="4945"/>
              </a:lnSpc>
              <a:spcBef>
                <a:spcPct val="0"/>
              </a:spcBef>
            </a:pPr>
            <a:r>
              <a:rPr lang="es-MX" sz="4376" b="1" dirty="0">
                <a:solidFill>
                  <a:schemeClr val="bg1"/>
                </a:solidFill>
                <a:latin typeface="Glacial Indifference Bold"/>
                <a:ea typeface="Glacial Indifference Bold"/>
                <a:cs typeface="Glacial Indifference Bold"/>
                <a:sym typeface="Glacial Indifference Bold"/>
              </a:rPr>
              <a:t>Poca participación en esta pregunta</a:t>
            </a:r>
            <a:endParaRPr lang="en-US" sz="4376" b="1" dirty="0">
              <a:solidFill>
                <a:schemeClr val="bg1"/>
              </a:solidFill>
              <a:latin typeface="Glacial Indifference Bold"/>
              <a:ea typeface="Glacial Indifference Bold"/>
              <a:cs typeface="Glacial Indifference Bold"/>
              <a:sym typeface="Glacial Indifference Bold"/>
            </a:endParaRPr>
          </a:p>
          <a:p>
            <a:pPr algn="ctr">
              <a:lnSpc>
                <a:spcPts val="4945"/>
              </a:lnSpc>
              <a:spcBef>
                <a:spcPct val="0"/>
              </a:spcBef>
            </a:pPr>
            <a:endParaRPr lang="en-US" sz="4376" b="1" dirty="0">
              <a:solidFill>
                <a:schemeClr val="bg1"/>
              </a:solidFill>
              <a:latin typeface="Glacial Indifference Bold"/>
              <a:ea typeface="Glacial Indifference Bold"/>
              <a:cs typeface="Glacial Indifference Bold"/>
              <a:sym typeface="Glacial Indifference Bold"/>
            </a:endParaRPr>
          </a:p>
          <a:p>
            <a:pPr algn="ctr">
              <a:lnSpc>
                <a:spcPts val="4945"/>
              </a:lnSpc>
              <a:spcBef>
                <a:spcPct val="0"/>
              </a:spcBef>
            </a:pPr>
            <a:r>
              <a:rPr lang="es-MX" sz="4376" b="1" dirty="0">
                <a:solidFill>
                  <a:schemeClr val="bg1"/>
                </a:solidFill>
                <a:latin typeface="Glacial Indifference Bold"/>
                <a:ea typeface="Glacial Indifference Bold"/>
                <a:cs typeface="Glacial Indifference Bold"/>
                <a:sym typeface="Glacial Indifference Bold"/>
              </a:rPr>
              <a:t>La mayoría de quienes respondieron están de acuerdo</a:t>
            </a:r>
          </a:p>
        </p:txBody>
      </p:sp>
      <p:pic>
        <p:nvPicPr>
          <p:cNvPr id="7" name="Imagen 6">
            <a:extLst>
              <a:ext uri="{FF2B5EF4-FFF2-40B4-BE49-F238E27FC236}">
                <a16:creationId xmlns:a16="http://schemas.microsoft.com/office/drawing/2014/main" id="{58A04B71-78F5-D29A-1C97-A145DAEEB19F}"/>
              </a:ext>
            </a:extLst>
          </p:cNvPr>
          <p:cNvPicPr>
            <a:picLocks noChangeAspect="1"/>
          </p:cNvPicPr>
          <p:nvPr/>
        </p:nvPicPr>
        <p:blipFill>
          <a:blip r:embed="rId4"/>
          <a:stretch>
            <a:fillRect/>
          </a:stretch>
        </p:blipFill>
        <p:spPr>
          <a:xfrm>
            <a:off x="838199" y="3800288"/>
            <a:ext cx="9219981" cy="4467412"/>
          </a:xfrm>
          <a:prstGeom prst="rect">
            <a:avLst/>
          </a:prstGeom>
        </p:spPr>
      </p:pic>
    </p:spTree>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2">
            <a:extLst>
              <a:ext uri="{FF2B5EF4-FFF2-40B4-BE49-F238E27FC236}">
                <a16:creationId xmlns:a16="http://schemas.microsoft.com/office/drawing/2014/main" id="{49070BAB-CABF-433F-7E95-9BF54AE60305}"/>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a:stretch>
          </a:blipFill>
        </p:spPr>
        <p:txBody>
          <a:bodyPr/>
          <a:lstStyle/>
          <a:p>
            <a:endParaRPr lang="es-ES">
              <a:solidFill>
                <a:schemeClr val="bg1"/>
              </a:solidFill>
            </a:endParaRPr>
          </a:p>
        </p:txBody>
      </p:sp>
      <p:sp>
        <p:nvSpPr>
          <p:cNvPr id="4" name="TextBox 4"/>
          <p:cNvSpPr txBox="1"/>
          <p:nvPr/>
        </p:nvSpPr>
        <p:spPr>
          <a:xfrm>
            <a:off x="238299" y="169111"/>
            <a:ext cx="17279767" cy="2708434"/>
          </a:xfrm>
          <a:prstGeom prst="rect">
            <a:avLst/>
          </a:prstGeom>
        </p:spPr>
        <p:txBody>
          <a:bodyPr lIns="0" tIns="0" rIns="0" bIns="0" rtlCol="0" anchor="t">
            <a:spAutoFit/>
          </a:bodyPr>
          <a:lstStyle/>
          <a:p>
            <a:pPr algn="ctr">
              <a:spcBef>
                <a:spcPct val="0"/>
              </a:spcBef>
            </a:pPr>
            <a:r>
              <a:rPr lang="es-MX" sz="8800" b="1" dirty="0">
                <a:solidFill>
                  <a:schemeClr val="bg1"/>
                </a:solidFill>
                <a:latin typeface="Glacial Indifference Bold"/>
                <a:ea typeface="Glacial Indifference Bold"/>
                <a:cs typeface="Glacial Indifference Bold"/>
                <a:sym typeface="Glacial Indifference Bold"/>
              </a:rPr>
              <a:t>conclusiones de las preguntas de regresión lineal</a:t>
            </a:r>
            <a:endParaRPr lang="en-US" sz="8800" b="1" dirty="0">
              <a:solidFill>
                <a:schemeClr val="bg1"/>
              </a:solidFill>
              <a:latin typeface="Glacial Indifference Bold"/>
              <a:ea typeface="Glacial Indifference Bold"/>
              <a:cs typeface="Glacial Indifference Bold"/>
              <a:sym typeface="Glacial Indifference Bold"/>
            </a:endParaRPr>
          </a:p>
        </p:txBody>
      </p:sp>
      <p:sp>
        <p:nvSpPr>
          <p:cNvPr id="5" name="TextBox 5"/>
          <p:cNvSpPr txBox="1"/>
          <p:nvPr/>
        </p:nvSpPr>
        <p:spPr>
          <a:xfrm>
            <a:off x="11156190" y="3695700"/>
            <a:ext cx="6403181" cy="5655394"/>
          </a:xfrm>
          <a:prstGeom prst="rect">
            <a:avLst/>
          </a:prstGeom>
        </p:spPr>
        <p:txBody>
          <a:bodyPr lIns="0" tIns="0" rIns="0" bIns="0" rtlCol="0" anchor="t">
            <a:spAutoFit/>
          </a:bodyPr>
          <a:lstStyle/>
          <a:p>
            <a:pPr algn="ctr">
              <a:lnSpc>
                <a:spcPts val="4945"/>
              </a:lnSpc>
              <a:spcBef>
                <a:spcPct val="0"/>
              </a:spcBef>
            </a:pPr>
            <a:r>
              <a:rPr lang="es-MX" sz="4376" b="1" dirty="0">
                <a:solidFill>
                  <a:schemeClr val="bg1"/>
                </a:solidFill>
                <a:latin typeface="Glacial Indifference Bold"/>
                <a:ea typeface="Glacial Indifference Bold"/>
                <a:cs typeface="Glacial Indifference Bold"/>
                <a:sym typeface="Glacial Indifference Bold"/>
              </a:rPr>
              <a:t> La regresión lineal indica una tendencia decreciente</a:t>
            </a:r>
          </a:p>
          <a:p>
            <a:pPr algn="ctr">
              <a:lnSpc>
                <a:spcPts val="4945"/>
              </a:lnSpc>
              <a:spcBef>
                <a:spcPct val="0"/>
              </a:spcBef>
            </a:pPr>
            <a:endParaRPr lang="es-MX" sz="4376" b="1" dirty="0">
              <a:solidFill>
                <a:schemeClr val="bg1"/>
              </a:solidFill>
              <a:latin typeface="Glacial Indifference Bold"/>
              <a:ea typeface="Glacial Indifference Bold"/>
              <a:cs typeface="Glacial Indifference Bold"/>
              <a:sym typeface="Glacial Indifference Bold"/>
            </a:endParaRPr>
          </a:p>
          <a:p>
            <a:pPr algn="ctr">
              <a:lnSpc>
                <a:spcPts val="4945"/>
              </a:lnSpc>
              <a:spcBef>
                <a:spcPct val="0"/>
              </a:spcBef>
            </a:pPr>
            <a:r>
              <a:rPr lang="es-MX" sz="4376" b="1" dirty="0">
                <a:solidFill>
                  <a:schemeClr val="bg1"/>
                </a:solidFill>
                <a:latin typeface="Glacial Indifference Bold"/>
                <a:ea typeface="Glacial Indifference Bold"/>
                <a:cs typeface="Glacial Indifference Bold"/>
                <a:sym typeface="Glacial Indifference Bold"/>
              </a:rPr>
              <a:t>El grupo 18–25 es una excepción positiva al modelo</a:t>
            </a:r>
          </a:p>
          <a:p>
            <a:pPr algn="ctr">
              <a:lnSpc>
                <a:spcPts val="4945"/>
              </a:lnSpc>
              <a:spcBef>
                <a:spcPct val="0"/>
              </a:spcBef>
            </a:pPr>
            <a:endParaRPr lang="es-MX" sz="4376" b="1" dirty="0">
              <a:solidFill>
                <a:schemeClr val="bg1"/>
              </a:solidFill>
              <a:latin typeface="Glacial Indifference Bold"/>
              <a:ea typeface="Glacial Indifference Bold"/>
              <a:cs typeface="Glacial Indifference Bold"/>
              <a:sym typeface="Glacial Indifference Bold"/>
            </a:endParaRPr>
          </a:p>
          <a:p>
            <a:pPr algn="ctr">
              <a:lnSpc>
                <a:spcPts val="4945"/>
              </a:lnSpc>
              <a:spcBef>
                <a:spcPct val="0"/>
              </a:spcBef>
            </a:pPr>
            <a:endParaRPr lang="en-US" sz="4376" b="1" dirty="0">
              <a:solidFill>
                <a:schemeClr val="bg1"/>
              </a:solidFill>
              <a:latin typeface="Glacial Indifference Bold"/>
              <a:ea typeface="Glacial Indifference Bold"/>
              <a:cs typeface="Glacial Indifference Bold"/>
              <a:sym typeface="Glacial Indifference Bold"/>
            </a:endParaRPr>
          </a:p>
        </p:txBody>
      </p:sp>
      <p:pic>
        <p:nvPicPr>
          <p:cNvPr id="7" name="Imagen 6">
            <a:extLst>
              <a:ext uri="{FF2B5EF4-FFF2-40B4-BE49-F238E27FC236}">
                <a16:creationId xmlns:a16="http://schemas.microsoft.com/office/drawing/2014/main" id="{5A156089-407E-9F0F-DFF2-4ADDB9B3F8B2}"/>
              </a:ext>
            </a:extLst>
          </p:cNvPr>
          <p:cNvPicPr>
            <a:picLocks noChangeAspect="1"/>
          </p:cNvPicPr>
          <p:nvPr/>
        </p:nvPicPr>
        <p:blipFill>
          <a:blip r:embed="rId4"/>
          <a:stretch>
            <a:fillRect/>
          </a:stretch>
        </p:blipFill>
        <p:spPr>
          <a:xfrm>
            <a:off x="795617" y="3695700"/>
            <a:ext cx="8370154" cy="5000813"/>
          </a:xfrm>
          <a:prstGeom prst="rect">
            <a:avLst/>
          </a:prstGeom>
        </p:spPr>
      </p:pic>
    </p:spTree>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2">
            <a:extLst>
              <a:ext uri="{FF2B5EF4-FFF2-40B4-BE49-F238E27FC236}">
                <a16:creationId xmlns:a16="http://schemas.microsoft.com/office/drawing/2014/main" id="{220D3C97-F55D-9F5F-9999-365AE3830C74}"/>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txBody>
          <a:bodyPr/>
          <a:lstStyle/>
          <a:p>
            <a:endParaRPr lang="es-ES">
              <a:solidFill>
                <a:schemeClr val="bg1"/>
              </a:solidFill>
            </a:endParaRPr>
          </a:p>
        </p:txBody>
      </p:sp>
      <p:sp>
        <p:nvSpPr>
          <p:cNvPr id="4" name="TextBox 4"/>
          <p:cNvSpPr txBox="1"/>
          <p:nvPr/>
        </p:nvSpPr>
        <p:spPr>
          <a:xfrm>
            <a:off x="7620" y="723900"/>
            <a:ext cx="18288000" cy="628377"/>
          </a:xfrm>
          <a:prstGeom prst="rect">
            <a:avLst/>
          </a:prstGeom>
        </p:spPr>
        <p:txBody>
          <a:bodyPr lIns="0" tIns="0" rIns="0" bIns="0" rtlCol="0" anchor="t">
            <a:spAutoFit/>
          </a:bodyPr>
          <a:lstStyle/>
          <a:p>
            <a:pPr algn="ctr">
              <a:lnSpc>
                <a:spcPts val="4945"/>
              </a:lnSpc>
              <a:spcBef>
                <a:spcPct val="0"/>
              </a:spcBef>
            </a:pPr>
            <a:r>
              <a:rPr lang="en-US" sz="4376" b="1" dirty="0">
                <a:solidFill>
                  <a:schemeClr val="bg1"/>
                </a:solidFill>
                <a:latin typeface="Glacial Indifference Bold"/>
                <a:ea typeface="Glacial Indifference Bold"/>
                <a:cs typeface="Glacial Indifference Bold"/>
                <a:sym typeface="Glacial Indifference Bold"/>
              </a:rPr>
              <a:t>Conclusion General</a:t>
            </a:r>
          </a:p>
        </p:txBody>
      </p:sp>
      <p:sp>
        <p:nvSpPr>
          <p:cNvPr id="5" name="TextBox 5"/>
          <p:cNvSpPr txBox="1"/>
          <p:nvPr/>
        </p:nvSpPr>
        <p:spPr>
          <a:xfrm>
            <a:off x="419100" y="2324100"/>
            <a:ext cx="17449800" cy="7540526"/>
          </a:xfrm>
          <a:prstGeom prst="rect">
            <a:avLst/>
          </a:prstGeom>
        </p:spPr>
        <p:txBody>
          <a:bodyPr wrap="square" lIns="0" tIns="0" rIns="0" bIns="0" rtlCol="0" anchor="t">
            <a:spAutoFit/>
          </a:bodyPr>
          <a:lstStyle/>
          <a:p>
            <a:pPr algn="ctr">
              <a:lnSpc>
                <a:spcPts val="4945"/>
              </a:lnSpc>
              <a:spcBef>
                <a:spcPct val="0"/>
              </a:spcBef>
            </a:pPr>
            <a:r>
              <a:rPr lang="es-MX" sz="4376" b="1" dirty="0">
                <a:solidFill>
                  <a:schemeClr val="bg1"/>
                </a:solidFill>
                <a:latin typeface="Glacial Indifference Bold"/>
                <a:ea typeface="Glacial Indifference Bold"/>
                <a:cs typeface="Glacial Indifference Bold"/>
                <a:sym typeface="Glacial Indifference Bold"/>
              </a:rPr>
              <a:t>Los resultados de la encuesta reflejan que la inteligencia artificial ha generado un impacto significativo, especialmente en sectores como el entretenimiento y la educación, según la percepción de los encuestados. A pesar de que la mayoría aún no utiliza IA activamente en sus estudios o trabajos, existe un creciente interés, especialmente entre los jóvenes de 18 a 25 años, quienes fueron el grupo más participativo. Esto sugiere una brecha generacional en la adopción de estas tecnologías, así como una oportunidad educativa para fomentar el uso informado de la IA en distintos ámbitos. En conjunto, el proyecto evidencia una sociedad en transición, donde la IA aún no es completamente adoptada, pero está ganando terreno en la vida cotidiana.</a:t>
            </a:r>
            <a:r>
              <a:rPr lang="en-US" sz="4376" b="1" dirty="0">
                <a:solidFill>
                  <a:schemeClr val="bg1"/>
                </a:solidFill>
                <a:latin typeface="Glacial Indifference Bold"/>
                <a:ea typeface="Glacial Indifference Bold"/>
                <a:cs typeface="Glacial Indifference Bold"/>
                <a:sym typeface="Glacial Indifference Bold"/>
              </a:rPr>
              <a:t>'s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TotalTime>
  <Words>1631</Words>
  <Application>Microsoft Office PowerPoint</Application>
  <PresentationFormat>Personalizado</PresentationFormat>
  <Paragraphs>211</Paragraphs>
  <Slides>23</Slides>
  <Notes>15</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23</vt:i4>
      </vt:variant>
    </vt:vector>
  </HeadingPairs>
  <TitlesOfParts>
    <vt:vector size="31" baseType="lpstr">
      <vt:lpstr>Arial</vt:lpstr>
      <vt:lpstr>Calibri</vt:lpstr>
      <vt:lpstr>Aptos</vt:lpstr>
      <vt:lpstr>Glacial Indifference</vt:lpstr>
      <vt:lpstr>Open Sans</vt:lpstr>
      <vt:lpstr>HK Grotesk</vt:lpstr>
      <vt:lpstr>Glacial Indifference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cp:lastModifiedBy>Bruno Maldonado</cp:lastModifiedBy>
  <cp:revision>2</cp:revision>
  <dcterms:created xsi:type="dcterms:W3CDTF">2006-08-16T00:00:00Z</dcterms:created>
  <dcterms:modified xsi:type="dcterms:W3CDTF">2025-07-09T06:59:52Z</dcterms:modified>
  <dc:identifier>DAGrUORxPQQ</dc:identifier>
</cp:coreProperties>
</file>