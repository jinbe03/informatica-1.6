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8288000" cy="10287000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Bold" charset="0"/>
      <p:regular r:id="rId19"/>
    </p:embeddedFont>
    <p:embeddedFont>
      <p:font typeface="Oswald" panose="00000500000000000000" pitchFamily="2" charset="0"/>
      <p:regular r:id="rId20"/>
    </p:embeddedFont>
    <p:embeddedFont>
      <p:font typeface="Oswald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72" y="-10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rawio.com/blog/uml-class-diagrams" TargetMode="External"/><Relationship Id="rId3" Type="http://schemas.openxmlformats.org/officeDocument/2006/relationships/image" Target="../media/image18.svg"/><Relationship Id="rId7" Type="http://schemas.openxmlformats.org/officeDocument/2006/relationships/hyperlink" Target="https://digital.gob.cl/biblioteca/regulacion/ley-n-19628-sobre-proteccion-de-la-vida-privada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so20022.org/" TargetMode="External"/><Relationship Id="rId11" Type="http://schemas.openxmlformats.org/officeDocument/2006/relationships/hyperlink" Target="https://www.udemy.com/course/owasp-top-10-api-security-2023/?utm_source=adwords&amp;utm_medium=udemyads&amp;utm_campaign=Search_DSA_Beta_Prof_la.ES_cc.ROW-Spanish_Subs&amp;campaigntype=Search&amp;portfolio=ROW-Spanish&amp;language=ES&amp;product=Course&amp;test=&amp;audience=DSA&amp;topic=&amp;priority=Beta&amp;utm_content=deal4584&amp;utm_term=_._ag_185299832156_._ad_773558229050_._kw__._de_c_._dm__._pl__._ti_dsa-2495035530127_._li_9198364_._pd__._&amp;matchtype=&amp;gad_source=1&amp;gad_campaignid=23007240440&amp;gclid=Cj0KCQiAq7HIBhDoARIsAOATDxC7_D8OSRholcKmvoGb4U-O1y8rOerSm0QoXvFqVIx2VmaqmDEZJGYaAvzyEALw_wcB&amp;couponCode=PMNVD2025L3" TargetMode="External"/><Relationship Id="rId5" Type="http://schemas.openxmlformats.org/officeDocument/2006/relationships/hyperlink" Target="https://www.latercera.com/laboratoriodecontenidos/noticia/nuam-la-holding-que-integra-las-bolsas-de-santiago-lima-y-colombia-y-busca-revolucionar-el-mercado-de-capitales/SM2BUV5HPRBJDJHHJ4AT4Q45QA/" TargetMode="External"/><Relationship Id="rId10" Type="http://schemas.openxmlformats.org/officeDocument/2006/relationships/hyperlink" Target="https://www.fortinet.com/lat/resources/cyberglossary/role-based-access-control" TargetMode="External"/><Relationship Id="rId4" Type="http://schemas.openxmlformats.org/officeDocument/2006/relationships/hyperlink" Target="https://www.nuam.com/" TargetMode="External"/><Relationship Id="rId9" Type="http://schemas.openxmlformats.org/officeDocument/2006/relationships/hyperlink" Target="https://www.drawio.com/blog/uml-component-diagram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59121">
            <a:off x="10843852" y="2831894"/>
            <a:ext cx="12525650" cy="12852812"/>
          </a:xfrm>
          <a:custGeom>
            <a:avLst/>
            <a:gdLst/>
            <a:ahLst/>
            <a:cxnLst/>
            <a:rect l="l" t="t" r="r" b="b"/>
            <a:pathLst>
              <a:path w="12525650" h="12852812">
                <a:moveTo>
                  <a:pt x="0" y="0"/>
                </a:moveTo>
                <a:lnTo>
                  <a:pt x="12525649" y="0"/>
                </a:lnTo>
                <a:lnTo>
                  <a:pt x="12525649" y="12852812"/>
                </a:lnTo>
                <a:lnTo>
                  <a:pt x="0" y="12852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3805786" y="-7392626"/>
            <a:ext cx="13641413" cy="13997719"/>
          </a:xfrm>
          <a:custGeom>
            <a:avLst/>
            <a:gdLst/>
            <a:ahLst/>
            <a:cxnLst/>
            <a:rect l="l" t="t" r="r" b="b"/>
            <a:pathLst>
              <a:path w="13641413" h="13997719">
                <a:moveTo>
                  <a:pt x="0" y="0"/>
                </a:moveTo>
                <a:lnTo>
                  <a:pt x="13641413" y="0"/>
                </a:lnTo>
                <a:lnTo>
                  <a:pt x="13641413" y="13997719"/>
                </a:lnTo>
                <a:lnTo>
                  <a:pt x="0" y="13997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236347" y="3039068"/>
            <a:ext cx="9815307" cy="4208864"/>
            <a:chOff x="0" y="0"/>
            <a:chExt cx="189549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5495" cy="812800"/>
            </a:xfrm>
            <a:custGeom>
              <a:avLst/>
              <a:gdLst/>
              <a:ahLst/>
              <a:cxnLst/>
              <a:rect l="l" t="t" r="r" b="b"/>
              <a:pathLst>
                <a:path w="1895495" h="812800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DFBF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20273" y="3471513"/>
            <a:ext cx="9731380" cy="377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PROYECTO INTEGRADO (113-4B)</a:t>
            </a:r>
          </a:p>
          <a:p>
            <a:pPr algn="ctr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INGENIERIA EN INFORMATICA</a:t>
            </a:r>
          </a:p>
          <a:p>
            <a:pPr algn="ctr">
              <a:lnSpc>
                <a:spcPts val="4327"/>
              </a:lnSpc>
            </a:pPr>
            <a:endParaRPr lang="en-US" sz="3135" spc="307">
              <a:solidFill>
                <a:srgbClr val="F2F4F5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l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NOMBRES: BRUNO ROJAS</a:t>
            </a:r>
          </a:p>
          <a:p>
            <a:pPr algn="l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               JUAN MOLINA</a:t>
            </a:r>
          </a:p>
          <a:p>
            <a:pPr algn="l">
              <a:lnSpc>
                <a:spcPts val="4327"/>
              </a:lnSpc>
            </a:pPr>
            <a:r>
              <a:rPr lang="en-US" sz="3135" spc="307">
                <a:solidFill>
                  <a:srgbClr val="F2F4F5"/>
                </a:solidFill>
                <a:latin typeface="Oswald"/>
                <a:ea typeface="Oswald"/>
                <a:cs typeface="Oswald"/>
                <a:sym typeface="Oswald"/>
              </a:rPr>
              <a:t>PROFESOR: YALENI GOMEZ</a:t>
            </a:r>
          </a:p>
          <a:p>
            <a:pPr algn="l">
              <a:lnSpc>
                <a:spcPts val="4327"/>
              </a:lnSpc>
            </a:pPr>
            <a:endParaRPr lang="en-US" sz="3135" spc="307">
              <a:solidFill>
                <a:srgbClr val="F2F4F5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323035">
            <a:off x="-3830022" y="5071964"/>
            <a:ext cx="8491989" cy="8713794"/>
          </a:xfrm>
          <a:custGeom>
            <a:avLst/>
            <a:gdLst/>
            <a:ahLst/>
            <a:cxnLst/>
            <a:rect l="l" t="t" r="r" b="b"/>
            <a:pathLst>
              <a:path w="8491989" h="8713794">
                <a:moveTo>
                  <a:pt x="0" y="0"/>
                </a:moveTo>
                <a:lnTo>
                  <a:pt x="8491989" y="0"/>
                </a:lnTo>
                <a:lnTo>
                  <a:pt x="8491989" y="8713794"/>
                </a:lnTo>
                <a:lnTo>
                  <a:pt x="0" y="871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7659121">
            <a:off x="12817951" y="-3485761"/>
            <a:ext cx="10940099" cy="11225848"/>
          </a:xfrm>
          <a:custGeom>
            <a:avLst/>
            <a:gdLst/>
            <a:ahLst/>
            <a:cxnLst/>
            <a:rect l="l" t="t" r="r" b="b"/>
            <a:pathLst>
              <a:path w="10940099" h="11225848">
                <a:moveTo>
                  <a:pt x="0" y="0"/>
                </a:moveTo>
                <a:lnTo>
                  <a:pt x="10940098" y="0"/>
                </a:lnTo>
                <a:lnTo>
                  <a:pt x="10940098" y="11225847"/>
                </a:lnTo>
                <a:lnTo>
                  <a:pt x="0" y="1122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6878824" y="3138316"/>
            <a:ext cx="5790503" cy="625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Presentación de la Empresa.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Presentación de la empresa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Problemática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Objetivo General.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Objetivos Específicos.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Herramientas utilizadas.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Análisis Costo-Beneficio.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Propuesta de mejora fase a fase.</a:t>
            </a:r>
          </a:p>
          <a:p>
            <a:pPr algn="l">
              <a:lnSpc>
                <a:spcPts val="5578"/>
              </a:lnSpc>
            </a:pPr>
            <a:r>
              <a:rPr lang="en-US" sz="2524" spc="146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Conclusión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650968" y="3289935"/>
            <a:ext cx="804092" cy="6192890"/>
            <a:chOff x="0" y="0"/>
            <a:chExt cx="211777" cy="1631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777" cy="1631049"/>
            </a:xfrm>
            <a:custGeom>
              <a:avLst/>
              <a:gdLst/>
              <a:ahLst/>
              <a:cxnLst/>
              <a:rect l="l" t="t" r="r" b="b"/>
              <a:pathLst>
                <a:path w="211777" h="1631049">
                  <a:moveTo>
                    <a:pt x="105889" y="0"/>
                  </a:moveTo>
                  <a:lnTo>
                    <a:pt x="105889" y="0"/>
                  </a:lnTo>
                  <a:cubicBezTo>
                    <a:pt x="133972" y="0"/>
                    <a:pt x="160905" y="11156"/>
                    <a:pt x="180763" y="31014"/>
                  </a:cubicBezTo>
                  <a:cubicBezTo>
                    <a:pt x="200621" y="50872"/>
                    <a:pt x="211777" y="77805"/>
                    <a:pt x="211777" y="105889"/>
                  </a:cubicBezTo>
                  <a:lnTo>
                    <a:pt x="211777" y="1525161"/>
                  </a:lnTo>
                  <a:cubicBezTo>
                    <a:pt x="211777" y="1553244"/>
                    <a:pt x="200621" y="1580177"/>
                    <a:pt x="180763" y="1600035"/>
                  </a:cubicBezTo>
                  <a:cubicBezTo>
                    <a:pt x="160905" y="1619893"/>
                    <a:pt x="133972" y="1631049"/>
                    <a:pt x="105889" y="1631049"/>
                  </a:cubicBezTo>
                  <a:lnTo>
                    <a:pt x="105889" y="1631049"/>
                  </a:lnTo>
                  <a:cubicBezTo>
                    <a:pt x="77805" y="1631049"/>
                    <a:pt x="50872" y="1619893"/>
                    <a:pt x="31014" y="1600035"/>
                  </a:cubicBezTo>
                  <a:cubicBezTo>
                    <a:pt x="11156" y="1580177"/>
                    <a:pt x="0" y="1553244"/>
                    <a:pt x="0" y="1525161"/>
                  </a:cubicBezTo>
                  <a:lnTo>
                    <a:pt x="0" y="105889"/>
                  </a:lnTo>
                  <a:cubicBezTo>
                    <a:pt x="0" y="77805"/>
                    <a:pt x="11156" y="50872"/>
                    <a:pt x="31014" y="31014"/>
                  </a:cubicBezTo>
                  <a:cubicBezTo>
                    <a:pt x="50872" y="11156"/>
                    <a:pt x="77805" y="0"/>
                    <a:pt x="105889" y="0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38125"/>
              <a:ext cx="211777" cy="186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u="none" strike="noStrike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u="none" strike="noStrike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u="none" strike="noStrike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u="none" strike="noStrike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</a:t>
              </a:r>
            </a:p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u="none" strike="noStrike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07</a:t>
              </a:r>
            </a:p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u="none" strike="noStrike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08</a:t>
              </a:r>
            </a:p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u="none" strike="noStrike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09</a:t>
              </a:r>
            </a:p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u="none" strike="noStrike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</a:t>
              </a:r>
            </a:p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u="none" strike="noStrike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350149" y="1440424"/>
            <a:ext cx="5521600" cy="124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54"/>
              </a:lnSpc>
            </a:pPr>
            <a:r>
              <a:rPr lang="en-US" sz="7431" b="1" spc="728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ÍNDICE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5624172"/>
            <a:ext cx="11461151" cy="11760509"/>
          </a:xfrm>
          <a:custGeom>
            <a:avLst/>
            <a:gdLst/>
            <a:ahLst/>
            <a:cxnLst/>
            <a:rect l="l" t="t" r="r" b="b"/>
            <a:pathLst>
              <a:path w="11461151" h="11760509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2142191" y="3396305"/>
            <a:ext cx="9051292" cy="4471176"/>
            <a:chOff x="0" y="0"/>
            <a:chExt cx="3467942" cy="17131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67941" cy="1713101"/>
            </a:xfrm>
            <a:custGeom>
              <a:avLst/>
              <a:gdLst/>
              <a:ahLst/>
              <a:cxnLst/>
              <a:rect l="l" t="t" r="r" b="b"/>
              <a:pathLst>
                <a:path w="3467941" h="1713101">
                  <a:moveTo>
                    <a:pt x="10264" y="0"/>
                  </a:moveTo>
                  <a:lnTo>
                    <a:pt x="3457677" y="0"/>
                  </a:lnTo>
                  <a:cubicBezTo>
                    <a:pt x="3463346" y="0"/>
                    <a:pt x="3467941" y="4595"/>
                    <a:pt x="3467941" y="10264"/>
                  </a:cubicBezTo>
                  <a:lnTo>
                    <a:pt x="3467941" y="1702837"/>
                  </a:lnTo>
                  <a:cubicBezTo>
                    <a:pt x="3467941" y="1708505"/>
                    <a:pt x="3463346" y="1713101"/>
                    <a:pt x="3457677" y="1713101"/>
                  </a:cubicBezTo>
                  <a:lnTo>
                    <a:pt x="10264" y="1713101"/>
                  </a:lnTo>
                  <a:cubicBezTo>
                    <a:pt x="4595" y="1713101"/>
                    <a:pt x="0" y="1708505"/>
                    <a:pt x="0" y="1702837"/>
                  </a:cubicBezTo>
                  <a:lnTo>
                    <a:pt x="0" y="10264"/>
                  </a:lnTo>
                  <a:cubicBezTo>
                    <a:pt x="0" y="4595"/>
                    <a:pt x="4595" y="0"/>
                    <a:pt x="10264" y="0"/>
                  </a:cubicBez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467942" cy="1732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588384" y="6507120"/>
            <a:ext cx="11461151" cy="11760509"/>
          </a:xfrm>
          <a:custGeom>
            <a:avLst/>
            <a:gdLst/>
            <a:ahLst/>
            <a:cxnLst/>
            <a:rect l="l" t="t" r="r" b="b"/>
            <a:pathLst>
              <a:path w="11461151" h="11760509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142191" y="1798959"/>
            <a:ext cx="8323558" cy="116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sz="6947" b="1" spc="680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INTRODUCCIÓN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77944" y="3661974"/>
            <a:ext cx="8379787" cy="440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90" spc="2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Nuam es un holding que integra las bolsas de valores de santiago, lima y colombia creando  un mercado unico regional. Busca desarrollar la economia a traves de una infraestructura moderna que facilite el acceso , la negociacion y el crecimiento tanto de grande empresas  como  de startups</a:t>
            </a:r>
          </a:p>
          <a:p>
            <a:pPr algn="l">
              <a:lnSpc>
                <a:spcPts val="4112"/>
              </a:lnSpc>
            </a:pPr>
            <a:endParaRPr lang="en-US" sz="2790" spc="27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Freeform 9"/>
          <p:cNvSpPr/>
          <p:nvPr/>
        </p:nvSpPr>
        <p:spPr>
          <a:xfrm rot="-9348249">
            <a:off x="9144000" y="5228440"/>
            <a:ext cx="11461151" cy="11760509"/>
          </a:xfrm>
          <a:custGeom>
            <a:avLst/>
            <a:gdLst/>
            <a:ahLst/>
            <a:cxnLst/>
            <a:rect l="l" t="t" r="r" b="b"/>
            <a:pathLst>
              <a:path w="11461151" h="11760509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51022" y="-4729397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2851369" y="-3442596"/>
            <a:ext cx="6709932" cy="6885191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2163000" y="3510391"/>
            <a:ext cx="4473739" cy="2808103"/>
          </a:xfrm>
          <a:custGeom>
            <a:avLst/>
            <a:gdLst/>
            <a:ahLst/>
            <a:cxnLst/>
            <a:rect l="l" t="t" r="r" b="b"/>
            <a:pathLst>
              <a:path w="4473739" h="2808103">
                <a:moveTo>
                  <a:pt x="0" y="0"/>
                </a:moveTo>
                <a:lnTo>
                  <a:pt x="4473739" y="0"/>
                </a:lnTo>
                <a:lnTo>
                  <a:pt x="4473739" y="2808104"/>
                </a:lnTo>
                <a:lnTo>
                  <a:pt x="0" y="280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12" r="-5512" b="-1784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787007" y="575869"/>
            <a:ext cx="14713986" cy="2277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50"/>
              </a:lnSpc>
            </a:pPr>
            <a:r>
              <a:rPr lang="en-US" sz="6630" b="1" spc="64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PRESENTACIÓN DE LA EMPRESA:</a:t>
            </a:r>
          </a:p>
          <a:p>
            <a:pPr algn="ctr">
              <a:lnSpc>
                <a:spcPts val="9150"/>
              </a:lnSpc>
            </a:pPr>
            <a:r>
              <a:rPr lang="en-US" sz="6630" b="1" spc="64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NUAM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93475" y="3510391"/>
            <a:ext cx="9034431" cy="2808103"/>
            <a:chOff x="0" y="0"/>
            <a:chExt cx="1744696" cy="542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44696" cy="542290"/>
            </a:xfrm>
            <a:custGeom>
              <a:avLst/>
              <a:gdLst/>
              <a:ahLst/>
              <a:cxnLst/>
              <a:rect l="l" t="t" r="r" b="b"/>
              <a:pathLst>
                <a:path w="1744696" h="542290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DFBF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960524" y="3788323"/>
            <a:ext cx="8900334" cy="238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Nuam es el holding regional resultante de la integración de las Bolsas de Valores de Santiago, Lima y Colombia, consolidando un mercado único para Chile, Perú y Colombia. Su misión es potenciar el desarrollo de estas economías a través de una infraestructura moderna que facilite el acceso, la negociación y el financiamiento tanto para grandes corporaciones como para pymes y startups.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410691" y="6572062"/>
            <a:ext cx="4473739" cy="2808103"/>
          </a:xfrm>
          <a:custGeom>
            <a:avLst/>
            <a:gdLst/>
            <a:ahLst/>
            <a:cxnLst/>
            <a:rect l="l" t="t" r="r" b="b"/>
            <a:pathLst>
              <a:path w="4473739" h="2808103">
                <a:moveTo>
                  <a:pt x="0" y="0"/>
                </a:moveTo>
                <a:lnTo>
                  <a:pt x="4473739" y="0"/>
                </a:lnTo>
                <a:lnTo>
                  <a:pt x="4473739" y="2808104"/>
                </a:lnTo>
                <a:lnTo>
                  <a:pt x="0" y="2808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56" r="-1756" b="-9942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1" name="Group 11"/>
          <p:cNvGrpSpPr/>
          <p:nvPr/>
        </p:nvGrpSpPr>
        <p:grpSpPr>
          <a:xfrm>
            <a:off x="2179166" y="6572062"/>
            <a:ext cx="9034431" cy="2808103"/>
            <a:chOff x="0" y="0"/>
            <a:chExt cx="1744696" cy="5422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4696" cy="542290"/>
            </a:xfrm>
            <a:custGeom>
              <a:avLst/>
              <a:gdLst/>
              <a:ahLst/>
              <a:cxnLst/>
              <a:rect l="l" t="t" r="r" b="b"/>
              <a:pathLst>
                <a:path w="1744696" h="542290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DFBF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40166" y="7106878"/>
            <a:ext cx="8512431" cy="1700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En el contexto de este proyecto, Nuam enfrenta el desafío estratégico de modernizar su gestión de información financiera y tributaria, buscando reemplazar procesos manuales por soluciones tecnológicas que garanticen mayor liquidez, eficiencia operativa y trazabilidad en la región."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41569" y="3342500"/>
            <a:ext cx="1835290" cy="1835290"/>
          </a:xfrm>
          <a:custGeom>
            <a:avLst/>
            <a:gdLst/>
            <a:ahLst/>
            <a:cxnLst/>
            <a:rect l="l" t="t" r="r" b="b"/>
            <a:pathLst>
              <a:path w="1835290" h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8198719" y="3342500"/>
            <a:ext cx="1835290" cy="1835290"/>
          </a:xfrm>
          <a:custGeom>
            <a:avLst/>
            <a:gdLst/>
            <a:ahLst/>
            <a:cxnLst/>
            <a:rect l="l" t="t" r="r" b="b"/>
            <a:pathLst>
              <a:path w="1835290" h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3211120" y="-4076108"/>
            <a:ext cx="9333423" cy="9577206"/>
          </a:xfrm>
          <a:custGeom>
            <a:avLst/>
            <a:gdLst/>
            <a:ahLst/>
            <a:cxnLst/>
            <a:rect l="l" t="t" r="r" b="b"/>
            <a:pathLst>
              <a:path w="9333423" h="9577206">
                <a:moveTo>
                  <a:pt x="0" y="0"/>
                </a:moveTo>
                <a:lnTo>
                  <a:pt x="9333422" y="0"/>
                </a:lnTo>
                <a:lnTo>
                  <a:pt x="9333422" y="9577207"/>
                </a:lnTo>
                <a:lnTo>
                  <a:pt x="0" y="9577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3051640" y="3342500"/>
            <a:ext cx="1835290" cy="1835290"/>
          </a:xfrm>
          <a:custGeom>
            <a:avLst/>
            <a:gdLst/>
            <a:ahLst/>
            <a:cxnLst/>
            <a:rect l="l" t="t" r="r" b="b"/>
            <a:pathLst>
              <a:path w="1835290" h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3739099" y="3763671"/>
            <a:ext cx="1040231" cy="992948"/>
          </a:xfrm>
          <a:custGeom>
            <a:avLst/>
            <a:gdLst/>
            <a:ahLst/>
            <a:cxnLst/>
            <a:rect l="l" t="t" r="r" b="b"/>
            <a:pathLst>
              <a:path w="1040231" h="992948">
                <a:moveTo>
                  <a:pt x="0" y="0"/>
                </a:moveTo>
                <a:lnTo>
                  <a:pt x="1040231" y="0"/>
                </a:lnTo>
                <a:lnTo>
                  <a:pt x="1040231" y="992948"/>
                </a:lnTo>
                <a:lnTo>
                  <a:pt x="0" y="992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3367511" y="1458275"/>
            <a:ext cx="11552977" cy="1166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sz="6947" b="1" spc="368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PROBLEMATICA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28029" y="7026124"/>
            <a:ext cx="4262371" cy="23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La clasificación tributaria y la carga de datos se realizan de forma manual. Esto provoca el doble de esfuerzos, consume mucho tiempo y eleva el riesgo de errores humanos en la informacion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3064" y="7026124"/>
            <a:ext cx="4262371" cy="269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Los datos provienen de múltiples fuentes desconectadas, lo que dificulta validar la información, consolidar reportes confiables y auditar los cambios históricos de los registros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38099" y="7026124"/>
            <a:ext cx="4262371" cy="269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La empresa afronta el desafío técnico y legal de unificar los sistemas de tres países distintos, debiendo cumplir con regulaciones cambiantes y asegurar la interoperabilidad entre las tres bolsas de valores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-3463037" y="-5866298"/>
            <a:ext cx="9333423" cy="9577206"/>
          </a:xfrm>
          <a:custGeom>
            <a:avLst/>
            <a:gdLst/>
            <a:ahLst/>
            <a:cxnLst/>
            <a:rect l="l" t="t" r="r" b="b"/>
            <a:pathLst>
              <a:path w="9333423" h="9577206">
                <a:moveTo>
                  <a:pt x="0" y="0"/>
                </a:moveTo>
                <a:lnTo>
                  <a:pt x="9333423" y="0"/>
                </a:lnTo>
                <a:lnTo>
                  <a:pt x="9333423" y="9577206"/>
                </a:lnTo>
                <a:lnTo>
                  <a:pt x="0" y="9577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 rot="-1887814">
            <a:off x="14993922" y="7627206"/>
            <a:ext cx="7634959" cy="7834379"/>
          </a:xfrm>
          <a:custGeom>
            <a:avLst/>
            <a:gdLst/>
            <a:ahLst/>
            <a:cxnLst/>
            <a:rect l="l" t="t" r="r" b="b"/>
            <a:pathLst>
              <a:path w="7634959" h="7834379">
                <a:moveTo>
                  <a:pt x="0" y="0"/>
                </a:moveTo>
                <a:lnTo>
                  <a:pt x="7634958" y="0"/>
                </a:lnTo>
                <a:lnTo>
                  <a:pt x="7634958" y="7834379"/>
                </a:lnTo>
                <a:lnTo>
                  <a:pt x="0" y="7834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 rot="-4176364">
            <a:off x="-4070557" y="7854232"/>
            <a:ext cx="8815232" cy="9045480"/>
          </a:xfrm>
          <a:custGeom>
            <a:avLst/>
            <a:gdLst/>
            <a:ahLst/>
            <a:cxnLst/>
            <a:rect l="l" t="t" r="r" b="b"/>
            <a:pathLst>
              <a:path w="8815232" h="9045480">
                <a:moveTo>
                  <a:pt x="0" y="0"/>
                </a:moveTo>
                <a:lnTo>
                  <a:pt x="8815232" y="0"/>
                </a:lnTo>
                <a:lnTo>
                  <a:pt x="8815232" y="9045480"/>
                </a:lnTo>
                <a:lnTo>
                  <a:pt x="0" y="9045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2633873" y="5564810"/>
            <a:ext cx="3250682" cy="1258940"/>
            <a:chOff x="0" y="0"/>
            <a:chExt cx="870410" cy="3370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0410" cy="337097"/>
            </a:xfrm>
            <a:custGeom>
              <a:avLst/>
              <a:gdLst/>
              <a:ahLst/>
              <a:cxnLst/>
              <a:rect l="l" t="t" r="r" b="b"/>
              <a:pathLst>
                <a:path w="870410" h="337097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294227"/>
                  </a:lnTo>
                  <a:cubicBezTo>
                    <a:pt x="870410" y="317903"/>
                    <a:pt x="851217" y="337097"/>
                    <a:pt x="827541" y="337097"/>
                  </a:cubicBezTo>
                  <a:lnTo>
                    <a:pt x="42869" y="337097"/>
                  </a:lnTo>
                  <a:cubicBezTo>
                    <a:pt x="19193" y="337097"/>
                    <a:pt x="0" y="317903"/>
                    <a:pt x="0" y="29422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38125"/>
              <a:ext cx="870410" cy="575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Gestión manual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491023" y="4929098"/>
            <a:ext cx="3273542" cy="2148254"/>
            <a:chOff x="0" y="-170220"/>
            <a:chExt cx="876531" cy="5752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0410" cy="337097"/>
            </a:xfrm>
            <a:custGeom>
              <a:avLst/>
              <a:gdLst/>
              <a:ahLst/>
              <a:cxnLst/>
              <a:rect l="l" t="t" r="r" b="b"/>
              <a:pathLst>
                <a:path w="870410" h="337097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294227"/>
                  </a:lnTo>
                  <a:cubicBezTo>
                    <a:pt x="870410" y="317903"/>
                    <a:pt x="851217" y="337097"/>
                    <a:pt x="827541" y="337097"/>
                  </a:cubicBezTo>
                  <a:lnTo>
                    <a:pt x="42869" y="337097"/>
                  </a:lnTo>
                  <a:cubicBezTo>
                    <a:pt x="19193" y="337097"/>
                    <a:pt x="0" y="317903"/>
                    <a:pt x="0" y="29422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21" y="-170220"/>
              <a:ext cx="870410" cy="575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spc="146" dirty="0" err="1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Dispersión</a:t>
              </a:r>
              <a:r>
                <a:rPr lang="en-US" sz="2524" b="1" spc="146" dirty="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de la </a:t>
              </a:r>
              <a:r>
                <a:rPr lang="en-US" sz="2524" b="1" spc="146" dirty="0" err="1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información</a:t>
              </a:r>
              <a:endParaRPr lang="en-US" sz="2524" b="1" spc="146" dirty="0">
                <a:solidFill>
                  <a:srgbClr val="131211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21084" y="5072743"/>
            <a:ext cx="3273542" cy="2148254"/>
            <a:chOff x="-6121" y="-131757"/>
            <a:chExt cx="876531" cy="57522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0410" cy="337097"/>
            </a:xfrm>
            <a:custGeom>
              <a:avLst/>
              <a:gdLst/>
              <a:ahLst/>
              <a:cxnLst/>
              <a:rect l="l" t="t" r="r" b="b"/>
              <a:pathLst>
                <a:path w="870410" h="337097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294227"/>
                  </a:lnTo>
                  <a:cubicBezTo>
                    <a:pt x="870410" y="317903"/>
                    <a:pt x="851217" y="337097"/>
                    <a:pt x="827541" y="337097"/>
                  </a:cubicBezTo>
                  <a:lnTo>
                    <a:pt x="42869" y="337097"/>
                  </a:lnTo>
                  <a:cubicBezTo>
                    <a:pt x="19193" y="337097"/>
                    <a:pt x="0" y="317903"/>
                    <a:pt x="0" y="29422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6121" y="-131757"/>
              <a:ext cx="870410" cy="575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578"/>
                </a:lnSpc>
                <a:spcBef>
                  <a:spcPct val="0"/>
                </a:spcBef>
              </a:pPr>
              <a:r>
                <a:rPr lang="en-US" sz="2524" b="1" spc="146" dirty="0" err="1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Complejidad</a:t>
              </a:r>
              <a:r>
                <a:rPr lang="en-US" sz="2524" b="1" spc="146" dirty="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regional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3510595" y="4222864"/>
            <a:ext cx="889040" cy="902163"/>
          </a:xfrm>
          <a:custGeom>
            <a:avLst/>
            <a:gdLst/>
            <a:ahLst/>
            <a:cxnLst/>
            <a:rect l="l" t="t" r="r" b="b"/>
            <a:pathLst>
              <a:path w="889040" h="902163">
                <a:moveTo>
                  <a:pt x="0" y="0"/>
                </a:moveTo>
                <a:lnTo>
                  <a:pt x="889040" y="0"/>
                </a:lnTo>
                <a:lnTo>
                  <a:pt x="889040" y="902163"/>
                </a:lnTo>
                <a:lnTo>
                  <a:pt x="0" y="9021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8633908" y="3722552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3" y="0"/>
                </a:lnTo>
                <a:lnTo>
                  <a:pt x="960683" y="1052540"/>
                </a:lnTo>
                <a:lnTo>
                  <a:pt x="0" y="1052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760017" y="-12044846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088359" y="1932610"/>
            <a:ext cx="7986955" cy="1132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6695" b="1" spc="65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OBJETIVO GENERAL </a:t>
            </a:r>
          </a:p>
        </p:txBody>
      </p:sp>
      <p:sp>
        <p:nvSpPr>
          <p:cNvPr id="4" name="Freeform 4"/>
          <p:cNvSpPr/>
          <p:nvPr/>
        </p:nvSpPr>
        <p:spPr>
          <a:xfrm>
            <a:off x="14185607" y="-3917030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AutoShape 5"/>
          <p:cNvSpPr/>
          <p:nvPr/>
        </p:nvSpPr>
        <p:spPr>
          <a:xfrm>
            <a:off x="736319" y="8974791"/>
            <a:ext cx="12691034" cy="0"/>
          </a:xfrm>
          <a:prstGeom prst="line">
            <a:avLst/>
          </a:prstGeom>
          <a:ln w="28575" cap="flat">
            <a:solidFill>
              <a:srgbClr val="FDFBF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6" name="Group 6"/>
          <p:cNvGrpSpPr/>
          <p:nvPr/>
        </p:nvGrpSpPr>
        <p:grpSpPr>
          <a:xfrm>
            <a:off x="2556190" y="3668595"/>
            <a:ext cx="9051292" cy="4471176"/>
            <a:chOff x="0" y="0"/>
            <a:chExt cx="3467942" cy="17131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67941" cy="1713101"/>
            </a:xfrm>
            <a:custGeom>
              <a:avLst/>
              <a:gdLst/>
              <a:ahLst/>
              <a:cxnLst/>
              <a:rect l="l" t="t" r="r" b="b"/>
              <a:pathLst>
                <a:path w="3467941" h="1713101">
                  <a:moveTo>
                    <a:pt x="10264" y="0"/>
                  </a:moveTo>
                  <a:lnTo>
                    <a:pt x="3457677" y="0"/>
                  </a:lnTo>
                  <a:cubicBezTo>
                    <a:pt x="3463346" y="0"/>
                    <a:pt x="3467941" y="4595"/>
                    <a:pt x="3467941" y="10264"/>
                  </a:cubicBezTo>
                  <a:lnTo>
                    <a:pt x="3467941" y="1702837"/>
                  </a:lnTo>
                  <a:cubicBezTo>
                    <a:pt x="3467941" y="1708505"/>
                    <a:pt x="3463346" y="1713101"/>
                    <a:pt x="3457677" y="1713101"/>
                  </a:cubicBezTo>
                  <a:lnTo>
                    <a:pt x="10264" y="1713101"/>
                  </a:lnTo>
                  <a:cubicBezTo>
                    <a:pt x="4595" y="1713101"/>
                    <a:pt x="0" y="1708505"/>
                    <a:pt x="0" y="1702837"/>
                  </a:cubicBezTo>
                  <a:lnTo>
                    <a:pt x="0" y="10264"/>
                  </a:lnTo>
                  <a:cubicBezTo>
                    <a:pt x="0" y="4595"/>
                    <a:pt x="4595" y="0"/>
                    <a:pt x="10264" y="0"/>
                  </a:cubicBez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3467942" cy="1732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1943" y="4275673"/>
            <a:ext cx="8379787" cy="291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90" spc="2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Desarrollar un  mantenedor de  calificaciones tributarias robusto y  de facil uso, que permita cargar, modificar y  administrar estos datos de forma sencilla y segura, optimizando el proceso tributario anual de los corredores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407869">
            <a:off x="7589602" y="1118883"/>
            <a:ext cx="12471670" cy="5351480"/>
          </a:xfrm>
          <a:custGeom>
            <a:avLst/>
            <a:gdLst/>
            <a:ahLst/>
            <a:cxnLst/>
            <a:rect l="l" t="t" r="r" b="b"/>
            <a:pathLst>
              <a:path w="12471670" h="535148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0641457" y="0"/>
            <a:ext cx="7646543" cy="10287000"/>
          </a:xfrm>
          <a:custGeom>
            <a:avLst/>
            <a:gdLst/>
            <a:ahLst/>
            <a:cxnLst/>
            <a:rect l="l" t="t" r="r" b="b"/>
            <a:pathLst>
              <a:path w="7646543" h="10287000">
                <a:moveTo>
                  <a:pt x="0" y="0"/>
                </a:moveTo>
                <a:lnTo>
                  <a:pt x="7646543" y="0"/>
                </a:lnTo>
                <a:lnTo>
                  <a:pt x="76465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92" r="-7840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3407869">
            <a:off x="-4696947" y="10150458"/>
            <a:ext cx="12471670" cy="5351480"/>
          </a:xfrm>
          <a:custGeom>
            <a:avLst/>
            <a:gdLst/>
            <a:ahLst/>
            <a:cxnLst/>
            <a:rect l="l" t="t" r="r" b="b"/>
            <a:pathLst>
              <a:path w="12471670" h="5351480">
                <a:moveTo>
                  <a:pt x="0" y="0"/>
                </a:moveTo>
                <a:lnTo>
                  <a:pt x="12471670" y="0"/>
                </a:lnTo>
                <a:lnTo>
                  <a:pt x="12471670" y="5351480"/>
                </a:lnTo>
                <a:lnTo>
                  <a:pt x="0" y="5351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3081402" y="1123950"/>
            <a:ext cx="5724712" cy="1703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12"/>
              </a:lnSpc>
            </a:pPr>
            <a:r>
              <a:rPr lang="en-US" sz="6297" b="1" spc="617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OBJETIVOS ESPECIFICOS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7078" y="3232444"/>
            <a:ext cx="7893360" cy="6025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7074" lvl="1" indent="-273537" algn="l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Desarrollar un mantenedor centralizado de calificaciones tributarias.</a:t>
            </a:r>
          </a:p>
          <a:p>
            <a:pPr algn="l">
              <a:lnSpc>
                <a:spcPts val="3496"/>
              </a:lnSpc>
            </a:pPr>
            <a:endParaRPr lang="en-US" sz="2533" spc="248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47074" lvl="1" indent="-273537" algn="l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Implementar la carga masiva y automatización de datos (RPA).</a:t>
            </a:r>
          </a:p>
          <a:p>
            <a:pPr algn="l">
              <a:lnSpc>
                <a:spcPts val="3496"/>
              </a:lnSpc>
            </a:pPr>
            <a:endParaRPr lang="en-US" sz="2533" spc="248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47074" lvl="1" indent="-273537" algn="l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Asegurar la trazabilidad y el cumplimiento normativo.</a:t>
            </a:r>
          </a:p>
          <a:p>
            <a:pPr algn="l">
              <a:lnSpc>
                <a:spcPts val="3496"/>
              </a:lnSpc>
            </a:pPr>
            <a:endParaRPr lang="en-US" sz="2533" spc="248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47074" lvl="1" indent="-273537" algn="l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Establecer controles de seguridad robustos.</a:t>
            </a:r>
          </a:p>
          <a:p>
            <a:pPr algn="l">
              <a:lnSpc>
                <a:spcPts val="3496"/>
              </a:lnSpc>
            </a:pPr>
            <a:endParaRPr lang="en-US" sz="2533" spc="248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47074" lvl="1" indent="-273537" algn="l">
              <a:lnSpc>
                <a:spcPts val="3496"/>
              </a:lnSpc>
              <a:buFont typeface="Arial"/>
              <a:buChar char="•"/>
            </a:pPr>
            <a:r>
              <a:rPr lang="en-US" sz="2533" spc="248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Generar reportes consolidados y exportables.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403043" y="-5382649"/>
            <a:ext cx="12110389" cy="12426705"/>
          </a:xfrm>
          <a:custGeom>
            <a:avLst/>
            <a:gdLst/>
            <a:ahLst/>
            <a:cxnLst/>
            <a:rect l="l" t="t" r="r" b="b"/>
            <a:pathLst>
              <a:path w="12110389" h="12426705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3986589">
            <a:off x="16150503" y="-3794425"/>
            <a:ext cx="9894000" cy="10152425"/>
          </a:xfrm>
          <a:custGeom>
            <a:avLst/>
            <a:gdLst/>
            <a:ahLst/>
            <a:cxnLst/>
            <a:rect l="l" t="t" r="r" b="b"/>
            <a:pathLst>
              <a:path w="9894000" h="10152425">
                <a:moveTo>
                  <a:pt x="0" y="0"/>
                </a:moveTo>
                <a:lnTo>
                  <a:pt x="9894000" y="0"/>
                </a:lnTo>
                <a:lnTo>
                  <a:pt x="9894000" y="10152425"/>
                </a:lnTo>
                <a:lnTo>
                  <a:pt x="0" y="101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2800584" y="1052501"/>
            <a:ext cx="12686832" cy="230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5"/>
              </a:lnSpc>
            </a:pPr>
            <a:r>
              <a:rPr lang="en-US" sz="6699" b="1" spc="65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HERRAMIENTAS INGENIERILES APLICADAS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5206" y="3615070"/>
            <a:ext cx="15677587" cy="229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</a:pPr>
            <a:r>
              <a:rPr lang="en-US" sz="2793" b="1" spc="273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Analisis  Estrategicos </a:t>
            </a:r>
          </a:p>
          <a:p>
            <a:pPr marL="516751" lvl="1" indent="-258376" algn="l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Analisis PESTEL: Evaluación de factores externos: Políticos, Económicos, Sociales, Tecnológicos, Ecológicos y Legales.</a:t>
            </a:r>
          </a:p>
          <a:p>
            <a:pPr marL="516751" lvl="1" indent="-258376" algn="l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Analisis FODA: Identificación de Fortalezas, Oportunidades, Debilidades y Amenazas del proyecto.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05206" y="5666188"/>
            <a:ext cx="15677587" cy="229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</a:pPr>
            <a:r>
              <a:rPr lang="en-US" sz="2793" b="1" spc="273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Ingeniería de Requerimientos:</a:t>
            </a:r>
          </a:p>
          <a:p>
            <a:pPr marL="516751" lvl="1" indent="-258376" algn="l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Historias de usuario: Descripción de las necesidades funcionales desde la perspectiva del usuario final.</a:t>
            </a:r>
          </a:p>
          <a:p>
            <a:pPr marL="516751" lvl="1" indent="-258376" algn="l">
              <a:lnSpc>
                <a:spcPts val="3590"/>
              </a:lnSpc>
              <a:buFont typeface="Arial"/>
              <a:buChar char="•"/>
            </a:pPr>
            <a:r>
              <a:rPr lang="en-US" sz="2393" spc="234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Tecnica de priorizacion MosCoW: Priorización de requerimientos según su criticidad e impacto en el negocio.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5206" y="7797652"/>
            <a:ext cx="15677587" cy="1857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4"/>
              </a:lnSpc>
            </a:pPr>
            <a:r>
              <a:rPr lang="en-US" sz="2793" b="1" spc="273" dirty="0" err="1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Arquitectura</a:t>
            </a:r>
            <a:r>
              <a:rPr lang="en-US" sz="2793" b="1" spc="273" dirty="0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 y </a:t>
            </a:r>
            <a:r>
              <a:rPr lang="en-US" sz="2793" b="1" spc="273" dirty="0" err="1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Diseño</a:t>
            </a:r>
            <a:r>
              <a:rPr lang="en-US" sz="2793" b="1" spc="273" dirty="0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 de Software</a:t>
            </a:r>
          </a:p>
          <a:p>
            <a:pPr marL="516751" lvl="1" indent="-258376" algn="l">
              <a:lnSpc>
                <a:spcPts val="3590"/>
              </a:lnSpc>
              <a:buFont typeface="Arial"/>
              <a:buChar char="•"/>
            </a:pP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Paradigma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 4+1: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Representación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 de la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arquitectura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sistema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mediante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 5 vistas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complementarias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lógica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procesos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física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desarrollo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393" spc="234" dirty="0" err="1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escenarios</a:t>
            </a:r>
            <a:r>
              <a:rPr lang="en-US" sz="2393" spc="234" dirty="0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58375" lvl="1" algn="l">
              <a:lnSpc>
                <a:spcPts val="3590"/>
              </a:lnSpc>
            </a:pPr>
            <a:endParaRPr lang="en-US" sz="2393" spc="234" dirty="0">
              <a:solidFill>
                <a:srgbClr val="F5FF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78808">
            <a:off x="-8894378" y="-8988598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8"/>
                </a:lnTo>
                <a:lnTo>
                  <a:pt x="0" y="1434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0580377">
            <a:off x="12764389" y="4378355"/>
            <a:ext cx="12102934" cy="12419055"/>
          </a:xfrm>
          <a:custGeom>
            <a:avLst/>
            <a:gdLst/>
            <a:ahLst/>
            <a:cxnLst/>
            <a:rect l="l" t="t" r="r" b="b"/>
            <a:pathLst>
              <a:path w="12102934" h="12419055">
                <a:moveTo>
                  <a:pt x="0" y="0"/>
                </a:moveTo>
                <a:lnTo>
                  <a:pt x="12102934" y="0"/>
                </a:lnTo>
                <a:lnTo>
                  <a:pt x="12102934" y="12419055"/>
                </a:lnTo>
                <a:lnTo>
                  <a:pt x="0" y="12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918429" y="111553"/>
            <a:ext cx="15579422" cy="253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72"/>
              </a:lnSpc>
            </a:pPr>
            <a:r>
              <a:rPr lang="en-US" sz="7371" b="1" spc="72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ANÁLISIS</a:t>
            </a:r>
          </a:p>
          <a:p>
            <a:pPr marL="0" lvl="0" indent="0" algn="ctr">
              <a:lnSpc>
                <a:spcPts val="10172"/>
              </a:lnSpc>
              <a:spcBef>
                <a:spcPct val="0"/>
              </a:spcBef>
            </a:pPr>
            <a:r>
              <a:rPr lang="en-US" sz="7371" b="1" spc="72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DE COSTO-BENEFICIO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45571" y="2679777"/>
            <a:ext cx="5758750" cy="6587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Inversión Total Estimada: $16.384.950</a:t>
            </a: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Desglose de la Inversión:</a:t>
            </a: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Equipamiento Desarrollo ($9.0M): Activos duraderos (Notebooks de alto rendimiento y periféricos) para asegurar productividad.</a:t>
            </a: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Infraestructura Física ($2.4M): Servidores locales, Firewall y NAS para seguridad y respaldos.</a:t>
            </a: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Licencias y Cloud ($5.0M): Costos operativos por 6 meses (Azure, UiPath, GitHub) para alta disponibilidad y automatización.</a:t>
            </a: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Enfoque: Modelo híbrido (Físico + Nube) para optimizar el gasto sin sacrificar seguridad.</a:t>
            </a: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708140" y="2679777"/>
            <a:ext cx="5758750" cy="564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Eficiencia Operativa: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Reducción estimada del 80% en tiempos de carga gracias a la automatización (RPA).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Eliminación de errores manuales en la digitación.</a:t>
            </a: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Mitigación de Riesgos: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El costo del proyecto (~$16M) es marginal comparado con el riesgo de multas regulatorias en 3 países (Chile, Perú, Colombia).</a:t>
            </a: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Valor Estratégico: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Trazabilidad total de la información (Auditoría).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Seguridad robusta ante ciberataques.</a:t>
            </a: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943058" y="8767191"/>
            <a:ext cx="7322527" cy="953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sz="1829" b="1" spc="106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Conclusión: El proyecto es viable financiera y técnicamente; el costo de no hacer nada (riesgo de multas y errores) es superior a la inversión tecnológica.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41636">
            <a:off x="-10551901" y="-5576314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0580377">
            <a:off x="12764389" y="4378355"/>
            <a:ext cx="12102934" cy="12419055"/>
          </a:xfrm>
          <a:custGeom>
            <a:avLst/>
            <a:gdLst/>
            <a:ahLst/>
            <a:cxnLst/>
            <a:rect l="l" t="t" r="r" b="b"/>
            <a:pathLst>
              <a:path w="12102934" h="12419055">
                <a:moveTo>
                  <a:pt x="0" y="0"/>
                </a:moveTo>
                <a:lnTo>
                  <a:pt x="12102934" y="0"/>
                </a:lnTo>
                <a:lnTo>
                  <a:pt x="12102934" y="12419055"/>
                </a:lnTo>
                <a:lnTo>
                  <a:pt x="0" y="12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175994" y="490102"/>
            <a:ext cx="15936012" cy="113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45"/>
              </a:lnSpc>
              <a:spcBef>
                <a:spcPct val="0"/>
              </a:spcBef>
            </a:pPr>
            <a:r>
              <a:rPr lang="en-US" sz="6699" b="1" spc="656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PROPUESTA DE MEJORA FASE A FASE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40804" y="1726218"/>
            <a:ext cx="13206392" cy="88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6"/>
              </a:lnSpc>
            </a:pPr>
            <a:endParaRPr/>
          </a:p>
          <a:p>
            <a:pPr algn="l">
              <a:lnSpc>
                <a:spcPts val="2806"/>
              </a:lnSpc>
            </a:pPr>
            <a:r>
              <a:rPr lang="en-US" sz="2033" b="1" spc="199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 Seleccionada: Se utilizó Scrum con ciclos cortos (Sprints de 2-3 semanas) para permitir una adaptación rápida a los cambios regulatorios</a:t>
            </a:r>
          </a:p>
          <a:p>
            <a:pPr algn="l">
              <a:lnSpc>
                <a:spcPts val="2806"/>
              </a:lnSpc>
            </a:pPr>
            <a:endParaRPr lang="en-US" sz="2033" b="1" spc="199">
              <a:solidFill>
                <a:srgbClr val="F2F4F5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2806"/>
              </a:lnSpc>
            </a:pPr>
            <a:r>
              <a:rPr lang="en-US" sz="2033" b="1" spc="199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Cimientos y Gestión de datos (sprint 1) </a:t>
            </a: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•Toma de requerimientos</a:t>
            </a: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•Configuración del entorno en Azure DevOps y diseño de la Base de Datos.</a:t>
            </a:r>
          </a:p>
          <a:p>
            <a:pPr algn="l">
              <a:lnSpc>
                <a:spcPts val="2530"/>
              </a:lnSpc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•Desarrollo del CRUD para las calificaciones tributarias</a:t>
            </a:r>
          </a:p>
          <a:p>
            <a:pPr algn="l">
              <a:lnSpc>
                <a:spcPts val="2806"/>
              </a:lnSpc>
            </a:pPr>
            <a:r>
              <a:rPr lang="en-US" sz="2033" b="1" spc="199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Fase 2: Automatización y Eficiencia (Sprint 2)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Implementación de la Carga Masiva de datos desde archivos Excel/CSV para eliminar la digitación manual.</a:t>
            </a:r>
          </a:p>
          <a:p>
            <a:pPr algn="l">
              <a:lnSpc>
                <a:spcPts val="2806"/>
              </a:lnSpc>
            </a:pPr>
            <a:r>
              <a:rPr lang="en-US" sz="2033" b="1" spc="199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Fase 3: Visibilidad y Control (Sprint 3)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Implementación de Trazabilidad (Logs de auditoría) para registrar cada acción en el sistema.</a:t>
            </a:r>
          </a:p>
          <a:p>
            <a:pPr algn="l">
              <a:lnSpc>
                <a:spcPts val="2806"/>
              </a:lnSpc>
            </a:pPr>
            <a:r>
              <a:rPr lang="en-US" sz="2033" b="1" spc="199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Fase 4: Seguridad Robusta (Sprint 4)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Activación de seguridad avanzada: Autenticación y cifrado de datos.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Control de Acceso Basado en Roles (RBAC) para diferenciar permisos entre Corredores, Auditores y Admin.</a:t>
            </a:r>
          </a:p>
          <a:p>
            <a:pPr algn="l">
              <a:lnSpc>
                <a:spcPts val="2806"/>
              </a:lnSpc>
            </a:pPr>
            <a:r>
              <a:rPr lang="en-US" sz="2033" b="1" spc="199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Fase 5: Interoperabilidad Regional (Sprint 5)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Simulación de integración con los sistemas de las bolsas de Santiago, Lima y Colombia.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Implementación de protocolos estándar financieros (FIX/ISO 20022).</a:t>
            </a:r>
          </a:p>
          <a:p>
            <a:pPr algn="l">
              <a:lnSpc>
                <a:spcPts val="2806"/>
              </a:lnSpc>
            </a:pPr>
            <a:r>
              <a:rPr lang="en-US" sz="2033" b="1" spc="199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Fase 6: Cierre del MVP e Innovación (Sprint 6)</a:t>
            </a:r>
          </a:p>
          <a:p>
            <a:pPr marL="395947" lvl="1" indent="-197974" algn="l">
              <a:lnSpc>
                <a:spcPts val="2530"/>
              </a:lnSpc>
              <a:buFont typeface="Arial"/>
              <a:buChar char="•"/>
            </a:pPr>
            <a:r>
              <a:rPr lang="en-US" sz="1833" spc="179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Pruebas finales, documentación técnica y despliegue del Producto Mínimo Viable (MVP).</a:t>
            </a: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530"/>
              </a:lnSpc>
            </a:pPr>
            <a:endParaRPr lang="en-US" sz="1833" spc="179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9045">
            <a:off x="-402841" y="5307804"/>
            <a:ext cx="18804424" cy="8068807"/>
          </a:xfrm>
          <a:custGeom>
            <a:avLst/>
            <a:gdLst/>
            <a:ahLst/>
            <a:cxnLst/>
            <a:rect l="l" t="t" r="r" b="b"/>
            <a:pathLst>
              <a:path w="18804424" h="8068807">
                <a:moveTo>
                  <a:pt x="0" y="0"/>
                </a:moveTo>
                <a:lnTo>
                  <a:pt x="18804424" y="0"/>
                </a:lnTo>
                <a:lnTo>
                  <a:pt x="18804424" y="8068808"/>
                </a:lnTo>
                <a:lnTo>
                  <a:pt x="0" y="806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7096177" y="3230423"/>
            <a:ext cx="4113179" cy="6822107"/>
            <a:chOff x="0" y="0"/>
            <a:chExt cx="1279723" cy="21225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9723" cy="2122545"/>
            </a:xfrm>
            <a:custGeom>
              <a:avLst/>
              <a:gdLst/>
              <a:ahLst/>
              <a:cxnLst/>
              <a:rect l="l" t="t" r="r" b="b"/>
              <a:pathLst>
                <a:path w="1279723" h="2122545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2120663"/>
                  </a:lnTo>
                  <a:cubicBezTo>
                    <a:pt x="1279723" y="2121162"/>
                    <a:pt x="1279525" y="2121641"/>
                    <a:pt x="1279172" y="2121994"/>
                  </a:cubicBezTo>
                  <a:cubicBezTo>
                    <a:pt x="1278819" y="2122347"/>
                    <a:pt x="1278340" y="2122545"/>
                    <a:pt x="1277841" y="2122545"/>
                  </a:cubicBezTo>
                  <a:lnTo>
                    <a:pt x="1882" y="2122545"/>
                  </a:lnTo>
                  <a:cubicBezTo>
                    <a:pt x="843" y="2122545"/>
                    <a:pt x="0" y="2121702"/>
                    <a:pt x="0" y="2120663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279723" cy="217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848558" y="3230423"/>
            <a:ext cx="4113179" cy="6822107"/>
            <a:chOff x="0" y="0"/>
            <a:chExt cx="1279723" cy="21225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9723" cy="2122545"/>
            </a:xfrm>
            <a:custGeom>
              <a:avLst/>
              <a:gdLst/>
              <a:ahLst/>
              <a:cxnLst/>
              <a:rect l="l" t="t" r="r" b="b"/>
              <a:pathLst>
                <a:path w="1279723" h="2122545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2120663"/>
                  </a:lnTo>
                  <a:cubicBezTo>
                    <a:pt x="1279723" y="2121162"/>
                    <a:pt x="1279525" y="2121641"/>
                    <a:pt x="1279172" y="2121994"/>
                  </a:cubicBezTo>
                  <a:cubicBezTo>
                    <a:pt x="1278819" y="2122347"/>
                    <a:pt x="1278340" y="2122545"/>
                    <a:pt x="1277841" y="2122545"/>
                  </a:cubicBezTo>
                  <a:lnTo>
                    <a:pt x="1882" y="2122545"/>
                  </a:lnTo>
                  <a:cubicBezTo>
                    <a:pt x="843" y="2122545"/>
                    <a:pt x="0" y="2121702"/>
                    <a:pt x="0" y="2120663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79723" cy="217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81890" y="3230423"/>
            <a:ext cx="4113179" cy="6822107"/>
            <a:chOff x="0" y="0"/>
            <a:chExt cx="1279723" cy="2122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9723" cy="2122545"/>
            </a:xfrm>
            <a:custGeom>
              <a:avLst/>
              <a:gdLst/>
              <a:ahLst/>
              <a:cxnLst/>
              <a:rect l="l" t="t" r="r" b="b"/>
              <a:pathLst>
                <a:path w="1279723" h="2122545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2120663"/>
                  </a:lnTo>
                  <a:cubicBezTo>
                    <a:pt x="1279723" y="2121162"/>
                    <a:pt x="1279525" y="2121641"/>
                    <a:pt x="1279172" y="2121994"/>
                  </a:cubicBezTo>
                  <a:cubicBezTo>
                    <a:pt x="1278819" y="2122347"/>
                    <a:pt x="1278340" y="2122545"/>
                    <a:pt x="1277841" y="2122545"/>
                  </a:cubicBezTo>
                  <a:lnTo>
                    <a:pt x="1882" y="2122545"/>
                  </a:lnTo>
                  <a:cubicBezTo>
                    <a:pt x="843" y="2122545"/>
                    <a:pt x="0" y="2121702"/>
                    <a:pt x="0" y="2120663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279723" cy="217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711631" y="3653528"/>
            <a:ext cx="1211702" cy="1322294"/>
          </a:xfrm>
          <a:custGeom>
            <a:avLst/>
            <a:gdLst/>
            <a:ahLst/>
            <a:cxnLst/>
            <a:rect l="l" t="t" r="r" b="b"/>
            <a:pathLst>
              <a:path w="1211702" h="1322294">
                <a:moveTo>
                  <a:pt x="0" y="0"/>
                </a:moveTo>
                <a:lnTo>
                  <a:pt x="1211702" y="0"/>
                </a:lnTo>
                <a:lnTo>
                  <a:pt x="1211702" y="1322294"/>
                </a:lnTo>
                <a:lnTo>
                  <a:pt x="0" y="1322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8563658" y="3698866"/>
            <a:ext cx="1160684" cy="1393835"/>
          </a:xfrm>
          <a:custGeom>
            <a:avLst/>
            <a:gdLst/>
            <a:ahLst/>
            <a:cxnLst/>
            <a:rect l="l" t="t" r="r" b="b"/>
            <a:pathLst>
              <a:path w="1160684" h="1393835">
                <a:moveTo>
                  <a:pt x="0" y="0"/>
                </a:moveTo>
                <a:lnTo>
                  <a:pt x="1160684" y="0"/>
                </a:lnTo>
                <a:lnTo>
                  <a:pt x="1160684" y="1393834"/>
                </a:lnTo>
                <a:lnTo>
                  <a:pt x="0" y="13938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3381056" y="3653528"/>
            <a:ext cx="1353071" cy="1353071"/>
          </a:xfrm>
          <a:custGeom>
            <a:avLst/>
            <a:gdLst/>
            <a:ahLst/>
            <a:cxnLst/>
            <a:rect l="l" t="t" r="r" b="b"/>
            <a:pathLst>
              <a:path w="1353071" h="1353071">
                <a:moveTo>
                  <a:pt x="0" y="0"/>
                </a:moveTo>
                <a:lnTo>
                  <a:pt x="1353071" y="0"/>
                </a:lnTo>
                <a:lnTo>
                  <a:pt x="1353071" y="1353071"/>
                </a:lnTo>
                <a:lnTo>
                  <a:pt x="0" y="1353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2343797" y="1155414"/>
            <a:ext cx="13617940" cy="159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9431" b="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CONCLUSIONES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46171" y="5391750"/>
            <a:ext cx="3542623" cy="263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 El proyecto logra transformar una gestión tributaria manual y riesgosa en un proceso digital robusto, alineándose con el objetivo de Nuam de integrar y modernizar los mercados de Chile, Perú y Colombia.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50502" y="5391750"/>
            <a:ext cx="3542623" cy="263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 La implementación de automatización (RPA) y controles de acceso garantiza la integridad de los datos, reduciendo drásticamente los errores humanos y asegurando el cumplimiento normativo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en la región.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33836" y="5461018"/>
            <a:ext cx="3542623" cy="234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El uso de Scrum permitió desarrollar una solución flexible y escalable, validando que la inversión tecnológica es altamente rentable al mitigar riesgos legales y mejorar la productividad operativa.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11609" y="8204696"/>
            <a:ext cx="2974893" cy="158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CONCLUSIÓN 1</a:t>
            </a:r>
          </a:p>
          <a:p>
            <a:pPr marL="0" lvl="0" indent="0" algn="ctr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MODERNIZACION ESTRATEGICA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1924" y="8204696"/>
            <a:ext cx="2974893" cy="158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CONCLUSIÓN 2</a:t>
            </a:r>
          </a:p>
          <a:p>
            <a:pPr marL="0" lvl="0" indent="0" algn="ctr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EFICIENCIA Y SEGURIDAD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17701" y="8204696"/>
            <a:ext cx="2974893" cy="158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CONCLUSIÓN 3</a:t>
            </a:r>
          </a:p>
          <a:p>
            <a:pPr marL="0" lvl="0" indent="0" algn="ctr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METODOLOGÍA Y VIABILIDAD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F83E4-1850-FB93-21FE-955A9AA6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BD7BDE-3BCB-3ED3-D843-C198CAA2D562}"/>
              </a:ext>
            </a:extLst>
          </p:cNvPr>
          <p:cNvSpPr/>
          <p:nvPr/>
        </p:nvSpPr>
        <p:spPr>
          <a:xfrm rot="79045">
            <a:off x="-402841" y="5307804"/>
            <a:ext cx="18804424" cy="8068807"/>
          </a:xfrm>
          <a:custGeom>
            <a:avLst/>
            <a:gdLst/>
            <a:ahLst/>
            <a:cxnLst/>
            <a:rect l="l" t="t" r="r" b="b"/>
            <a:pathLst>
              <a:path w="18804424" h="8068807">
                <a:moveTo>
                  <a:pt x="0" y="0"/>
                </a:moveTo>
                <a:lnTo>
                  <a:pt x="18804424" y="0"/>
                </a:lnTo>
                <a:lnTo>
                  <a:pt x="18804424" y="8068808"/>
                </a:lnTo>
                <a:lnTo>
                  <a:pt x="0" y="806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FF1A1C7-044C-F442-2B43-77EF34428FC2}"/>
              </a:ext>
            </a:extLst>
          </p:cNvPr>
          <p:cNvSpPr txBox="1"/>
          <p:nvPr/>
        </p:nvSpPr>
        <p:spPr>
          <a:xfrm>
            <a:off x="11818507" y="3046736"/>
            <a:ext cx="4113179" cy="700579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114"/>
              </a:lnSpc>
              <a:spcBef>
                <a:spcPct val="0"/>
              </a:spcBef>
            </a:pPr>
            <a:endParaRPr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852FCA7-E635-3AE9-616D-FF5B449BB282}"/>
              </a:ext>
            </a:extLst>
          </p:cNvPr>
          <p:cNvGrpSpPr/>
          <p:nvPr/>
        </p:nvGrpSpPr>
        <p:grpSpPr>
          <a:xfrm>
            <a:off x="2703045" y="2626181"/>
            <a:ext cx="12881910" cy="6822107"/>
            <a:chOff x="0" y="0"/>
            <a:chExt cx="1279723" cy="212254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815D5CA-2969-FA7D-5F68-497AFE853C55}"/>
                </a:ext>
              </a:extLst>
            </p:cNvPr>
            <p:cNvSpPr/>
            <p:nvPr/>
          </p:nvSpPr>
          <p:spPr>
            <a:xfrm>
              <a:off x="0" y="0"/>
              <a:ext cx="1279723" cy="2122545"/>
            </a:xfrm>
            <a:custGeom>
              <a:avLst/>
              <a:gdLst/>
              <a:ahLst/>
              <a:cxnLst/>
              <a:rect l="l" t="t" r="r" b="b"/>
              <a:pathLst>
                <a:path w="1279723" h="2122545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2120663"/>
                  </a:lnTo>
                  <a:cubicBezTo>
                    <a:pt x="1279723" y="2121162"/>
                    <a:pt x="1279525" y="2121641"/>
                    <a:pt x="1279172" y="2121994"/>
                  </a:cubicBezTo>
                  <a:cubicBezTo>
                    <a:pt x="1278819" y="2122347"/>
                    <a:pt x="1278340" y="2122545"/>
                    <a:pt x="1277841" y="2122545"/>
                  </a:cubicBezTo>
                  <a:lnTo>
                    <a:pt x="1882" y="2122545"/>
                  </a:lnTo>
                  <a:cubicBezTo>
                    <a:pt x="843" y="2122545"/>
                    <a:pt x="0" y="2121702"/>
                    <a:pt x="0" y="2120663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3F7FD25-CC4F-7EBC-A030-B405C24E99D6}"/>
                </a:ext>
              </a:extLst>
            </p:cNvPr>
            <p:cNvSpPr txBox="1"/>
            <p:nvPr/>
          </p:nvSpPr>
          <p:spPr>
            <a:xfrm>
              <a:off x="0" y="-57150"/>
              <a:ext cx="1279723" cy="217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1756B7E-029D-518F-7EE7-94AA287D0958}"/>
              </a:ext>
            </a:extLst>
          </p:cNvPr>
          <p:cNvSpPr txBox="1"/>
          <p:nvPr/>
        </p:nvSpPr>
        <p:spPr>
          <a:xfrm>
            <a:off x="2335030" y="1006822"/>
            <a:ext cx="13617940" cy="159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9431" b="1" spc="924" dirty="0" err="1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Bibliografia</a:t>
            </a:r>
            <a:endParaRPr lang="en-US" sz="9431" b="1" spc="924" dirty="0">
              <a:solidFill>
                <a:srgbClr val="F2F4F5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480F7E3-BE04-2409-B94C-C19754A51A5C}"/>
              </a:ext>
            </a:extLst>
          </p:cNvPr>
          <p:cNvSpPr txBox="1"/>
          <p:nvPr/>
        </p:nvSpPr>
        <p:spPr>
          <a:xfrm>
            <a:off x="3048000" y="3289320"/>
            <a:ext cx="12192000" cy="5093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CL" u="sng" dirty="0">
                <a:hlinkClick r:id="rId4"/>
              </a:rPr>
              <a:t>https://www.nuam.com/</a:t>
            </a:r>
            <a:endParaRPr lang="es-CL" u="sng" dirty="0"/>
          </a:p>
          <a:p>
            <a:endParaRPr lang="es-CL" dirty="0"/>
          </a:p>
          <a:p>
            <a:r>
              <a:rPr lang="es-CL" u="sng" dirty="0">
                <a:hlinkClick r:id="rId5"/>
              </a:rPr>
              <a:t>https://www.latercera.com/laboratoriodecontenidos/noticia/nuam-la-holding-que-integra-las-bolsas-de-santiago-lima-y-colombia-y-busca-revolucionar-el-mercado-de-capitales/SM2BUV5HPRBJDJHHJ4AT4Q45QA/</a:t>
            </a:r>
            <a:endParaRPr lang="es-CL" u="sng" dirty="0"/>
          </a:p>
          <a:p>
            <a:endParaRPr lang="es-CL" sz="3049" u="sng" spc="298" dirty="0">
              <a:solidFill>
                <a:srgbClr val="FDFBFB"/>
              </a:solidFill>
              <a:latin typeface="Oswald"/>
              <a:ea typeface="Oswald"/>
              <a:cs typeface="Oswald"/>
              <a:sym typeface="Oswald"/>
            </a:endParaRPr>
          </a:p>
          <a:p>
            <a:endParaRPr lang="es-CL" dirty="0"/>
          </a:p>
          <a:p>
            <a:endParaRPr lang="es-CL" dirty="0"/>
          </a:p>
          <a:p>
            <a:r>
              <a:rPr lang="es-CL" u="sng" dirty="0">
                <a:hlinkClick r:id="rId6"/>
              </a:rPr>
              <a:t>https://www.iso20022.org</a:t>
            </a:r>
            <a:endParaRPr lang="es-CL" u="sng" dirty="0"/>
          </a:p>
          <a:p>
            <a:endParaRPr lang="es-CL" u="sng" dirty="0"/>
          </a:p>
          <a:p>
            <a:r>
              <a:rPr lang="es-CL">
                <a:hlinkClick r:id="rId7"/>
              </a:rPr>
              <a:t>Regulación</a:t>
            </a:r>
            <a:endParaRPr lang="es-CL" sz="3049" u="sng" spc="298" dirty="0">
              <a:solidFill>
                <a:srgbClr val="FDFBFB"/>
              </a:solidFill>
              <a:latin typeface="Oswald"/>
              <a:ea typeface="Oswald"/>
              <a:cs typeface="Oswald"/>
              <a:sym typeface="Oswald"/>
            </a:endParaRPr>
          </a:p>
          <a:p>
            <a:r>
              <a:rPr lang="es-CL" u="sng" dirty="0">
                <a:hlinkClick r:id="rId8"/>
              </a:rPr>
              <a:t>https://www.drawio.com/blog/uml-class-diagrams</a:t>
            </a:r>
            <a:endParaRPr lang="es-CL" u="sng" dirty="0"/>
          </a:p>
          <a:p>
            <a:endParaRPr lang="es-CL" dirty="0"/>
          </a:p>
          <a:p>
            <a:r>
              <a:rPr lang="es-CL" u="sng" dirty="0">
                <a:hlinkClick r:id="rId9"/>
              </a:rPr>
              <a:t>https://www.drawio.com/blog/uml-component-diagrams</a:t>
            </a:r>
            <a:endParaRPr lang="es-CL" u="sng" dirty="0"/>
          </a:p>
          <a:p>
            <a:endParaRPr lang="es-CL" u="sng" dirty="0"/>
          </a:p>
          <a:p>
            <a:r>
              <a:rPr lang="es-MX" dirty="0">
                <a:hlinkClick r:id="rId10"/>
              </a:rPr>
              <a:t>¿Qué es el control de acceso basado en funciones (RBAC)? ¿Por qué es importante? | Fortinet</a:t>
            </a:r>
            <a:endParaRPr lang="es-CL" u="sng" dirty="0"/>
          </a:p>
          <a:p>
            <a:endParaRPr lang="es-CL" sz="3049" u="sng" spc="298" dirty="0">
              <a:solidFill>
                <a:srgbClr val="FDFBFB"/>
              </a:solidFill>
              <a:latin typeface="Oswald"/>
              <a:ea typeface="Oswald"/>
              <a:cs typeface="Oswald"/>
              <a:sym typeface="Oswald"/>
            </a:endParaRPr>
          </a:p>
          <a:p>
            <a:r>
              <a:rPr lang="es-MX" dirty="0">
                <a:hlinkClick r:id="rId11"/>
              </a:rPr>
              <a:t>OWASP Top 10 API 2023 | Seguridad en API y web </a:t>
            </a:r>
            <a:r>
              <a:rPr lang="es-MX" dirty="0" err="1">
                <a:hlinkClick r:id="rId11"/>
              </a:rPr>
              <a:t>services</a:t>
            </a:r>
            <a:r>
              <a:rPr lang="es-MX" dirty="0">
                <a:hlinkClick r:id="rId11"/>
              </a:rPr>
              <a:t> | Udemy</a:t>
            </a:r>
            <a:endParaRPr lang="en-US" spc="298" dirty="0">
              <a:solidFill>
                <a:srgbClr val="FDFBFB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  <p:extLst>
      <p:ext uri="{BB962C8B-B14F-4D97-AF65-F5344CB8AC3E}">
        <p14:creationId xmlns:p14="http://schemas.microsoft.com/office/powerpoint/2010/main" val="3607755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80377">
            <a:off x="9161036" y="-10318990"/>
            <a:ext cx="24036383" cy="24664199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561733" y="2105045"/>
            <a:ext cx="8097687" cy="324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015"/>
              </a:lnSpc>
              <a:spcBef>
                <a:spcPct val="0"/>
              </a:spcBef>
            </a:pPr>
            <a:r>
              <a:rPr lang="en-US" sz="9431" b="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MUCHAS GRACIAS</a:t>
            </a:r>
          </a:p>
        </p:txBody>
      </p:sp>
      <p:sp>
        <p:nvSpPr>
          <p:cNvPr id="4" name="Freeform 4"/>
          <p:cNvSpPr/>
          <p:nvPr/>
        </p:nvSpPr>
        <p:spPr>
          <a:xfrm>
            <a:off x="-2317151" y="6224857"/>
            <a:ext cx="11461151" cy="11760509"/>
          </a:xfrm>
          <a:custGeom>
            <a:avLst/>
            <a:gdLst/>
            <a:ahLst/>
            <a:cxnLst/>
            <a:rect l="l" t="t" r="r" b="b"/>
            <a:pathLst>
              <a:path w="11461151" h="11760509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1129</Words>
  <Application>Microsoft Office PowerPoint</Application>
  <PresentationFormat>Personalizado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Oswald</vt:lpstr>
      <vt:lpstr>Oswald Bold</vt:lpstr>
      <vt:lpstr>DM Sans</vt:lpstr>
      <vt:lpstr>DM Sans Bold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www.unsitiogenial.es</dc:title>
  <cp:lastModifiedBy>Bruno Maldonado</cp:lastModifiedBy>
  <cp:revision>4</cp:revision>
  <dcterms:created xsi:type="dcterms:W3CDTF">2006-08-16T00:00:00Z</dcterms:created>
  <dcterms:modified xsi:type="dcterms:W3CDTF">2025-12-19T17:28:16Z</dcterms:modified>
  <dc:identifier>DAG7Pictu2k</dc:identifier>
</cp:coreProperties>
</file>