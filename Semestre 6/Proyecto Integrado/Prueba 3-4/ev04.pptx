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swald" charset="1" panose="00000500000000000000"/>
      <p:regular r:id="rId18"/>
    </p:embeddedFont>
    <p:embeddedFont>
      <p:font typeface="DM Sans" charset="1" panose="00000000000000000000"/>
      <p:regular r:id="rId19"/>
    </p:embeddedFont>
    <p:embeddedFont>
      <p:font typeface="DM Sans Bold" charset="1" panose="00000000000000000000"/>
      <p:regular r:id="rId20"/>
    </p:embeddedFont>
    <p:embeddedFont>
      <p:font typeface="Oswald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10843852" y="2831894"/>
            <a:ext cx="12525650" cy="12852812"/>
          </a:xfrm>
          <a:custGeom>
            <a:avLst/>
            <a:gdLst/>
            <a:ahLst/>
            <a:cxnLst/>
            <a:rect r="r" b="b" t="t" l="l"/>
            <a:pathLst>
              <a:path h="12852812" w="12525650">
                <a:moveTo>
                  <a:pt x="0" y="0"/>
                </a:moveTo>
                <a:lnTo>
                  <a:pt x="12525649" y="0"/>
                </a:lnTo>
                <a:lnTo>
                  <a:pt x="12525649" y="12852812"/>
                </a:lnTo>
                <a:lnTo>
                  <a:pt x="0" y="12852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05786" y="-7392626"/>
            <a:ext cx="13641413" cy="13997719"/>
          </a:xfrm>
          <a:custGeom>
            <a:avLst/>
            <a:gdLst/>
            <a:ahLst/>
            <a:cxnLst/>
            <a:rect r="r" b="b" t="t" l="l"/>
            <a:pathLst>
              <a:path h="13997719" w="13641413">
                <a:moveTo>
                  <a:pt x="0" y="0"/>
                </a:moveTo>
                <a:lnTo>
                  <a:pt x="13641413" y="0"/>
                </a:lnTo>
                <a:lnTo>
                  <a:pt x="13641413" y="13997719"/>
                </a:lnTo>
                <a:lnTo>
                  <a:pt x="0" y="13997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236347" y="3039068"/>
            <a:ext cx="9815307" cy="4208864"/>
            <a:chOff x="0" y="0"/>
            <a:chExt cx="189549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5495" cy="812800"/>
            </a:xfrm>
            <a:custGeom>
              <a:avLst/>
              <a:gdLst/>
              <a:ahLst/>
              <a:cxnLst/>
              <a:rect r="r" b="b" t="t" l="l"/>
              <a:pathLst>
                <a:path h="812800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20273" y="3471513"/>
            <a:ext cx="9731380" cy="377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PROYECTO INTEGRADO (113-4B)</a:t>
            </a:r>
          </a:p>
          <a:p>
            <a:pPr algn="ctr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INGENIERIA EN INFORMATICA</a:t>
            </a:r>
          </a:p>
          <a:p>
            <a:pPr algn="ctr">
              <a:lnSpc>
                <a:spcPts val="4327"/>
              </a:lnSpc>
            </a:pPr>
          </a:p>
          <a:p>
            <a:pPr algn="l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NOMBRES: BRUNO ROJAS</a:t>
            </a:r>
          </a:p>
          <a:p>
            <a:pPr algn="l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               JUAN MOLINA</a:t>
            </a:r>
          </a:p>
          <a:p>
            <a:pPr algn="l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PROFESOR: YALENI GOMEZ</a:t>
            </a:r>
          </a:p>
          <a:p>
            <a:pPr algn="l">
              <a:lnSpc>
                <a:spcPts val="432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23035">
            <a:off x="-3830022" y="5071964"/>
            <a:ext cx="8491989" cy="8713794"/>
          </a:xfrm>
          <a:custGeom>
            <a:avLst/>
            <a:gdLst/>
            <a:ahLst/>
            <a:cxnLst/>
            <a:rect r="r" b="b" t="t" l="l"/>
            <a:pathLst>
              <a:path h="8713794" w="8491989">
                <a:moveTo>
                  <a:pt x="0" y="0"/>
                </a:moveTo>
                <a:lnTo>
                  <a:pt x="8491989" y="0"/>
                </a:lnTo>
                <a:lnTo>
                  <a:pt x="8491989" y="8713794"/>
                </a:lnTo>
                <a:lnTo>
                  <a:pt x="0" y="871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2817951" y="-3485761"/>
            <a:ext cx="10940099" cy="11225848"/>
          </a:xfrm>
          <a:custGeom>
            <a:avLst/>
            <a:gdLst/>
            <a:ahLst/>
            <a:cxnLst/>
            <a:rect r="r" b="b" t="t" l="l"/>
            <a:pathLst>
              <a:path h="11225848" w="10940099">
                <a:moveTo>
                  <a:pt x="0" y="0"/>
                </a:moveTo>
                <a:lnTo>
                  <a:pt x="10940098" y="0"/>
                </a:lnTo>
                <a:lnTo>
                  <a:pt x="10940098" y="11225847"/>
                </a:lnTo>
                <a:lnTo>
                  <a:pt x="0" y="1122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78824" y="3138316"/>
            <a:ext cx="5790503" cy="625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Presentación de la Empresa.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Presentación de la empresa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Problemática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Objetivo General.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Objetivos Específicos.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Herramientas utilizadas.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Análisis Costo-Beneficio.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Propuesta de mejora fase a fase.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Conclusión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650968" y="3289935"/>
            <a:ext cx="804092" cy="6192890"/>
            <a:chOff x="0" y="0"/>
            <a:chExt cx="211777" cy="16310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777" cy="1631049"/>
            </a:xfrm>
            <a:custGeom>
              <a:avLst/>
              <a:gdLst/>
              <a:ahLst/>
              <a:cxnLst/>
              <a:rect r="r" b="b" t="t" l="l"/>
              <a:pathLst>
                <a:path h="1631049" w="211777">
                  <a:moveTo>
                    <a:pt x="105889" y="0"/>
                  </a:moveTo>
                  <a:lnTo>
                    <a:pt x="105889" y="0"/>
                  </a:lnTo>
                  <a:cubicBezTo>
                    <a:pt x="133972" y="0"/>
                    <a:pt x="160905" y="11156"/>
                    <a:pt x="180763" y="31014"/>
                  </a:cubicBezTo>
                  <a:cubicBezTo>
                    <a:pt x="200621" y="50872"/>
                    <a:pt x="211777" y="77805"/>
                    <a:pt x="211777" y="105889"/>
                  </a:cubicBezTo>
                  <a:lnTo>
                    <a:pt x="211777" y="1525161"/>
                  </a:lnTo>
                  <a:cubicBezTo>
                    <a:pt x="211777" y="1553244"/>
                    <a:pt x="200621" y="1580177"/>
                    <a:pt x="180763" y="1600035"/>
                  </a:cubicBezTo>
                  <a:cubicBezTo>
                    <a:pt x="160905" y="1619893"/>
                    <a:pt x="133972" y="1631049"/>
                    <a:pt x="105889" y="1631049"/>
                  </a:cubicBezTo>
                  <a:lnTo>
                    <a:pt x="105889" y="1631049"/>
                  </a:lnTo>
                  <a:cubicBezTo>
                    <a:pt x="77805" y="1631049"/>
                    <a:pt x="50872" y="1619893"/>
                    <a:pt x="31014" y="1600035"/>
                  </a:cubicBezTo>
                  <a:cubicBezTo>
                    <a:pt x="11156" y="1580177"/>
                    <a:pt x="0" y="1553244"/>
                    <a:pt x="0" y="1525161"/>
                  </a:cubicBezTo>
                  <a:lnTo>
                    <a:pt x="0" y="105889"/>
                  </a:lnTo>
                  <a:cubicBezTo>
                    <a:pt x="0" y="77805"/>
                    <a:pt x="11156" y="50872"/>
                    <a:pt x="31014" y="31014"/>
                  </a:cubicBezTo>
                  <a:cubicBezTo>
                    <a:pt x="50872" y="11156"/>
                    <a:pt x="77805" y="0"/>
                    <a:pt x="10588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38125"/>
              <a:ext cx="211777" cy="1869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 strike="noStrike" u="none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 strike="noStrike" u="none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 strike="noStrike" u="none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 strike="noStrike" u="none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</a:t>
              </a:r>
            </a:p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 strike="noStrike" u="none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07</a:t>
              </a:r>
            </a:p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 strike="noStrike" u="none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08</a:t>
              </a:r>
            </a:p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 strike="noStrike" u="none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09</a:t>
              </a:r>
            </a:p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 strike="noStrike" u="none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</a:t>
              </a:r>
            </a:p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 strike="noStrike" u="none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350149" y="1440424"/>
            <a:ext cx="5521600" cy="124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4"/>
              </a:lnSpc>
            </a:pPr>
            <a:r>
              <a:rPr lang="en-US" b="true" sz="7431" spc="728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ÍNDICE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5624172"/>
            <a:ext cx="11461151" cy="11760509"/>
          </a:xfrm>
          <a:custGeom>
            <a:avLst/>
            <a:gdLst/>
            <a:ahLst/>
            <a:cxnLst/>
            <a:rect r="r" b="b" t="t" l="l"/>
            <a:pathLst>
              <a:path h="11760509" w="11461151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42191" y="3396305"/>
            <a:ext cx="9051292" cy="4471176"/>
            <a:chOff x="0" y="0"/>
            <a:chExt cx="3467942" cy="1713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67941" cy="1713101"/>
            </a:xfrm>
            <a:custGeom>
              <a:avLst/>
              <a:gdLst/>
              <a:ahLst/>
              <a:cxnLst/>
              <a:rect r="r" b="b" t="t" l="l"/>
              <a:pathLst>
                <a:path h="1713101" w="3467941">
                  <a:moveTo>
                    <a:pt x="10264" y="0"/>
                  </a:moveTo>
                  <a:lnTo>
                    <a:pt x="3457677" y="0"/>
                  </a:lnTo>
                  <a:cubicBezTo>
                    <a:pt x="3463346" y="0"/>
                    <a:pt x="3467941" y="4595"/>
                    <a:pt x="3467941" y="10264"/>
                  </a:cubicBezTo>
                  <a:lnTo>
                    <a:pt x="3467941" y="1702837"/>
                  </a:lnTo>
                  <a:cubicBezTo>
                    <a:pt x="3467941" y="1708505"/>
                    <a:pt x="3463346" y="1713101"/>
                    <a:pt x="3457677" y="1713101"/>
                  </a:cubicBezTo>
                  <a:lnTo>
                    <a:pt x="10264" y="1713101"/>
                  </a:lnTo>
                  <a:cubicBezTo>
                    <a:pt x="4595" y="1713101"/>
                    <a:pt x="0" y="1708505"/>
                    <a:pt x="0" y="1702837"/>
                  </a:cubicBezTo>
                  <a:lnTo>
                    <a:pt x="0" y="10264"/>
                  </a:lnTo>
                  <a:cubicBezTo>
                    <a:pt x="0" y="4595"/>
                    <a:pt x="4595" y="0"/>
                    <a:pt x="10264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467942" cy="1732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3588384" y="6507120"/>
            <a:ext cx="11461151" cy="11760509"/>
          </a:xfrm>
          <a:custGeom>
            <a:avLst/>
            <a:gdLst/>
            <a:ahLst/>
            <a:cxnLst/>
            <a:rect r="r" b="b" t="t" l="l"/>
            <a:pathLst>
              <a:path h="11760509" w="11461151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42191" y="1798959"/>
            <a:ext cx="8323558" cy="116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680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INTRODUCCIÓN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77944" y="3661974"/>
            <a:ext cx="8379787" cy="440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90" spc="2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Nuam es un holding que integra las bolsas de valores de santiago, lima y colombia creando  un mercado unico regional. Busca desarrollar la economia a traves de una infraestructura moderna que facilite el acceso , la negociacion y el crecimiento tanto de grande empresas  como  de startups</a:t>
            </a:r>
          </a:p>
          <a:p>
            <a:pPr algn="l">
              <a:lnSpc>
                <a:spcPts val="4112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9348249">
            <a:off x="9144000" y="5228440"/>
            <a:ext cx="11461151" cy="11760509"/>
          </a:xfrm>
          <a:custGeom>
            <a:avLst/>
            <a:gdLst/>
            <a:ahLst/>
            <a:cxnLst/>
            <a:rect r="r" b="b" t="t" l="l"/>
            <a:pathLst>
              <a:path h="11760509" w="11461151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63000" y="3510391"/>
            <a:ext cx="4473739" cy="2808103"/>
          </a:xfrm>
          <a:custGeom>
            <a:avLst/>
            <a:gdLst/>
            <a:ahLst/>
            <a:cxnLst/>
            <a:rect r="r" b="b" t="t" l="l"/>
            <a:pathLst>
              <a:path h="2808103" w="4473739">
                <a:moveTo>
                  <a:pt x="0" y="0"/>
                </a:moveTo>
                <a:lnTo>
                  <a:pt x="4473739" y="0"/>
                </a:lnTo>
                <a:lnTo>
                  <a:pt x="4473739" y="2808104"/>
                </a:lnTo>
                <a:lnTo>
                  <a:pt x="0" y="280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12" t="0" r="-5512" b="-1784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87007" y="575869"/>
            <a:ext cx="14713986" cy="2277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0"/>
              </a:lnSpc>
            </a:pPr>
            <a:r>
              <a:rPr lang="en-US" b="true" sz="6630" spc="64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PRESENTACIÓN DE LA EMPRESA:</a:t>
            </a:r>
          </a:p>
          <a:p>
            <a:pPr algn="ctr">
              <a:lnSpc>
                <a:spcPts val="9150"/>
              </a:lnSpc>
            </a:pPr>
            <a:r>
              <a:rPr lang="en-US" b="true" sz="6630" spc="64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NUAM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93475" y="3510391"/>
            <a:ext cx="9034431" cy="2808103"/>
            <a:chOff x="0" y="0"/>
            <a:chExt cx="1744696" cy="5422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4696" cy="542290"/>
            </a:xfrm>
            <a:custGeom>
              <a:avLst/>
              <a:gdLst/>
              <a:ahLst/>
              <a:cxnLst/>
              <a:rect r="r" b="b" t="t" l="l"/>
              <a:pathLst>
                <a:path h="542290" w="1744696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960524" y="3788323"/>
            <a:ext cx="8900334" cy="238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Nuam es el holding regional resultante de la integración de las Bolsas de Valores de Santiago, Lima y Colombia, consolidando un mercado único para Chile, Perú y Colombia. Su misión es potenciar el desarrollo de estas economías a través de una infraestructura moderna que facilite el acceso, la negociación y el financiamiento tanto para grandes corporaciones como para pymes y startups.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410691" y="6572062"/>
            <a:ext cx="4473739" cy="2808103"/>
          </a:xfrm>
          <a:custGeom>
            <a:avLst/>
            <a:gdLst/>
            <a:ahLst/>
            <a:cxnLst/>
            <a:rect r="r" b="b" t="t" l="l"/>
            <a:pathLst>
              <a:path h="2808103" w="4473739">
                <a:moveTo>
                  <a:pt x="0" y="0"/>
                </a:moveTo>
                <a:lnTo>
                  <a:pt x="4473739" y="0"/>
                </a:lnTo>
                <a:lnTo>
                  <a:pt x="4473739" y="2808104"/>
                </a:lnTo>
                <a:lnTo>
                  <a:pt x="0" y="2808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56" t="0" r="-1756" b="-9942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79166" y="6572062"/>
            <a:ext cx="9034431" cy="2808103"/>
            <a:chOff x="0" y="0"/>
            <a:chExt cx="1744696" cy="5422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696" cy="542290"/>
            </a:xfrm>
            <a:custGeom>
              <a:avLst/>
              <a:gdLst/>
              <a:ahLst/>
              <a:cxnLst/>
              <a:rect r="r" b="b" t="t" l="l"/>
              <a:pathLst>
                <a:path h="542290" w="1744696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440166" y="7106878"/>
            <a:ext cx="8512431" cy="170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En el contexto de este proyecto, Nuam enfrenta el desafío estratégico de modernizar su gestión de información financiera y tributaria, buscando reemplazar procesos manuales por soluciones tecnológicas que garanticen mayor liquidez, eficiencia operativa y trazabilidad en la región."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41569" y="3342500"/>
            <a:ext cx="1835290" cy="1835290"/>
          </a:xfrm>
          <a:custGeom>
            <a:avLst/>
            <a:gdLst/>
            <a:ahLst/>
            <a:cxnLst/>
            <a:rect r="r" b="b" t="t" l="l"/>
            <a:pathLst>
              <a:path h="1835290" w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98719" y="3342500"/>
            <a:ext cx="1835290" cy="1835290"/>
          </a:xfrm>
          <a:custGeom>
            <a:avLst/>
            <a:gdLst/>
            <a:ahLst/>
            <a:cxnLst/>
            <a:rect r="r" b="b" t="t" l="l"/>
            <a:pathLst>
              <a:path h="1835290" w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11120" y="-407610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2" y="0"/>
                </a:lnTo>
                <a:lnTo>
                  <a:pt x="9333422" y="9577207"/>
                </a:lnTo>
                <a:lnTo>
                  <a:pt x="0" y="9577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51640" y="3342500"/>
            <a:ext cx="1835290" cy="1835290"/>
          </a:xfrm>
          <a:custGeom>
            <a:avLst/>
            <a:gdLst/>
            <a:ahLst/>
            <a:cxnLst/>
            <a:rect r="r" b="b" t="t" l="l"/>
            <a:pathLst>
              <a:path h="1835290" w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39099" y="3763671"/>
            <a:ext cx="1040231" cy="992948"/>
          </a:xfrm>
          <a:custGeom>
            <a:avLst/>
            <a:gdLst/>
            <a:ahLst/>
            <a:cxnLst/>
            <a:rect r="r" b="b" t="t" l="l"/>
            <a:pathLst>
              <a:path h="992948" w="1040231">
                <a:moveTo>
                  <a:pt x="0" y="0"/>
                </a:moveTo>
                <a:lnTo>
                  <a:pt x="1040231" y="0"/>
                </a:lnTo>
                <a:lnTo>
                  <a:pt x="1040231" y="992948"/>
                </a:lnTo>
                <a:lnTo>
                  <a:pt x="0" y="992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67511" y="1458275"/>
            <a:ext cx="11552977" cy="116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b="true" sz="6947" spc="368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PROBLEMATICA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8029" y="7026124"/>
            <a:ext cx="4262371" cy="235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La clasificación tributaria y la carga de datos se realizan de forma manual. Esto provoca el doble de esfuerzos, consume mucho tiempo y eleva el riesgo de errores humanos en la informacion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3064" y="7026124"/>
            <a:ext cx="4262371" cy="269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Los datos provienen de múltiples fuentes desconectadas, lo que dificulta validar la información, consolidar reportes confiables y auditar los cambios históricos de los registros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38099" y="7026124"/>
            <a:ext cx="4262371" cy="269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La empresa afronta el desafío técnico y legal de unificar los sistemas de tres países distintos, debiendo cumplir con regulaciones cambiantes y asegurar la interoperabilidad entre las tres bolsas de valores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3463037" y="-586629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3" y="0"/>
                </a:lnTo>
                <a:lnTo>
                  <a:pt x="9333423" y="9577206"/>
                </a:lnTo>
                <a:lnTo>
                  <a:pt x="0" y="9577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887814">
            <a:off x="14993922" y="7627206"/>
            <a:ext cx="7634959" cy="7834379"/>
          </a:xfrm>
          <a:custGeom>
            <a:avLst/>
            <a:gdLst/>
            <a:ahLst/>
            <a:cxnLst/>
            <a:rect r="r" b="b" t="t" l="l"/>
            <a:pathLst>
              <a:path h="7834379" w="7634959">
                <a:moveTo>
                  <a:pt x="0" y="0"/>
                </a:moveTo>
                <a:lnTo>
                  <a:pt x="7634958" y="0"/>
                </a:lnTo>
                <a:lnTo>
                  <a:pt x="7634958" y="7834379"/>
                </a:lnTo>
                <a:lnTo>
                  <a:pt x="0" y="7834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176364">
            <a:off x="-4070557" y="7854232"/>
            <a:ext cx="8815232" cy="9045480"/>
          </a:xfrm>
          <a:custGeom>
            <a:avLst/>
            <a:gdLst/>
            <a:ahLst/>
            <a:cxnLst/>
            <a:rect r="r" b="b" t="t" l="l"/>
            <a:pathLst>
              <a:path h="9045480" w="8815232">
                <a:moveTo>
                  <a:pt x="0" y="0"/>
                </a:moveTo>
                <a:lnTo>
                  <a:pt x="8815232" y="0"/>
                </a:lnTo>
                <a:lnTo>
                  <a:pt x="8815232" y="9045480"/>
                </a:lnTo>
                <a:lnTo>
                  <a:pt x="0" y="9045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633873" y="5564810"/>
            <a:ext cx="3250682" cy="1258940"/>
            <a:chOff x="0" y="0"/>
            <a:chExt cx="870410" cy="3370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0410" cy="337097"/>
            </a:xfrm>
            <a:custGeom>
              <a:avLst/>
              <a:gdLst/>
              <a:ahLst/>
              <a:cxnLst/>
              <a:rect r="r" b="b" t="t" l="l"/>
              <a:pathLst>
                <a:path h="337097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294227"/>
                  </a:lnTo>
                  <a:cubicBezTo>
                    <a:pt x="870410" y="317903"/>
                    <a:pt x="851217" y="337097"/>
                    <a:pt x="827541" y="337097"/>
                  </a:cubicBezTo>
                  <a:lnTo>
                    <a:pt x="42869" y="337097"/>
                  </a:lnTo>
                  <a:cubicBezTo>
                    <a:pt x="19193" y="337097"/>
                    <a:pt x="0" y="317903"/>
                    <a:pt x="0" y="29422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38125"/>
              <a:ext cx="870410" cy="575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Gestión manual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91023" y="5564810"/>
            <a:ext cx="3250682" cy="1258940"/>
            <a:chOff x="0" y="0"/>
            <a:chExt cx="870410" cy="3370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0410" cy="337097"/>
            </a:xfrm>
            <a:custGeom>
              <a:avLst/>
              <a:gdLst/>
              <a:ahLst/>
              <a:cxnLst/>
              <a:rect r="r" b="b" t="t" l="l"/>
              <a:pathLst>
                <a:path h="337097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294227"/>
                  </a:lnTo>
                  <a:cubicBezTo>
                    <a:pt x="870410" y="317903"/>
                    <a:pt x="851217" y="337097"/>
                    <a:pt x="827541" y="337097"/>
                  </a:cubicBezTo>
                  <a:lnTo>
                    <a:pt x="42869" y="337097"/>
                  </a:lnTo>
                  <a:cubicBezTo>
                    <a:pt x="19193" y="337097"/>
                    <a:pt x="0" y="317903"/>
                    <a:pt x="0" y="29422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38125"/>
              <a:ext cx="870410" cy="575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Dispersión de la información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3944" y="5564810"/>
            <a:ext cx="3250682" cy="1258940"/>
            <a:chOff x="0" y="0"/>
            <a:chExt cx="870410" cy="3370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0410" cy="337097"/>
            </a:xfrm>
            <a:custGeom>
              <a:avLst/>
              <a:gdLst/>
              <a:ahLst/>
              <a:cxnLst/>
              <a:rect r="r" b="b" t="t" l="l"/>
              <a:pathLst>
                <a:path h="337097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294227"/>
                  </a:lnTo>
                  <a:cubicBezTo>
                    <a:pt x="870410" y="317903"/>
                    <a:pt x="851217" y="337097"/>
                    <a:pt x="827541" y="337097"/>
                  </a:cubicBezTo>
                  <a:lnTo>
                    <a:pt x="42869" y="337097"/>
                  </a:lnTo>
                  <a:cubicBezTo>
                    <a:pt x="19193" y="337097"/>
                    <a:pt x="0" y="317903"/>
                    <a:pt x="0" y="29422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38125"/>
              <a:ext cx="870410" cy="575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Complejidad regional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510595" y="4222864"/>
            <a:ext cx="889040" cy="902163"/>
          </a:xfrm>
          <a:custGeom>
            <a:avLst/>
            <a:gdLst/>
            <a:ahLst/>
            <a:cxnLst/>
            <a:rect r="r" b="b" t="t" l="l"/>
            <a:pathLst>
              <a:path h="902163" w="889040">
                <a:moveTo>
                  <a:pt x="0" y="0"/>
                </a:moveTo>
                <a:lnTo>
                  <a:pt x="889040" y="0"/>
                </a:lnTo>
                <a:lnTo>
                  <a:pt x="889040" y="902163"/>
                </a:lnTo>
                <a:lnTo>
                  <a:pt x="0" y="9021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633908" y="3722552"/>
            <a:ext cx="960682" cy="1052540"/>
          </a:xfrm>
          <a:custGeom>
            <a:avLst/>
            <a:gdLst/>
            <a:ahLst/>
            <a:cxnLst/>
            <a:rect r="r" b="b" t="t" l="l"/>
            <a:pathLst>
              <a:path h="1052540" w="960682">
                <a:moveTo>
                  <a:pt x="0" y="0"/>
                </a:moveTo>
                <a:lnTo>
                  <a:pt x="960683" y="0"/>
                </a:lnTo>
                <a:lnTo>
                  <a:pt x="960683" y="1052540"/>
                </a:lnTo>
                <a:lnTo>
                  <a:pt x="0" y="1052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60017" y="-12044846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88359" y="1932610"/>
            <a:ext cx="7986955" cy="113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b="true" sz="6695" spc="65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OBJETIVO GENERAL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85607" y="-3917030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736319" y="8974791"/>
            <a:ext cx="12691034" cy="0"/>
          </a:xfrm>
          <a:prstGeom prst="line">
            <a:avLst/>
          </a:prstGeom>
          <a:ln cap="flat" w="28575">
            <a:solidFill>
              <a:srgbClr val="FDFBF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556190" y="3668595"/>
            <a:ext cx="9051292" cy="4471176"/>
            <a:chOff x="0" y="0"/>
            <a:chExt cx="3467942" cy="17131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67941" cy="1713101"/>
            </a:xfrm>
            <a:custGeom>
              <a:avLst/>
              <a:gdLst/>
              <a:ahLst/>
              <a:cxnLst/>
              <a:rect r="r" b="b" t="t" l="l"/>
              <a:pathLst>
                <a:path h="1713101" w="3467941">
                  <a:moveTo>
                    <a:pt x="10264" y="0"/>
                  </a:moveTo>
                  <a:lnTo>
                    <a:pt x="3457677" y="0"/>
                  </a:lnTo>
                  <a:cubicBezTo>
                    <a:pt x="3463346" y="0"/>
                    <a:pt x="3467941" y="4595"/>
                    <a:pt x="3467941" y="10264"/>
                  </a:cubicBezTo>
                  <a:lnTo>
                    <a:pt x="3467941" y="1702837"/>
                  </a:lnTo>
                  <a:cubicBezTo>
                    <a:pt x="3467941" y="1708505"/>
                    <a:pt x="3463346" y="1713101"/>
                    <a:pt x="3457677" y="1713101"/>
                  </a:cubicBezTo>
                  <a:lnTo>
                    <a:pt x="10264" y="1713101"/>
                  </a:lnTo>
                  <a:cubicBezTo>
                    <a:pt x="4595" y="1713101"/>
                    <a:pt x="0" y="1708505"/>
                    <a:pt x="0" y="1702837"/>
                  </a:cubicBezTo>
                  <a:lnTo>
                    <a:pt x="0" y="10264"/>
                  </a:lnTo>
                  <a:cubicBezTo>
                    <a:pt x="0" y="4595"/>
                    <a:pt x="4595" y="0"/>
                    <a:pt x="10264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467942" cy="1732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91943" y="4275673"/>
            <a:ext cx="8379787" cy="291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90" spc="2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Desarrollar un  mantenedor de  calificaciones tributarias robusto y  de facil uso, que permita cargar, modificar y  administrar estos datos de forma sencilla y segura, optimizando el proceso tributario anual de los corredores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7589602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641457" y="0"/>
            <a:ext cx="7646543" cy="10287000"/>
          </a:xfrm>
          <a:custGeom>
            <a:avLst/>
            <a:gdLst/>
            <a:ahLst/>
            <a:cxnLst/>
            <a:rect r="r" b="b" t="t" l="l"/>
            <a:pathLst>
              <a:path h="10287000" w="7646543">
                <a:moveTo>
                  <a:pt x="0" y="0"/>
                </a:moveTo>
                <a:lnTo>
                  <a:pt x="7646543" y="0"/>
                </a:lnTo>
                <a:lnTo>
                  <a:pt x="76465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92" t="0" r="-7840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081402" y="1123950"/>
            <a:ext cx="5724712" cy="170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2"/>
              </a:lnSpc>
            </a:pPr>
            <a:r>
              <a:rPr lang="en-US" b="true" sz="6297" spc="617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OBJETIVOS ESPECIFICOS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97078" y="3232444"/>
            <a:ext cx="7893360" cy="602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074" indent="-273537" lvl="1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Desarrollar un mantenedor centralizado de calificaciones tributarias.</a:t>
            </a:r>
          </a:p>
          <a:p>
            <a:pPr algn="l">
              <a:lnSpc>
                <a:spcPts val="3496"/>
              </a:lnSpc>
            </a:pPr>
          </a:p>
          <a:p>
            <a:pPr algn="l" marL="547074" indent="-273537" lvl="1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Implementar la carga masiva y automatización de datos (RPA).</a:t>
            </a:r>
          </a:p>
          <a:p>
            <a:pPr algn="l">
              <a:lnSpc>
                <a:spcPts val="3496"/>
              </a:lnSpc>
            </a:pPr>
          </a:p>
          <a:p>
            <a:pPr algn="l" marL="547074" indent="-273537" lvl="1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Asegurar la trazabilidad y el cumplimiento normativo.</a:t>
            </a:r>
          </a:p>
          <a:p>
            <a:pPr algn="l">
              <a:lnSpc>
                <a:spcPts val="3496"/>
              </a:lnSpc>
            </a:pPr>
          </a:p>
          <a:p>
            <a:pPr algn="l" marL="547074" indent="-273537" lvl="1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Establecer controles de seguridad robustos.</a:t>
            </a:r>
          </a:p>
          <a:p>
            <a:pPr algn="l">
              <a:lnSpc>
                <a:spcPts val="3496"/>
              </a:lnSpc>
            </a:pPr>
          </a:p>
          <a:p>
            <a:pPr algn="l" marL="547074" indent="-273537" lvl="1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Generar reportes consolidados y exportables.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403043" y="-5382649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986589">
            <a:off x="16150503" y="-3794425"/>
            <a:ext cx="9894000" cy="10152425"/>
          </a:xfrm>
          <a:custGeom>
            <a:avLst/>
            <a:gdLst/>
            <a:ahLst/>
            <a:cxnLst/>
            <a:rect r="r" b="b" t="t" l="l"/>
            <a:pathLst>
              <a:path h="10152425" w="9894000">
                <a:moveTo>
                  <a:pt x="0" y="0"/>
                </a:moveTo>
                <a:lnTo>
                  <a:pt x="9894000" y="0"/>
                </a:lnTo>
                <a:lnTo>
                  <a:pt x="9894000" y="10152425"/>
                </a:lnTo>
                <a:lnTo>
                  <a:pt x="0" y="101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00584" y="1052501"/>
            <a:ext cx="12686832" cy="230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5"/>
              </a:lnSpc>
            </a:pPr>
            <a:r>
              <a:rPr lang="en-US" b="true" sz="6699" spc="65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HERRAMIENTAS INGENIERILES APLICADAS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5206" y="3615070"/>
            <a:ext cx="15677587" cy="2291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0"/>
              </a:lnSpc>
            </a:pPr>
            <a:r>
              <a:rPr lang="en-US" b="true" sz="2793" spc="273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Analisis  Estrategicos </a:t>
            </a:r>
          </a:p>
          <a:p>
            <a:pPr algn="l" marL="516751" indent="-258376" lvl="1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Analisis PESTEL: Evaluación de factores externos: Políticos, Económicos, Sociales, Tecnológicos, Ecológicos y Legales.</a:t>
            </a:r>
          </a:p>
          <a:p>
            <a:pPr algn="l" marL="516751" indent="-258376" lvl="1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Analisis FODA: Identificación de Fortalezas, Oportunidades, Debilidades y Amenazas del proyecto.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5206" y="5666188"/>
            <a:ext cx="15677587" cy="2291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0"/>
              </a:lnSpc>
            </a:pPr>
            <a:r>
              <a:rPr lang="en-US" b="true" sz="2793" spc="273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Ingeniería de Requerimientos:</a:t>
            </a:r>
          </a:p>
          <a:p>
            <a:pPr algn="l" marL="516751" indent="-258376" lvl="1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istorias de usuario: Descripción de las necesidades funcionales desde la perspectiva del usuario final.</a:t>
            </a:r>
          </a:p>
          <a:p>
            <a:pPr algn="l" marL="516751" indent="-258376" lvl="1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Tecnica de priorizacion MosCoW: Priorización de requerimientos según su criticidad e impacto en el negocio.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5206" y="7797652"/>
            <a:ext cx="15677587" cy="224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4"/>
              </a:lnSpc>
            </a:pPr>
            <a:r>
              <a:rPr lang="en-US" b="true" sz="2793" spc="273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Arquitectura y Diseño de Software</a:t>
            </a:r>
          </a:p>
          <a:p>
            <a:pPr algn="l" marL="516751" indent="-258376" lvl="1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Pa</a:t>
            </a: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radigma 4+1: Representación de la arquitectura del sistema mediante 5 vistas complementarias: lógica, procesos, física, desarrollo y escenarios.</a:t>
            </a:r>
          </a:p>
          <a:p>
            <a:pPr algn="l" marL="516751" indent="-258376" lvl="1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Tecnica de priorizacion MosCoW: Priorización de requerimientos según su criticidad e impacto en el negocio.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78808">
            <a:off x="-8894378" y="-8988598"/>
            <a:ext cx="13977230" cy="14342307"/>
          </a:xfrm>
          <a:custGeom>
            <a:avLst/>
            <a:gdLst/>
            <a:ahLst/>
            <a:cxnLst/>
            <a:rect r="r" b="b" t="t" l="l"/>
            <a:pathLst>
              <a:path h="14342307" w="13977230">
                <a:moveTo>
                  <a:pt x="0" y="0"/>
                </a:moveTo>
                <a:lnTo>
                  <a:pt x="13977230" y="0"/>
                </a:lnTo>
                <a:lnTo>
                  <a:pt x="13977230" y="14342308"/>
                </a:lnTo>
                <a:lnTo>
                  <a:pt x="0" y="1434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764389" y="4378355"/>
            <a:ext cx="12102934" cy="12419055"/>
          </a:xfrm>
          <a:custGeom>
            <a:avLst/>
            <a:gdLst/>
            <a:ahLst/>
            <a:cxnLst/>
            <a:rect r="r" b="b" t="t" l="l"/>
            <a:pathLst>
              <a:path h="12419055" w="12102934">
                <a:moveTo>
                  <a:pt x="0" y="0"/>
                </a:moveTo>
                <a:lnTo>
                  <a:pt x="12102934" y="0"/>
                </a:lnTo>
                <a:lnTo>
                  <a:pt x="12102934" y="12419055"/>
                </a:lnTo>
                <a:lnTo>
                  <a:pt x="0" y="12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18429" y="111553"/>
            <a:ext cx="15579422" cy="253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2"/>
              </a:lnSpc>
            </a:pPr>
            <a:r>
              <a:rPr lang="en-US" b="true" sz="7371" spc="72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ANÁLISIS</a:t>
            </a:r>
          </a:p>
          <a:p>
            <a:pPr algn="ctr" marL="0" indent="0" lvl="0">
              <a:lnSpc>
                <a:spcPts val="10172"/>
              </a:lnSpc>
              <a:spcBef>
                <a:spcPct val="0"/>
              </a:spcBef>
            </a:pPr>
            <a:r>
              <a:rPr lang="en-US" b="true" sz="7371" spc="72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DE COSTO-BENEFICIO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45571" y="2679777"/>
            <a:ext cx="5758750" cy="658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Inversión Total Estimada: $16.384.950</a:t>
            </a: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Desglose de la Inversión:</a:t>
            </a:r>
          </a:p>
          <a:p>
            <a:pPr algn="l">
              <a:lnSpc>
                <a:spcPts val="2530"/>
              </a:lnSpc>
            </a:pP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Equipamiento Desarrollo ($9.0M): Activos duraderos (Notebooks de alto rendimiento y periféricos) para asegurar productividad.</a:t>
            </a:r>
          </a:p>
          <a:p>
            <a:pPr algn="l">
              <a:lnSpc>
                <a:spcPts val="2530"/>
              </a:lnSpc>
            </a:pP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Infraestructura Física ($2.4M): Servidores locales, Firewall y NAS para seguridad y respaldos.</a:t>
            </a:r>
          </a:p>
          <a:p>
            <a:pPr algn="l">
              <a:lnSpc>
                <a:spcPts val="2530"/>
              </a:lnSpc>
            </a:pP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Licencias y Cloud ($5.0M): Costos operativos por 6 meses (Azure, UiPath, GitHub) para alta disponibilidad y automatización.</a:t>
            </a:r>
          </a:p>
          <a:p>
            <a:pPr algn="l">
              <a:lnSpc>
                <a:spcPts val="2530"/>
              </a:lnSpc>
            </a:pP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Enfoque: Modelo híbrido (Físico + Nube) para optimizar el gasto sin sacrificar seguridad.</a:t>
            </a:r>
          </a:p>
          <a:p>
            <a:pPr algn="l">
              <a:lnSpc>
                <a:spcPts val="253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708140" y="2679777"/>
            <a:ext cx="5758750" cy="564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Eficiencia Operativa: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Reducción estimada del 80% en tiempos de carga gracias a la automatización (RPA).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Eliminación de errores manuales en la digitación.</a:t>
            </a:r>
          </a:p>
          <a:p>
            <a:pPr algn="l">
              <a:lnSpc>
                <a:spcPts val="2530"/>
              </a:lnSpc>
            </a:pP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Mitigación de Riesgos: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El costo del proyecto (~$16M) es marginal comparado con el riesgo de multas regulatorias en 3 países (Chile, Perú, Colombia).</a:t>
            </a:r>
          </a:p>
          <a:p>
            <a:pPr algn="l">
              <a:lnSpc>
                <a:spcPts val="2530"/>
              </a:lnSpc>
            </a:pP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Valor Estratégico: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Trazabilidad total de la información (Auditoría).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Seguridad robusta ante ciberataques.</a:t>
            </a:r>
          </a:p>
          <a:p>
            <a:pPr algn="l">
              <a:lnSpc>
                <a:spcPts val="253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943058" y="8767191"/>
            <a:ext cx="7322527" cy="95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b="true" sz="1829" spc="106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Conclusión: El proyecto es viable financiera y técnicamente; el costo de no hacer nada (riesgo de multas y errores) es superior a la inversión tecnológica.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41636">
            <a:off x="-10227345" y="-4844809"/>
            <a:ext cx="13977230" cy="14342307"/>
          </a:xfrm>
          <a:custGeom>
            <a:avLst/>
            <a:gdLst/>
            <a:ahLst/>
            <a:cxnLst/>
            <a:rect r="r" b="b" t="t" l="l"/>
            <a:pathLst>
              <a:path h="14342307" w="13977230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764389" y="4378355"/>
            <a:ext cx="12102934" cy="12419055"/>
          </a:xfrm>
          <a:custGeom>
            <a:avLst/>
            <a:gdLst/>
            <a:ahLst/>
            <a:cxnLst/>
            <a:rect r="r" b="b" t="t" l="l"/>
            <a:pathLst>
              <a:path h="12419055" w="12102934">
                <a:moveTo>
                  <a:pt x="0" y="0"/>
                </a:moveTo>
                <a:lnTo>
                  <a:pt x="12102934" y="0"/>
                </a:lnTo>
                <a:lnTo>
                  <a:pt x="12102934" y="12419055"/>
                </a:lnTo>
                <a:lnTo>
                  <a:pt x="0" y="12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3216" y="729991"/>
            <a:ext cx="14101567" cy="230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45"/>
              </a:lnSpc>
              <a:spcBef>
                <a:spcPct val="0"/>
              </a:spcBef>
            </a:pPr>
            <a:r>
              <a:rPr lang="en-US" b="true" sz="6699" spc="656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PROPUESTA DE MEJORA FASE A FASE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45138" y="3353091"/>
            <a:ext cx="11597725" cy="375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Eficiencia Operativa: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Reducción estimada del 80% en tiempos de carga gracias a la automatización (RPA).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Eliminación de errores manuales en la digitación.</a:t>
            </a:r>
          </a:p>
          <a:p>
            <a:pPr algn="l">
              <a:lnSpc>
                <a:spcPts val="2530"/>
              </a:lnSpc>
            </a:pP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Mitigación de Riesgos: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El costo del proyecto (~$16M) es marginal comparado con el riesgo de multas regulatorias en 3 países (Chile, Perú, Colombia).</a:t>
            </a:r>
          </a:p>
          <a:p>
            <a:pPr algn="l">
              <a:lnSpc>
                <a:spcPts val="2530"/>
              </a:lnSpc>
            </a:pP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Valor Estratégico: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Trazabilidad total de la información (Auditoría).</a:t>
            </a:r>
          </a:p>
          <a:p>
            <a:pPr algn="l" marL="395947" indent="-197974" lvl="1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Seguridad robusta ante ciberataques.</a:t>
            </a:r>
          </a:p>
          <a:p>
            <a:pPr algn="l">
              <a:lnSpc>
                <a:spcPts val="253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045">
            <a:off x="-402841" y="5307804"/>
            <a:ext cx="18804424" cy="8068807"/>
          </a:xfrm>
          <a:custGeom>
            <a:avLst/>
            <a:gdLst/>
            <a:ahLst/>
            <a:cxnLst/>
            <a:rect r="r" b="b" t="t" l="l"/>
            <a:pathLst>
              <a:path h="8068807" w="18804424">
                <a:moveTo>
                  <a:pt x="0" y="0"/>
                </a:moveTo>
                <a:lnTo>
                  <a:pt x="18804424" y="0"/>
                </a:lnTo>
                <a:lnTo>
                  <a:pt x="18804424" y="8068808"/>
                </a:lnTo>
                <a:lnTo>
                  <a:pt x="0" y="806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096177" y="3230423"/>
            <a:ext cx="4113179" cy="6822107"/>
            <a:chOff x="0" y="0"/>
            <a:chExt cx="1279723" cy="21225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9723" cy="2122545"/>
            </a:xfrm>
            <a:custGeom>
              <a:avLst/>
              <a:gdLst/>
              <a:ahLst/>
              <a:cxnLst/>
              <a:rect r="r" b="b" t="t" l="l"/>
              <a:pathLst>
                <a:path h="2122545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2120663"/>
                  </a:lnTo>
                  <a:cubicBezTo>
                    <a:pt x="1279723" y="2121162"/>
                    <a:pt x="1279525" y="2121641"/>
                    <a:pt x="1279172" y="2121994"/>
                  </a:cubicBezTo>
                  <a:cubicBezTo>
                    <a:pt x="1278819" y="2122347"/>
                    <a:pt x="1278340" y="2122545"/>
                    <a:pt x="1277841" y="2122545"/>
                  </a:cubicBezTo>
                  <a:lnTo>
                    <a:pt x="1882" y="2122545"/>
                  </a:lnTo>
                  <a:cubicBezTo>
                    <a:pt x="843" y="2122545"/>
                    <a:pt x="0" y="2121702"/>
                    <a:pt x="0" y="2120663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79723" cy="2179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848558" y="3230423"/>
            <a:ext cx="4113179" cy="6822107"/>
            <a:chOff x="0" y="0"/>
            <a:chExt cx="1279723" cy="21225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9723" cy="2122545"/>
            </a:xfrm>
            <a:custGeom>
              <a:avLst/>
              <a:gdLst/>
              <a:ahLst/>
              <a:cxnLst/>
              <a:rect r="r" b="b" t="t" l="l"/>
              <a:pathLst>
                <a:path h="2122545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2120663"/>
                  </a:lnTo>
                  <a:cubicBezTo>
                    <a:pt x="1279723" y="2121162"/>
                    <a:pt x="1279525" y="2121641"/>
                    <a:pt x="1279172" y="2121994"/>
                  </a:cubicBezTo>
                  <a:cubicBezTo>
                    <a:pt x="1278819" y="2122347"/>
                    <a:pt x="1278340" y="2122545"/>
                    <a:pt x="1277841" y="2122545"/>
                  </a:cubicBezTo>
                  <a:lnTo>
                    <a:pt x="1882" y="2122545"/>
                  </a:lnTo>
                  <a:cubicBezTo>
                    <a:pt x="843" y="2122545"/>
                    <a:pt x="0" y="2121702"/>
                    <a:pt x="0" y="2120663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79723" cy="2179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1890" y="3230423"/>
            <a:ext cx="4113179" cy="6822107"/>
            <a:chOff x="0" y="0"/>
            <a:chExt cx="1279723" cy="21225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9723" cy="2122545"/>
            </a:xfrm>
            <a:custGeom>
              <a:avLst/>
              <a:gdLst/>
              <a:ahLst/>
              <a:cxnLst/>
              <a:rect r="r" b="b" t="t" l="l"/>
              <a:pathLst>
                <a:path h="2122545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2120663"/>
                  </a:lnTo>
                  <a:cubicBezTo>
                    <a:pt x="1279723" y="2121162"/>
                    <a:pt x="1279525" y="2121641"/>
                    <a:pt x="1279172" y="2121994"/>
                  </a:cubicBezTo>
                  <a:cubicBezTo>
                    <a:pt x="1278819" y="2122347"/>
                    <a:pt x="1278340" y="2122545"/>
                    <a:pt x="1277841" y="2122545"/>
                  </a:cubicBezTo>
                  <a:lnTo>
                    <a:pt x="1882" y="2122545"/>
                  </a:lnTo>
                  <a:cubicBezTo>
                    <a:pt x="843" y="2122545"/>
                    <a:pt x="0" y="2121702"/>
                    <a:pt x="0" y="2120663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79723" cy="2179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711631" y="3653528"/>
            <a:ext cx="1211702" cy="1322294"/>
          </a:xfrm>
          <a:custGeom>
            <a:avLst/>
            <a:gdLst/>
            <a:ahLst/>
            <a:cxnLst/>
            <a:rect r="r" b="b" t="t" l="l"/>
            <a:pathLst>
              <a:path h="1322294" w="1211702">
                <a:moveTo>
                  <a:pt x="0" y="0"/>
                </a:moveTo>
                <a:lnTo>
                  <a:pt x="1211702" y="0"/>
                </a:lnTo>
                <a:lnTo>
                  <a:pt x="1211702" y="1322294"/>
                </a:lnTo>
                <a:lnTo>
                  <a:pt x="0" y="1322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63658" y="3698866"/>
            <a:ext cx="1160684" cy="1393835"/>
          </a:xfrm>
          <a:custGeom>
            <a:avLst/>
            <a:gdLst/>
            <a:ahLst/>
            <a:cxnLst/>
            <a:rect r="r" b="b" t="t" l="l"/>
            <a:pathLst>
              <a:path h="1393835" w="1160684">
                <a:moveTo>
                  <a:pt x="0" y="0"/>
                </a:moveTo>
                <a:lnTo>
                  <a:pt x="1160684" y="0"/>
                </a:lnTo>
                <a:lnTo>
                  <a:pt x="1160684" y="1393834"/>
                </a:lnTo>
                <a:lnTo>
                  <a:pt x="0" y="13938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381056" y="3653528"/>
            <a:ext cx="1353071" cy="1353071"/>
          </a:xfrm>
          <a:custGeom>
            <a:avLst/>
            <a:gdLst/>
            <a:ahLst/>
            <a:cxnLst/>
            <a:rect r="r" b="b" t="t" l="l"/>
            <a:pathLst>
              <a:path h="1353071" w="1353071">
                <a:moveTo>
                  <a:pt x="0" y="0"/>
                </a:moveTo>
                <a:lnTo>
                  <a:pt x="1353071" y="0"/>
                </a:lnTo>
                <a:lnTo>
                  <a:pt x="1353071" y="1353071"/>
                </a:lnTo>
                <a:lnTo>
                  <a:pt x="0" y="1353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43797" y="1155414"/>
            <a:ext cx="13617940" cy="159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CONCLUSIONES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46171" y="5391750"/>
            <a:ext cx="3542623" cy="263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 El proyecto logra transformar una gestión tributaria manual y riesgosa en un proceso digital robusto, alineándose con el objetivo de Nuam de integrar y modernizar los mercados de Chile, Perú y Colombia.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50502" y="5391750"/>
            <a:ext cx="3542623" cy="263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 La implementación de automatización (RPA) y controles de acceso garantiza la integridad de los datos, reduciendo drásticamente los errores humanos y asegurando el cumplimiento normativo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en la región.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33836" y="5461018"/>
            <a:ext cx="3542623" cy="234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El uso de Scrum permitió desarrollar una solución flexible y escalable, validando que la inversión tecnológica es altamente rentable al mitigar riesgos legales y mejorar la productividad operativa.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11609" y="8204696"/>
            <a:ext cx="2974893" cy="158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CONCLUSIÓN 1</a:t>
            </a:r>
          </a:p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MODERNIZACION ESTRATEGICA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11924" y="8204696"/>
            <a:ext cx="2974893" cy="158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CONCLUSIÓN 2</a:t>
            </a:r>
          </a:p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EFICIENCIA Y SEGURIDAD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17701" y="8204696"/>
            <a:ext cx="2974893" cy="158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CONCLUSIÓN 3</a:t>
            </a:r>
          </a:p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METODOLOGÍA Y VIABILIDAD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580377">
            <a:off x="9161036" y="-10318990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1733" y="2105045"/>
            <a:ext cx="8097687" cy="32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MUCHAS 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317151" y="6224857"/>
            <a:ext cx="11461151" cy="11760509"/>
          </a:xfrm>
          <a:custGeom>
            <a:avLst/>
            <a:gdLst/>
            <a:ahLst/>
            <a:cxnLst/>
            <a:rect r="r" b="b" t="t" l="l"/>
            <a:pathLst>
              <a:path h="11760509" w="11461151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DAG7Pictu2k</dc:identifier>
  <dcterms:modified xsi:type="dcterms:W3CDTF">2011-08-01T06:04:30Z</dcterms:modified>
  <cp:revision>1</cp:revision>
  <dc:title>www.unsitiogenial.es</dc:title>
</cp:coreProperties>
</file>